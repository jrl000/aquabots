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y="5143500" cx="9144000"/>
  <p:notesSz cx="6858000" cy="9144000"/>
  <p:embeddedFontLst>
    <p:embeddedFont>
      <p:font typeface="Roboto"/>
      <p:regular r:id="rId88"/>
      <p:bold r:id="rId89"/>
      <p:italic r:id="rId90"/>
      <p:boldItalic r:id="rId91"/>
    </p:embeddedFont>
    <p:embeddedFont>
      <p:font typeface="Playfair Display"/>
      <p:regular r:id="rId92"/>
      <p:bold r:id="rId93"/>
      <p:italic r:id="rId94"/>
      <p:boldItalic r:id="rId9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CA839F-EE83-4279-84BE-A2B74D249601}">
  <a:tblStyle styleId="{70CA839F-EE83-4279-84BE-A2B74D2496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E53EF30-7D4B-4DB2-9377-FE4B760E88BB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67F7228-FE1D-4FF7-A4CC-F1EDBB1678EC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511FDA9-33DF-425A-A21E-DB2D3CB7132A}" styleName="Table_3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font" Target="fonts/Roboto-regular.fntdata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Roboto-bold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95" Type="http://schemas.openxmlformats.org/officeDocument/2006/relationships/font" Target="fonts/PlayfairDisplay-boldItalic.fntdata"/><Relationship Id="rId50" Type="http://schemas.openxmlformats.org/officeDocument/2006/relationships/slide" Target="slides/slide45.xml"/><Relationship Id="rId94" Type="http://schemas.openxmlformats.org/officeDocument/2006/relationships/font" Target="fonts/PlayfairDisplay-italic.fntdata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Roboto-boldItalic.fntdata"/><Relationship Id="rId90" Type="http://schemas.openxmlformats.org/officeDocument/2006/relationships/font" Target="fonts/Roboto-italic.fntdata"/><Relationship Id="rId93" Type="http://schemas.openxmlformats.org/officeDocument/2006/relationships/font" Target="fonts/PlayfairDisplay-bold.fntdata"/><Relationship Id="rId92" Type="http://schemas.openxmlformats.org/officeDocument/2006/relationships/font" Target="fonts/PlayfairDisplay-regular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49c5a3120_1_3:notes"/>
          <p:cNvSpPr/>
          <p:nvPr>
            <p:ph idx="2" type="sldImg"/>
          </p:nvPr>
        </p:nvSpPr>
        <p:spPr>
          <a:xfrm>
            <a:off x="2143305" y="685415"/>
            <a:ext cx="2572500" cy="34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4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g3949c5a3120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525" lIns="107525" spcFirstLastPara="1" rIns="107525" wrap="square" tIns="10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47e4820f3_1_5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947e4820f3_1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9e7c6a378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99e7c6a378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d624c8a72_0_2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8d624c8a72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9e7c6a378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99e7c6a3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Kama</a:t>
            </a:r>
            <a:endParaRPr/>
          </a:p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9e7c6a378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99e7c6a37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Kama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9e7c6a378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99e7c6a37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Jamie, “all action items closed” (RESOLVED)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9e7c6a378_0_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99e7c6a37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8db8267328_0_5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8db8267328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d624c8a72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d624c8a7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ba2fe7f1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ba2fe7f1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8d624c8a7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8d624c8a7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b880e518d_4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9b880e518d_4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a4083f4f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aa4083f4f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ba2fe7f10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aba2fe7f10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Kama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db8267328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g38db826732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aeffe0e8b1_5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aeffe0e8b1_5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a3e898778_3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a3e898778_3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Alex, 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effe0e8b1_2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aeffe0e8b1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aeffe0e8b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aeffe0e8b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Alex, 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3deda4d5a_2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a3deda4d5a_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9a3e898778_0_2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9a3e898778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aeffe0e8b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aeffe0e8b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9a3e898778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9a3e898778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9a3e898778_0_11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9a3e898778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9e7c6a37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99e7c6a37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John, 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aeca6527f3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aeca6527f3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9a3e8987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9a3e8987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9a3e898778_0_11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9a3e898778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eca6527f3_4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eca6527f3_4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9a3e898778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9a3e89877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aeca6527f3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aeca6527f3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9a3e898778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9a3e898778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9a3e898778_4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9a3e898778_4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</a:t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99e7c6a378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99e7c6a378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3deda4d5a_2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a3deda4d5a_2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99e7c6a378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399e7c6a378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8db8267328_0_46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2" name="Google Shape;672;g38db8267328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Alex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g39a353a727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8" name="Google Shape;678;g39a353a727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Alex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99e7c6a378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99e7c6a378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9a353a727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9a353a727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9a3e898778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9a3e898778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Kama</a:t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9a3e898778_3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39a3e898778_3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Kama</a:t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99e7c6a37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399e7c6a37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99e7c6a378_0_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g399e7c6a37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Alex</a:t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3aeca6527f3_0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4" name="Google Shape;774;g3aeca6527f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99e7c6a37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399e7c6a37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</a:t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9a3e89877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39a3e89877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a3deda4d5a_2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3a3deda4d5a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John - mention where test will be conducted</a:t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99e7c6a378_0_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8" name="Google Shape;808;g399e7c6a378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39b880e518d_3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g39b880e518d_3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99e7c6a378_0_1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g399e7c6a378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38db8267328_0_5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1" name="Google Shape;831;g38db8267328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8db8267328_0_5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7" name="Google Shape;837;g38db8267328_0_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Jamie - CDR, Test CDE2, Swarm Capabilities Testing, and ISR (RESOLVED)</a:t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8db8267328_0_5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4" name="Google Shape;844;g38db8267328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9b050acb3b_0_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g39b050acb3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9a3e898778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5" name="Google Shape;865;g39a3e898778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3a7760dbd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3a7760dbd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9a3e898778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39a3e898778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8d624c8a72_0_1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8" name="Google Shape;908;g38d624c8a7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g3ab9c56422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6" name="Google Shape;916;g3ab9c56422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3ab9c56422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3ab9c56422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94e1287cb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94e1287cb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39a3e898778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39a3e898778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a3deda4d5a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g3a3deda4d5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Mayra</a:t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3a3deda4d5a_1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6" name="Google Shape;986;g3a3deda4d5a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9a3e898778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9a3e898778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a3deda4d5a_2_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g3a3deda4d5a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a3deda4d5a_2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g3a3deda4d5a_2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a3deda4d5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3a3deda4d5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99e7c6a378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g399e7c6a378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39a353a7272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3" name="Google Shape;1053;g39a353a727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38db8267328_0_5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1" name="Google Shape;1061;g38db8267328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g38db8267328_0_5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g38db8267328_0_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Robert</a:t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947e4820f3_1_7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9" name="Google Shape;1079;g3947e4820f3_1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8d624c8a72_0_2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6" name="Google Shape;1086;g38d624c8a72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9b880e518d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39b880e518d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39a3e898778_3_2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7525" lIns="107525" spcFirstLastPara="1" rIns="107525" wrap="square" tIns="1075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17</a:t>
            </a:r>
            <a:endParaRPr/>
          </a:p>
        </p:txBody>
      </p:sp>
      <p:sp>
        <p:nvSpPr>
          <p:cNvPr id="1099" name="Google Shape;1099;g39a3e898778_3_262:notes"/>
          <p:cNvSpPr/>
          <p:nvPr>
            <p:ph idx="2" type="sldImg"/>
          </p:nvPr>
        </p:nvSpPr>
        <p:spPr>
          <a:xfrm>
            <a:off x="2271659" y="1143642"/>
            <a:ext cx="2314800" cy="3085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47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g3aba2fe7f10_0_20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5" name="Google Shape;1105;g3aba2fe7f10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Jamie</a:t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g39a3e898778_3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1" name="Google Shape;1111;g39a3e898778_3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g3aba2fe7f1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9" name="Google Shape;1119;g3aba2fe7f1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9a3e898778_3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39a3e898778_3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Section Title - No Subtitle" showMasterSp="0">
  <p:cSld name="Blank">
    <p:bg>
      <p:bgPr>
        <a:solidFill>
          <a:srgbClr val="0C343D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357552" y="2912073"/>
            <a:ext cx="429054" cy="0"/>
          </a:xfrm>
          <a:custGeom>
            <a:rect b="b" l="l" r="r" t="t"/>
            <a:pathLst>
              <a:path extrusionOk="0" h="120000" w="942975">
                <a:moveTo>
                  <a:pt x="0" y="0"/>
                </a:moveTo>
                <a:lnTo>
                  <a:pt x="942379" y="0"/>
                </a:lnTo>
              </a:path>
            </a:pathLst>
          </a:custGeom>
          <a:noFill/>
          <a:ln cap="flat" cmpd="sng" w="34650">
            <a:solidFill>
              <a:srgbClr val="BD2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45482" y="4225822"/>
            <a:ext cx="2169721" cy="51172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/>
          <p:nvPr/>
        </p:nvSpPr>
        <p:spPr>
          <a:xfrm>
            <a:off x="0" y="45"/>
            <a:ext cx="3171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3"/>
          <p:cNvSpPr/>
          <p:nvPr/>
        </p:nvSpPr>
        <p:spPr>
          <a:xfrm>
            <a:off x="223073" y="0"/>
            <a:ext cx="34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628676" y="1975381"/>
            <a:ext cx="7886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58" y="4444583"/>
            <a:ext cx="533682" cy="50053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-5" y="4804350"/>
            <a:ext cx="4154400" cy="4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4968545" y="4804350"/>
            <a:ext cx="4154400" cy="4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TITLE_ONLY_7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05158" y="4444583"/>
            <a:ext cx="533682" cy="500533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/>
          <p:nvPr/>
        </p:nvSpPr>
        <p:spPr>
          <a:xfrm>
            <a:off x="-5" y="4804350"/>
            <a:ext cx="4154400" cy="4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968545" y="4804350"/>
            <a:ext cx="4154400" cy="45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6"/>
          <p:cNvPicPr preferRelativeResize="0"/>
          <p:nvPr/>
        </p:nvPicPr>
        <p:blipFill rotWithShape="1">
          <a:blip r:embed="rId2">
            <a:alphaModFix amt="70000"/>
          </a:blip>
          <a:srcRect b="0" l="0" r="0" t="0"/>
          <a:stretch/>
        </p:blipFill>
        <p:spPr>
          <a:xfrm>
            <a:off x="-3555174" y="-2077542"/>
            <a:ext cx="7790113" cy="7790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3193482" y="-2508771"/>
            <a:ext cx="8325150" cy="83251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/>
          <p:nvPr/>
        </p:nvSpPr>
        <p:spPr>
          <a:xfrm>
            <a:off x="4357552" y="2912073"/>
            <a:ext cx="429054" cy="0"/>
          </a:xfrm>
          <a:custGeom>
            <a:rect b="b" l="l" r="r" t="t"/>
            <a:pathLst>
              <a:path extrusionOk="0" h="120000" w="942975">
                <a:moveTo>
                  <a:pt x="0" y="0"/>
                </a:moveTo>
                <a:lnTo>
                  <a:pt x="942379" y="0"/>
                </a:lnTo>
              </a:path>
            </a:pathLst>
          </a:custGeom>
          <a:noFill/>
          <a:ln cap="flat" cmpd="sng" w="34650">
            <a:solidFill>
              <a:srgbClr val="BD20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5482" y="4225822"/>
            <a:ext cx="2169721" cy="511726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6"/>
          <p:cNvSpPr txBox="1"/>
          <p:nvPr>
            <p:ph type="title"/>
          </p:nvPr>
        </p:nvSpPr>
        <p:spPr>
          <a:xfrm>
            <a:off x="628676" y="1975381"/>
            <a:ext cx="7886700" cy="7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/>
            </a:lvl1pPr>
            <a:lvl2pPr lvl="1">
              <a:buNone/>
              <a:defRPr sz="1300"/>
            </a:lvl2pPr>
            <a:lvl3pPr lvl="2">
              <a:buNone/>
              <a:defRPr sz="1300"/>
            </a:lvl3pPr>
            <a:lvl4pPr lvl="3">
              <a:buNone/>
              <a:defRPr sz="1300"/>
            </a:lvl4pPr>
            <a:lvl5pPr lvl="4">
              <a:buNone/>
              <a:defRPr sz="1300"/>
            </a:lvl5pPr>
            <a:lvl6pPr lvl="5">
              <a:buNone/>
              <a:defRPr sz="1300"/>
            </a:lvl6pPr>
            <a:lvl7pPr lvl="6">
              <a:buNone/>
              <a:defRPr sz="1300"/>
            </a:lvl7pPr>
            <a:lvl8pPr lvl="7">
              <a:buNone/>
              <a:defRPr sz="1300"/>
            </a:lvl8pPr>
            <a:lvl9pPr lvl="8">
              <a:buNone/>
              <a:defRPr sz="13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0172F">
            <a:alpha val="8994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Relationship Id="rId6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9.png"/><Relationship Id="rId4" Type="http://schemas.openxmlformats.org/officeDocument/2006/relationships/image" Target="../media/image4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drive.google.com/file/d/1pwz_bn-4QW6m4y9siWC4o8v-2-WZd2m1/view" TargetMode="External"/><Relationship Id="rId4" Type="http://schemas.openxmlformats.org/officeDocument/2006/relationships/image" Target="../media/image3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37.png"/><Relationship Id="rId6" Type="http://schemas.openxmlformats.org/officeDocument/2006/relationships/image" Target="../media/image30.png"/><Relationship Id="rId7" Type="http://schemas.openxmlformats.org/officeDocument/2006/relationships/image" Target="../media/image3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Relationship Id="rId4" Type="http://schemas.openxmlformats.org/officeDocument/2006/relationships/image" Target="../media/image38.png"/><Relationship Id="rId5" Type="http://schemas.openxmlformats.org/officeDocument/2006/relationships/image" Target="../media/image36.png"/><Relationship Id="rId6" Type="http://schemas.openxmlformats.org/officeDocument/2006/relationships/image" Target="../media/image43.png"/><Relationship Id="rId7" Type="http://schemas.openxmlformats.org/officeDocument/2006/relationships/image" Target="../media/image8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8.png"/><Relationship Id="rId4" Type="http://schemas.openxmlformats.org/officeDocument/2006/relationships/image" Target="../media/image44.png"/><Relationship Id="rId5" Type="http://schemas.openxmlformats.org/officeDocument/2006/relationships/image" Target="../media/image4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3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42.png"/><Relationship Id="rId4" Type="http://schemas.openxmlformats.org/officeDocument/2006/relationships/image" Target="../media/image5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46.png"/><Relationship Id="rId4" Type="http://schemas.openxmlformats.org/officeDocument/2006/relationships/image" Target="../media/image52.png"/><Relationship Id="rId5" Type="http://schemas.openxmlformats.org/officeDocument/2006/relationships/image" Target="../media/image5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Relationship Id="rId5" Type="http://schemas.openxmlformats.org/officeDocument/2006/relationships/image" Target="../media/image60.png"/><Relationship Id="rId6" Type="http://schemas.openxmlformats.org/officeDocument/2006/relationships/image" Target="../media/image49.png"/><Relationship Id="rId7" Type="http://schemas.openxmlformats.org/officeDocument/2006/relationships/image" Target="../media/image47.png"/><Relationship Id="rId8" Type="http://schemas.openxmlformats.org/officeDocument/2006/relationships/hyperlink" Target="http://192.168.1.189:5000" TargetMode="Externa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0.xml"/><Relationship Id="rId3" Type="http://schemas.openxmlformats.org/officeDocument/2006/relationships/hyperlink" Target="http://drive.google.com/file/d/1HVm-ThmgZdoqe5Z2u-TfX1ou1EoSteSx/view" TargetMode="External"/><Relationship Id="rId4" Type="http://schemas.openxmlformats.org/officeDocument/2006/relationships/image" Target="../media/image54.jpg"/></Relationships>
</file>

<file path=ppt/slides/_rels/slide6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2.png"/><Relationship Id="rId10" Type="http://schemas.openxmlformats.org/officeDocument/2006/relationships/image" Target="../media/image57.png"/><Relationship Id="rId12" Type="http://schemas.openxmlformats.org/officeDocument/2006/relationships/image" Target="../media/image67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Relationship Id="rId5" Type="http://schemas.openxmlformats.org/officeDocument/2006/relationships/image" Target="../media/image64.png"/><Relationship Id="rId6" Type="http://schemas.openxmlformats.org/officeDocument/2006/relationships/hyperlink" Target="http://drive.google.com/file/d/1vxBaP9MN8wRegf5kX9YU23HhReld9oCZ/view" TargetMode="External"/><Relationship Id="rId7" Type="http://schemas.openxmlformats.org/officeDocument/2006/relationships/image" Target="../media/image66.jpg"/><Relationship Id="rId8" Type="http://schemas.openxmlformats.org/officeDocument/2006/relationships/image" Target="../media/image6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8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6.png"/><Relationship Id="rId4" Type="http://schemas.openxmlformats.org/officeDocument/2006/relationships/image" Target="../media/image6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5.png"/><Relationship Id="rId4" Type="http://schemas.openxmlformats.org/officeDocument/2006/relationships/image" Target="../media/image69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7.png"/><Relationship Id="rId4" Type="http://schemas.openxmlformats.org/officeDocument/2006/relationships/image" Target="../media/image70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80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0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1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/>
        </p:nvSpPr>
        <p:spPr>
          <a:xfrm>
            <a:off x="0" y="0"/>
            <a:ext cx="1200" cy="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type="title"/>
          </p:nvPr>
        </p:nvSpPr>
        <p:spPr>
          <a:xfrm>
            <a:off x="297700" y="898400"/>
            <a:ext cx="8664600" cy="2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5400">
                <a:latin typeface="Times"/>
                <a:ea typeface="Times"/>
                <a:cs typeface="Times"/>
                <a:sym typeface="Times"/>
              </a:rPr>
              <a:t>AQUABOTS Aeropak</a:t>
            </a:r>
            <a:endParaRPr sz="54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t/>
            </a:r>
            <a:endParaRPr sz="1900"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 sz="3800">
                <a:latin typeface="Times"/>
                <a:ea typeface="Times"/>
                <a:cs typeface="Times"/>
                <a:sym typeface="Times"/>
              </a:rPr>
              <a:t>Critical</a:t>
            </a:r>
            <a:r>
              <a:rPr lang="en" sz="3800">
                <a:latin typeface="Times"/>
                <a:ea typeface="Times"/>
                <a:cs typeface="Times"/>
                <a:sym typeface="Times"/>
              </a:rPr>
              <a:t> Design Review</a:t>
            </a:r>
            <a:endParaRPr sz="38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532800" y="3316275"/>
            <a:ext cx="20784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Team 26061</a:t>
            </a:r>
            <a:endParaRPr sz="2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/>
        </p:nvSpPr>
        <p:spPr>
          <a:xfrm>
            <a:off x="3435900" y="210008"/>
            <a:ext cx="22722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Contents</a:t>
            </a:r>
            <a:endParaRPr b="1" i="0" sz="30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882650" y="604966"/>
            <a:ext cx="36576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1.0 </a:t>
            </a: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2.0 System Requirements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3.0 Point Design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 Performance Analyses and Expectations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5.0 Verification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6.0 Risk Analysis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7.0 Project Status and Plan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8.0 CDE 1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9.0 CDE 2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10.0 Cost Analysis and Deliverables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11.0 Summary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696900" y="1980300"/>
            <a:ext cx="77502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Introduction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538200" y="773050"/>
            <a:ext cx="6420300" cy="29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"/>
              <a:buChar char="●"/>
            </a:pPr>
            <a:r>
              <a:rPr b="1" lang="en" sz="1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Jamie Ledbetter, Biosystems Engineering – Team Lead</a:t>
            </a:r>
            <a:endParaRPr b="1" sz="16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"/>
              <a:buChar char="●"/>
            </a:pPr>
            <a:r>
              <a:rPr b="1" lang="en" sz="1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Robert Wilkie, Aerospace Engineering – Procurement Lead</a:t>
            </a:r>
            <a:endParaRPr b="1" sz="16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"/>
              <a:buChar char="●"/>
            </a:pPr>
            <a:r>
              <a:rPr b="1" lang="en" sz="1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Alex Imrich, Aerospace Engineering</a:t>
            </a:r>
            <a:endParaRPr b="1" sz="16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"/>
              <a:buChar char="●"/>
            </a:pPr>
            <a:r>
              <a:rPr b="1" lang="en" sz="1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John Lopez, Electrical Engineering </a:t>
            </a:r>
            <a:endParaRPr b="1" sz="16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"/>
              <a:buChar char="●"/>
            </a:pPr>
            <a:r>
              <a:rPr b="1" lang="en" sz="1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Mayra Mendoza, Optical Engineering</a:t>
            </a:r>
            <a:endParaRPr b="1" sz="16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"/>
              <a:buChar char="●"/>
            </a:pPr>
            <a:r>
              <a:rPr b="1" lang="en" sz="1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Kama Henriques, Mechanical Engineering</a:t>
            </a:r>
            <a:endParaRPr b="1" sz="16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696900" y="123737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Our</a:t>
            </a: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 Team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" name="Google Shape;101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/>
        </p:nvSpPr>
        <p:spPr>
          <a:xfrm>
            <a:off x="2743200" y="162500"/>
            <a:ext cx="365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Project Summary</a:t>
            </a:r>
            <a:endParaRPr i="0" sz="18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76362" y="723000"/>
            <a:ext cx="4980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makes AQUABOT different?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Rapid-response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Short-term, targeted missions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Swarm control capabilities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Features: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"/>
              <a:buChar char="●"/>
            </a:pPr>
            <a:r>
              <a:rPr lang="en" sz="1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Mounted and fully functional sensor/camera suite</a:t>
            </a:r>
            <a:endParaRPr sz="17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"/>
              <a:buChar char="●"/>
            </a:pPr>
            <a:r>
              <a:rPr lang="en" sz="1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Further developed communications</a:t>
            </a:r>
            <a:endParaRPr sz="17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"/>
              <a:buChar char="●"/>
            </a:pPr>
            <a:r>
              <a:rPr lang="en" sz="1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Easy Integration with </a:t>
            </a:r>
            <a:r>
              <a:rPr lang="en" sz="1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other water vessels</a:t>
            </a:r>
            <a:endParaRPr sz="17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Sponsors: </a:t>
            </a:r>
            <a:r>
              <a:rPr lang="en" sz="1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Dr. Marvin Slepian, Eddy Stocker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 rotWithShape="1">
          <a:blip r:embed="rId3">
            <a:alphaModFix/>
          </a:blip>
          <a:srcRect b="11317" l="4034" r="6529" t="17014"/>
          <a:stretch/>
        </p:blipFill>
        <p:spPr>
          <a:xfrm>
            <a:off x="4984975" y="1421993"/>
            <a:ext cx="3657600" cy="218248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1"/>
          <p:cNvSpPr txBox="1"/>
          <p:nvPr/>
        </p:nvSpPr>
        <p:spPr>
          <a:xfrm>
            <a:off x="6264819" y="3577200"/>
            <a:ext cx="15012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39"/>
              </a:spcBef>
              <a:spcAft>
                <a:spcPts val="0"/>
              </a:spcAft>
              <a:buNone/>
            </a:pPr>
            <a:r>
              <a:rPr i="1" lang="en" sz="84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of AQUABOT Hull</a:t>
            </a:r>
            <a:endParaRPr i="1" sz="848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/>
        </p:nvSpPr>
        <p:spPr>
          <a:xfrm>
            <a:off x="76350" y="622073"/>
            <a:ext cx="5037000" cy="12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</a:t>
            </a: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"/>
              <a:buChar char="●"/>
            </a:pPr>
            <a:r>
              <a:rPr lang="en" sz="1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Deployable in lakes and the ocean</a:t>
            </a:r>
            <a:endParaRPr sz="17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"/>
              <a:buChar char="●"/>
            </a:pPr>
            <a:r>
              <a:rPr lang="en" sz="1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Remote </a:t>
            </a:r>
            <a:r>
              <a:rPr lang="en" sz="1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data acquisition and swarm </a:t>
            </a:r>
            <a:r>
              <a:rPr lang="en" sz="17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command</a:t>
            </a:r>
            <a:endParaRPr sz="17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2053500" y="94150"/>
            <a:ext cx="50370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Project Summary: OV-1</a:t>
            </a:r>
            <a:endParaRPr i="0" sz="18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8" name="Google Shape;118;p22"/>
          <p:cNvGrpSpPr/>
          <p:nvPr/>
        </p:nvGrpSpPr>
        <p:grpSpPr>
          <a:xfrm>
            <a:off x="184947" y="2709303"/>
            <a:ext cx="176322" cy="543724"/>
            <a:chOff x="2006650" y="2850100"/>
            <a:chExt cx="123457" cy="380679"/>
          </a:xfrm>
        </p:grpSpPr>
        <p:sp>
          <p:nvSpPr>
            <p:cNvPr id="119" name="Google Shape;119;p22"/>
            <p:cNvSpPr/>
            <p:nvPr/>
          </p:nvSpPr>
          <p:spPr>
            <a:xfrm>
              <a:off x="2007275" y="2850100"/>
              <a:ext cx="117000" cy="117000"/>
            </a:xfrm>
            <a:prstGeom prst="ellipse">
              <a:avLst/>
            </a:prstGeom>
            <a:solidFill>
              <a:schemeClr val="lt2"/>
            </a:solidFill>
            <a:ln cap="flat" cmpd="sng" w="136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30575" lIns="130575" spcFirstLastPara="1" rIns="130575" wrap="square" tIns="130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/>
            </a:p>
          </p:txBody>
        </p:sp>
        <p:cxnSp>
          <p:nvCxnSpPr>
            <p:cNvPr id="120" name="Google Shape;120;p22"/>
            <p:cNvCxnSpPr>
              <a:stCxn id="119" idx="4"/>
            </p:cNvCxnSpPr>
            <p:nvPr/>
          </p:nvCxnSpPr>
          <p:spPr>
            <a:xfrm>
              <a:off x="2065775" y="2967100"/>
              <a:ext cx="0" cy="164100"/>
            </a:xfrm>
            <a:prstGeom prst="straightConnector1">
              <a:avLst/>
            </a:prstGeom>
            <a:noFill/>
            <a:ln cap="flat" cmpd="sng" w="136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22"/>
            <p:cNvCxnSpPr/>
            <p:nvPr/>
          </p:nvCxnSpPr>
          <p:spPr>
            <a:xfrm>
              <a:off x="2067408" y="2997371"/>
              <a:ext cx="62700" cy="62700"/>
            </a:xfrm>
            <a:prstGeom prst="straightConnector1">
              <a:avLst/>
            </a:prstGeom>
            <a:noFill/>
            <a:ln cap="flat" cmpd="sng" w="136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22"/>
            <p:cNvCxnSpPr/>
            <p:nvPr/>
          </p:nvCxnSpPr>
          <p:spPr>
            <a:xfrm flipH="1">
              <a:off x="2006650" y="3000821"/>
              <a:ext cx="55800" cy="55800"/>
            </a:xfrm>
            <a:prstGeom prst="straightConnector1">
              <a:avLst/>
            </a:prstGeom>
            <a:noFill/>
            <a:ln cap="flat" cmpd="sng" w="136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22"/>
            <p:cNvCxnSpPr/>
            <p:nvPr/>
          </p:nvCxnSpPr>
          <p:spPr>
            <a:xfrm>
              <a:off x="2067408" y="3131196"/>
              <a:ext cx="37200" cy="96300"/>
            </a:xfrm>
            <a:prstGeom prst="straightConnector1">
              <a:avLst/>
            </a:prstGeom>
            <a:noFill/>
            <a:ln cap="flat" cmpd="sng" w="136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" name="Google Shape;124;p22"/>
            <p:cNvCxnSpPr/>
            <p:nvPr/>
          </p:nvCxnSpPr>
          <p:spPr>
            <a:xfrm flipH="1">
              <a:off x="2028484" y="3127879"/>
              <a:ext cx="33900" cy="102900"/>
            </a:xfrm>
            <a:prstGeom prst="straightConnector1">
              <a:avLst/>
            </a:prstGeom>
            <a:noFill/>
            <a:ln cap="flat" cmpd="sng" w="1360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5" name="Google Shape;125;p22"/>
          <p:cNvSpPr txBox="1"/>
          <p:nvPr/>
        </p:nvSpPr>
        <p:spPr>
          <a:xfrm>
            <a:off x="66125" y="3296624"/>
            <a:ext cx="46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475" lIns="70975" spcFirstLastPara="1" rIns="70975" wrap="square" tIns="35475">
            <a:noAutofit/>
          </a:bodyPr>
          <a:lstStyle/>
          <a:p>
            <a:pPr indent="0" lvl="0" marL="0" rtl="0" algn="l">
              <a:spcBef>
                <a:spcPts val="331"/>
              </a:spcBef>
              <a:spcAft>
                <a:spcPts val="0"/>
              </a:spcAft>
              <a:buNone/>
            </a:pPr>
            <a:r>
              <a:rPr b="1" lang="en" sz="1235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</a:t>
            </a:r>
            <a:endParaRPr sz="1235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26" name="Google Shape;126;p22"/>
          <p:cNvGrpSpPr/>
          <p:nvPr/>
        </p:nvGrpSpPr>
        <p:grpSpPr>
          <a:xfrm>
            <a:off x="540596" y="2772926"/>
            <a:ext cx="735814" cy="177278"/>
            <a:chOff x="726725" y="2483102"/>
            <a:chExt cx="711000" cy="171300"/>
          </a:xfrm>
        </p:grpSpPr>
        <p:cxnSp>
          <p:nvCxnSpPr>
            <p:cNvPr id="127" name="Google Shape;127;p22"/>
            <p:cNvCxnSpPr/>
            <p:nvPr/>
          </p:nvCxnSpPr>
          <p:spPr>
            <a:xfrm>
              <a:off x="780275" y="2654325"/>
              <a:ext cx="571500" cy="0"/>
            </a:xfrm>
            <a:prstGeom prst="straightConnector1">
              <a:avLst/>
            </a:prstGeom>
            <a:noFill/>
            <a:ln cap="flat" cmpd="sng" w="987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8" name="Google Shape;128;p22"/>
            <p:cNvSpPr txBox="1"/>
            <p:nvPr/>
          </p:nvSpPr>
          <p:spPr>
            <a:xfrm rot="-1451">
              <a:off x="726725" y="2483252"/>
              <a:ext cx="7110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475" lIns="70975" spcFirstLastPara="1" rIns="70975" wrap="square" tIns="35475">
              <a:noAutofit/>
            </a:bodyPr>
            <a:lstStyle/>
            <a:p>
              <a:pPr indent="0" lvl="0" marL="0" rtl="0" algn="l">
                <a:spcBef>
                  <a:spcPts val="331"/>
                </a:spcBef>
                <a:spcAft>
                  <a:spcPts val="0"/>
                </a:spcAft>
                <a:buNone/>
              </a:pP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ommand</a:t>
              </a: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input</a:t>
              </a:r>
              <a:endParaRPr sz="62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29" name="Google Shape;129;p22"/>
          <p:cNvGrpSpPr/>
          <p:nvPr/>
        </p:nvGrpSpPr>
        <p:grpSpPr>
          <a:xfrm rot="-2291784">
            <a:off x="2030202" y="2280713"/>
            <a:ext cx="797362" cy="177295"/>
            <a:chOff x="2515200" y="2889507"/>
            <a:chExt cx="770400" cy="171300"/>
          </a:xfrm>
        </p:grpSpPr>
        <p:cxnSp>
          <p:nvCxnSpPr>
            <p:cNvPr id="130" name="Google Shape;130;p22"/>
            <p:cNvCxnSpPr/>
            <p:nvPr/>
          </p:nvCxnSpPr>
          <p:spPr>
            <a:xfrm>
              <a:off x="2568750" y="3060725"/>
              <a:ext cx="571500" cy="0"/>
            </a:xfrm>
            <a:prstGeom prst="straightConnector1">
              <a:avLst/>
            </a:prstGeom>
            <a:noFill/>
            <a:ln cap="flat" cmpd="sng" w="987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1" name="Google Shape;131;p22"/>
            <p:cNvSpPr txBox="1"/>
            <p:nvPr/>
          </p:nvSpPr>
          <p:spPr>
            <a:xfrm rot="-1339">
              <a:off x="2515200" y="2889657"/>
              <a:ext cx="7704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475" lIns="70975" spcFirstLastPara="1" rIns="70975" wrap="square" tIns="35475">
              <a:noAutofit/>
            </a:bodyPr>
            <a:lstStyle/>
            <a:p>
              <a:pPr indent="0" lvl="0" marL="0" rtl="0" algn="l">
                <a:spcBef>
                  <a:spcPts val="331"/>
                </a:spcBef>
                <a:spcAft>
                  <a:spcPts val="0"/>
                </a:spcAft>
                <a:buNone/>
              </a:pP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</a:t>
              </a: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nput transmission</a:t>
              </a:r>
              <a:endParaRPr sz="62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2" name="Google Shape;132;p22"/>
          <p:cNvSpPr/>
          <p:nvPr/>
        </p:nvSpPr>
        <p:spPr>
          <a:xfrm>
            <a:off x="1357789" y="2745224"/>
            <a:ext cx="703800" cy="491100"/>
          </a:xfrm>
          <a:prstGeom prst="rect">
            <a:avLst/>
          </a:prstGeom>
          <a:solidFill>
            <a:schemeClr val="dk1"/>
          </a:solidFill>
          <a:ln cap="flat" cmpd="sng" w="11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350" lIns="106350" spcFirstLastPara="1" rIns="106350" wrap="square" tIns="10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9"/>
          </a:p>
        </p:txBody>
      </p:sp>
      <p:sp>
        <p:nvSpPr>
          <p:cNvPr id="133" name="Google Shape;133;p22"/>
          <p:cNvSpPr/>
          <p:nvPr/>
        </p:nvSpPr>
        <p:spPr>
          <a:xfrm>
            <a:off x="1387512" y="2784486"/>
            <a:ext cx="638400" cy="417000"/>
          </a:xfrm>
          <a:prstGeom prst="rect">
            <a:avLst/>
          </a:prstGeom>
          <a:solidFill>
            <a:schemeClr val="lt2"/>
          </a:solidFill>
          <a:ln cap="flat" cmpd="sng" w="11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350" lIns="106350" spcFirstLastPara="1" rIns="106350" wrap="square" tIns="10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9"/>
          </a:p>
        </p:txBody>
      </p:sp>
      <p:sp>
        <p:nvSpPr>
          <p:cNvPr id="134" name="Google Shape;134;p22"/>
          <p:cNvSpPr/>
          <p:nvPr/>
        </p:nvSpPr>
        <p:spPr>
          <a:xfrm>
            <a:off x="1679869" y="3218775"/>
            <a:ext cx="54000" cy="91200"/>
          </a:xfrm>
          <a:prstGeom prst="rect">
            <a:avLst/>
          </a:prstGeom>
          <a:solidFill>
            <a:schemeClr val="dk1"/>
          </a:solidFill>
          <a:ln cap="flat" cmpd="sng" w="9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625" lIns="94625" spcFirstLastPara="1" rIns="94625" wrap="square" tIns="94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9"/>
          </a:p>
        </p:txBody>
      </p:sp>
      <p:sp>
        <p:nvSpPr>
          <p:cNvPr id="135" name="Google Shape;135;p22"/>
          <p:cNvSpPr/>
          <p:nvPr/>
        </p:nvSpPr>
        <p:spPr>
          <a:xfrm>
            <a:off x="1578270" y="3297646"/>
            <a:ext cx="248100" cy="30300"/>
          </a:xfrm>
          <a:prstGeom prst="rect">
            <a:avLst/>
          </a:prstGeom>
          <a:solidFill>
            <a:schemeClr val="dk1"/>
          </a:solidFill>
          <a:ln cap="flat" cmpd="sng" w="9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625" lIns="94625" spcFirstLastPara="1" rIns="94625" wrap="square" tIns="94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9"/>
          </a:p>
        </p:txBody>
      </p:sp>
      <p:grpSp>
        <p:nvGrpSpPr>
          <p:cNvPr id="136" name="Google Shape;136;p22"/>
          <p:cNvGrpSpPr/>
          <p:nvPr/>
        </p:nvGrpSpPr>
        <p:grpSpPr>
          <a:xfrm rot="-2291784">
            <a:off x="2197482" y="2498390"/>
            <a:ext cx="766763" cy="177295"/>
            <a:chOff x="680708" y="2652453"/>
            <a:chExt cx="740836" cy="171300"/>
          </a:xfrm>
        </p:grpSpPr>
        <p:cxnSp>
          <p:nvCxnSpPr>
            <p:cNvPr id="137" name="Google Shape;137;p22"/>
            <p:cNvCxnSpPr/>
            <p:nvPr/>
          </p:nvCxnSpPr>
          <p:spPr>
            <a:xfrm rot="10800000">
              <a:off x="680708" y="2654325"/>
              <a:ext cx="637200" cy="0"/>
            </a:xfrm>
            <a:prstGeom prst="straightConnector1">
              <a:avLst/>
            </a:prstGeom>
            <a:noFill/>
            <a:ln cap="flat" cmpd="sng" w="987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38" name="Google Shape;138;p22"/>
            <p:cNvSpPr txBox="1"/>
            <p:nvPr/>
          </p:nvSpPr>
          <p:spPr>
            <a:xfrm rot="-1392">
              <a:off x="680844" y="2652603"/>
              <a:ext cx="7407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475" lIns="70975" spcFirstLastPara="1" rIns="70975" wrap="square" tIns="35475">
              <a:noAutofit/>
            </a:bodyPr>
            <a:lstStyle/>
            <a:p>
              <a:pPr indent="0" lvl="0" marL="0" rtl="0" algn="l">
                <a:spcBef>
                  <a:spcPts val="331"/>
                </a:spcBef>
                <a:spcAft>
                  <a:spcPts val="0"/>
                </a:spcAft>
                <a:buNone/>
              </a:pP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feed transmission</a:t>
              </a:r>
              <a:endParaRPr sz="62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39" name="Google Shape;139;p22"/>
          <p:cNvGrpSpPr/>
          <p:nvPr/>
        </p:nvGrpSpPr>
        <p:grpSpPr>
          <a:xfrm>
            <a:off x="484365" y="3040026"/>
            <a:ext cx="775642" cy="188599"/>
            <a:chOff x="680708" y="2654325"/>
            <a:chExt cx="749413" cy="182222"/>
          </a:xfrm>
        </p:grpSpPr>
        <p:cxnSp>
          <p:nvCxnSpPr>
            <p:cNvPr id="140" name="Google Shape;140;p22"/>
            <p:cNvCxnSpPr/>
            <p:nvPr/>
          </p:nvCxnSpPr>
          <p:spPr>
            <a:xfrm rot="10800000">
              <a:off x="680708" y="2654325"/>
              <a:ext cx="637200" cy="0"/>
            </a:xfrm>
            <a:prstGeom prst="straightConnector1">
              <a:avLst/>
            </a:prstGeom>
            <a:noFill/>
            <a:ln cap="flat" cmpd="sng" w="987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1" name="Google Shape;141;p22"/>
            <p:cNvSpPr txBox="1"/>
            <p:nvPr/>
          </p:nvSpPr>
          <p:spPr>
            <a:xfrm rot="-1451">
              <a:off x="719121" y="2665397"/>
              <a:ext cx="7110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475" lIns="70975" spcFirstLastPara="1" rIns="70975" wrap="square" tIns="35475">
              <a:noAutofit/>
            </a:bodyPr>
            <a:lstStyle/>
            <a:p>
              <a:pPr indent="0" lvl="0" marL="0" rtl="0" algn="l">
                <a:spcBef>
                  <a:spcPts val="331"/>
                </a:spcBef>
                <a:spcAft>
                  <a:spcPts val="0"/>
                </a:spcAft>
                <a:buNone/>
              </a:pP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video and data</a:t>
              </a:r>
              <a:endParaRPr sz="62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42" name="Google Shape;142;p22"/>
          <p:cNvSpPr txBox="1"/>
          <p:nvPr/>
        </p:nvSpPr>
        <p:spPr>
          <a:xfrm>
            <a:off x="1181881" y="3350325"/>
            <a:ext cx="11793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475" lIns="70975" spcFirstLastPara="1" rIns="70975" wrap="square" tIns="35475">
            <a:noAutofit/>
          </a:bodyPr>
          <a:lstStyle/>
          <a:p>
            <a:pPr indent="0" lvl="0" marL="0" rtl="0" algn="l">
              <a:spcBef>
                <a:spcPts val="331"/>
              </a:spcBef>
              <a:spcAft>
                <a:spcPts val="0"/>
              </a:spcAft>
              <a:buNone/>
            </a:pPr>
            <a:r>
              <a:rPr b="1" lang="en" sz="1235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 with GUI</a:t>
            </a:r>
            <a:endParaRPr sz="1235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3" name="Google Shape;143;p22"/>
          <p:cNvSpPr/>
          <p:nvPr/>
        </p:nvSpPr>
        <p:spPr>
          <a:xfrm rot="-2997055">
            <a:off x="2826802" y="2135069"/>
            <a:ext cx="468570" cy="384334"/>
          </a:xfrm>
          <a:prstGeom prst="flowChartDecision">
            <a:avLst/>
          </a:prstGeom>
          <a:solidFill>
            <a:schemeClr val="lt2"/>
          </a:solidFill>
          <a:ln cap="flat" cmpd="sng" w="9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625" lIns="94625" spcFirstLastPara="1" rIns="94625" wrap="square" tIns="94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9"/>
          </a:p>
        </p:txBody>
      </p:sp>
      <p:sp>
        <p:nvSpPr>
          <p:cNvPr id="144" name="Google Shape;144;p22"/>
          <p:cNvSpPr/>
          <p:nvPr/>
        </p:nvSpPr>
        <p:spPr>
          <a:xfrm rot="-2997055">
            <a:off x="3124314" y="2078024"/>
            <a:ext cx="468570" cy="384334"/>
          </a:xfrm>
          <a:prstGeom prst="flowChartDecision">
            <a:avLst/>
          </a:prstGeom>
          <a:solidFill>
            <a:schemeClr val="lt2"/>
          </a:solidFill>
          <a:ln cap="flat" cmpd="sng" w="9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625" lIns="94625" spcFirstLastPara="1" rIns="94625" wrap="square" tIns="94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9"/>
          </a:p>
        </p:txBody>
      </p:sp>
      <p:sp>
        <p:nvSpPr>
          <p:cNvPr id="145" name="Google Shape;145;p22"/>
          <p:cNvSpPr/>
          <p:nvPr/>
        </p:nvSpPr>
        <p:spPr>
          <a:xfrm rot="-2880730">
            <a:off x="3894689" y="1955439"/>
            <a:ext cx="459781" cy="383681"/>
          </a:xfrm>
          <a:prstGeom prst="flowChartDecision">
            <a:avLst/>
          </a:prstGeom>
          <a:solidFill>
            <a:schemeClr val="lt2"/>
          </a:solidFill>
          <a:ln cap="flat" cmpd="sng" w="1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825" lIns="96825" spcFirstLastPara="1" rIns="96825" wrap="square" tIns="9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/>
          </a:p>
        </p:txBody>
      </p:sp>
      <p:sp>
        <p:nvSpPr>
          <p:cNvPr id="146" name="Google Shape;146;p22"/>
          <p:cNvSpPr/>
          <p:nvPr/>
        </p:nvSpPr>
        <p:spPr>
          <a:xfrm rot="-2880730">
            <a:off x="4198957" y="1901822"/>
            <a:ext cx="459781" cy="383681"/>
          </a:xfrm>
          <a:prstGeom prst="flowChartDecision">
            <a:avLst/>
          </a:prstGeom>
          <a:solidFill>
            <a:schemeClr val="lt2"/>
          </a:solidFill>
          <a:ln cap="flat" cmpd="sng" w="1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825" lIns="96825" spcFirstLastPara="1" rIns="96825" wrap="square" tIns="9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83"/>
          </a:p>
        </p:txBody>
      </p:sp>
      <p:cxnSp>
        <p:nvCxnSpPr>
          <p:cNvPr id="147" name="Google Shape;147;p22"/>
          <p:cNvCxnSpPr/>
          <p:nvPr/>
        </p:nvCxnSpPr>
        <p:spPr>
          <a:xfrm flipH="1" rot="10800000">
            <a:off x="3505221" y="2156034"/>
            <a:ext cx="474600" cy="67200"/>
          </a:xfrm>
          <a:prstGeom prst="straightConnector1">
            <a:avLst/>
          </a:prstGeom>
          <a:noFill/>
          <a:ln cap="flat" cmpd="sng" w="9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2"/>
          <p:cNvCxnSpPr/>
          <p:nvPr/>
        </p:nvCxnSpPr>
        <p:spPr>
          <a:xfrm flipH="1" rot="10800000">
            <a:off x="3516461" y="2220261"/>
            <a:ext cx="457500" cy="67800"/>
          </a:xfrm>
          <a:prstGeom prst="straightConnector1">
            <a:avLst/>
          </a:prstGeom>
          <a:noFill/>
          <a:ln cap="flat" cmpd="sng" w="9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" name="Google Shape;149;p22"/>
          <p:cNvSpPr/>
          <p:nvPr/>
        </p:nvSpPr>
        <p:spPr>
          <a:xfrm rot="-402301">
            <a:off x="3642797" y="2166336"/>
            <a:ext cx="208123" cy="177348"/>
          </a:xfrm>
          <a:prstGeom prst="rect">
            <a:avLst/>
          </a:prstGeom>
          <a:solidFill>
            <a:schemeClr val="lt2"/>
          </a:solidFill>
          <a:ln cap="flat" cmpd="sng" w="9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625" lIns="94625" spcFirstLastPara="1" rIns="94625" wrap="square" tIns="94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9"/>
          </a:p>
        </p:txBody>
      </p:sp>
      <p:sp>
        <p:nvSpPr>
          <p:cNvPr id="150" name="Google Shape;150;p22"/>
          <p:cNvSpPr/>
          <p:nvPr/>
        </p:nvSpPr>
        <p:spPr>
          <a:xfrm rot="3680344">
            <a:off x="3648619" y="2238345"/>
            <a:ext cx="269648" cy="202237"/>
          </a:xfrm>
          <a:prstGeom prst="flowChartMagneticDrum">
            <a:avLst/>
          </a:prstGeom>
          <a:solidFill>
            <a:schemeClr val="lt2"/>
          </a:solidFill>
          <a:ln cap="flat" cmpd="sng" w="9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625" lIns="94625" spcFirstLastPara="1" rIns="94625" wrap="square" tIns="94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9"/>
          </a:p>
        </p:txBody>
      </p:sp>
      <p:sp>
        <p:nvSpPr>
          <p:cNvPr id="151" name="Google Shape;151;p22"/>
          <p:cNvSpPr/>
          <p:nvPr/>
        </p:nvSpPr>
        <p:spPr>
          <a:xfrm rot="-1856291">
            <a:off x="3736649" y="2395248"/>
            <a:ext cx="230494" cy="120444"/>
          </a:xfrm>
          <a:prstGeom prst="ellipse">
            <a:avLst/>
          </a:prstGeom>
          <a:solidFill>
            <a:schemeClr val="lt2"/>
          </a:solidFill>
          <a:ln cap="flat" cmpd="sng" w="9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4625" lIns="94625" spcFirstLastPara="1" rIns="94625" wrap="square" tIns="94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49"/>
          </a:p>
        </p:txBody>
      </p:sp>
      <p:cxnSp>
        <p:nvCxnSpPr>
          <p:cNvPr id="152" name="Google Shape;152;p22"/>
          <p:cNvCxnSpPr>
            <a:stCxn id="151" idx="0"/>
          </p:cNvCxnSpPr>
          <p:nvPr/>
        </p:nvCxnSpPr>
        <p:spPr>
          <a:xfrm>
            <a:off x="3820846" y="2403870"/>
            <a:ext cx="31500" cy="51300"/>
          </a:xfrm>
          <a:prstGeom prst="straightConnector1">
            <a:avLst/>
          </a:prstGeom>
          <a:noFill/>
          <a:ln cap="flat" cmpd="sng" w="98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" name="Google Shape;153;p22"/>
          <p:cNvSpPr txBox="1"/>
          <p:nvPr/>
        </p:nvSpPr>
        <p:spPr>
          <a:xfrm>
            <a:off x="3400514" y="1776475"/>
            <a:ext cx="6840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475" lIns="70975" spcFirstLastPara="1" rIns="70975" wrap="square" tIns="35475">
            <a:noAutofit/>
          </a:bodyPr>
          <a:lstStyle/>
          <a:p>
            <a:pPr indent="0" lvl="0" marL="0" rtl="0" algn="l">
              <a:spcBef>
                <a:spcPts val="331"/>
              </a:spcBef>
              <a:spcAft>
                <a:spcPts val="0"/>
              </a:spcAft>
              <a:buNone/>
            </a:pPr>
            <a:r>
              <a:rPr b="1" lang="en" sz="1235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Satellite</a:t>
            </a:r>
            <a:endParaRPr sz="1235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3">
            <a:alphaModFix/>
          </a:blip>
          <a:srcRect b="0" l="56571" r="0" t="87821"/>
          <a:stretch/>
        </p:blipFill>
        <p:spPr>
          <a:xfrm>
            <a:off x="6421900" y="3772988"/>
            <a:ext cx="883525" cy="22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2"/>
          <p:cNvPicPr preferRelativeResize="0"/>
          <p:nvPr/>
        </p:nvPicPr>
        <p:blipFill rotWithShape="1">
          <a:blip r:embed="rId3">
            <a:alphaModFix/>
          </a:blip>
          <a:srcRect b="0" l="56571" r="0" t="78377"/>
          <a:stretch/>
        </p:blipFill>
        <p:spPr>
          <a:xfrm>
            <a:off x="4537403" y="3465013"/>
            <a:ext cx="1027588" cy="6323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" name="Google Shape;156;p22"/>
          <p:cNvGrpSpPr/>
          <p:nvPr/>
        </p:nvGrpSpPr>
        <p:grpSpPr>
          <a:xfrm rot="2430387">
            <a:off x="3928297" y="2885298"/>
            <a:ext cx="1386867" cy="192132"/>
            <a:chOff x="5781172" y="2495631"/>
            <a:chExt cx="1339703" cy="185598"/>
          </a:xfrm>
        </p:grpSpPr>
        <p:sp>
          <p:nvSpPr>
            <p:cNvPr id="157" name="Google Shape;157;p22"/>
            <p:cNvSpPr txBox="1"/>
            <p:nvPr/>
          </p:nvSpPr>
          <p:spPr>
            <a:xfrm rot="-2028">
              <a:off x="5998368" y="2495931"/>
              <a:ext cx="10173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475" lIns="70975" spcFirstLastPara="1" rIns="70975" wrap="square" tIns="35475">
              <a:noAutofit/>
            </a:bodyPr>
            <a:lstStyle/>
            <a:p>
              <a:pPr indent="0" lvl="0" marL="0" rtl="0" algn="l">
                <a:spcBef>
                  <a:spcPts val="331"/>
                </a:spcBef>
                <a:spcAft>
                  <a:spcPts val="0"/>
                </a:spcAft>
                <a:buNone/>
              </a:pP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Starlink communication</a:t>
              </a:r>
              <a:endParaRPr sz="62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58" name="Google Shape;158;p22"/>
            <p:cNvCxnSpPr/>
            <p:nvPr/>
          </p:nvCxnSpPr>
          <p:spPr>
            <a:xfrm rot="10800000">
              <a:off x="5781172" y="2681227"/>
              <a:ext cx="637200" cy="0"/>
            </a:xfrm>
            <a:prstGeom prst="straightConnector1">
              <a:avLst/>
            </a:prstGeom>
            <a:noFill/>
            <a:ln cap="flat" cmpd="sng" w="987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59" name="Google Shape;159;p22"/>
            <p:cNvCxnSpPr/>
            <p:nvPr/>
          </p:nvCxnSpPr>
          <p:spPr>
            <a:xfrm>
              <a:off x="6408675" y="2681229"/>
              <a:ext cx="712200" cy="0"/>
            </a:xfrm>
            <a:prstGeom prst="straightConnector1">
              <a:avLst/>
            </a:prstGeom>
            <a:noFill/>
            <a:ln cap="flat" cmpd="sng" w="987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60" name="Google Shape;160;p22"/>
          <p:cNvGrpSpPr/>
          <p:nvPr/>
        </p:nvGrpSpPr>
        <p:grpSpPr>
          <a:xfrm>
            <a:off x="5548425" y="3681931"/>
            <a:ext cx="935624" cy="191998"/>
            <a:chOff x="5781172" y="2495724"/>
            <a:chExt cx="1342166" cy="185505"/>
          </a:xfrm>
        </p:grpSpPr>
        <p:sp>
          <p:nvSpPr>
            <p:cNvPr id="161" name="Google Shape;161;p22"/>
            <p:cNvSpPr txBox="1"/>
            <p:nvPr/>
          </p:nvSpPr>
          <p:spPr>
            <a:xfrm rot="-1592">
              <a:off x="5827938" y="2496024"/>
              <a:ext cx="12954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475" lIns="70975" spcFirstLastPara="1" rIns="70975" wrap="square" tIns="35475">
              <a:noAutofit/>
            </a:bodyPr>
            <a:lstStyle/>
            <a:p>
              <a:pPr indent="0" lvl="0" marL="0" rtl="0" algn="l">
                <a:spcBef>
                  <a:spcPts val="331"/>
                </a:spcBef>
                <a:spcAft>
                  <a:spcPts val="0"/>
                </a:spcAft>
                <a:buNone/>
              </a:pP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adio communication</a:t>
              </a:r>
              <a:endParaRPr sz="62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2" name="Google Shape;162;p22"/>
            <p:cNvCxnSpPr/>
            <p:nvPr/>
          </p:nvCxnSpPr>
          <p:spPr>
            <a:xfrm rot="10800000">
              <a:off x="5781172" y="2681227"/>
              <a:ext cx="637200" cy="0"/>
            </a:xfrm>
            <a:prstGeom prst="straightConnector1">
              <a:avLst/>
            </a:prstGeom>
            <a:noFill/>
            <a:ln cap="flat" cmpd="sng" w="987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" name="Google Shape;163;p22"/>
            <p:cNvCxnSpPr/>
            <p:nvPr/>
          </p:nvCxnSpPr>
          <p:spPr>
            <a:xfrm>
              <a:off x="6408675" y="2681229"/>
              <a:ext cx="712200" cy="0"/>
            </a:xfrm>
            <a:prstGeom prst="straightConnector1">
              <a:avLst/>
            </a:prstGeom>
            <a:noFill/>
            <a:ln cap="flat" cmpd="sng" w="987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64" name="Google Shape;164;p22"/>
          <p:cNvGrpSpPr/>
          <p:nvPr/>
        </p:nvGrpSpPr>
        <p:grpSpPr>
          <a:xfrm>
            <a:off x="7305281" y="3681931"/>
            <a:ext cx="935624" cy="191998"/>
            <a:chOff x="5781172" y="2495724"/>
            <a:chExt cx="1342166" cy="185505"/>
          </a:xfrm>
        </p:grpSpPr>
        <p:sp>
          <p:nvSpPr>
            <p:cNvPr id="165" name="Google Shape;165;p22"/>
            <p:cNvSpPr txBox="1"/>
            <p:nvPr/>
          </p:nvSpPr>
          <p:spPr>
            <a:xfrm rot="-1592">
              <a:off x="5827938" y="2496024"/>
              <a:ext cx="1295400" cy="17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5475" lIns="70975" spcFirstLastPara="1" rIns="70975" wrap="square" tIns="35475">
              <a:noAutofit/>
            </a:bodyPr>
            <a:lstStyle/>
            <a:p>
              <a:pPr indent="0" lvl="0" marL="0" rtl="0" algn="l">
                <a:spcBef>
                  <a:spcPts val="331"/>
                </a:spcBef>
                <a:spcAft>
                  <a:spcPts val="0"/>
                </a:spcAft>
                <a:buNone/>
              </a:pP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r>
                <a:rPr b="1" lang="en" sz="621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adio communication</a:t>
              </a:r>
              <a:endParaRPr sz="621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cxnSp>
          <p:nvCxnSpPr>
            <p:cNvPr id="166" name="Google Shape;166;p22"/>
            <p:cNvCxnSpPr/>
            <p:nvPr/>
          </p:nvCxnSpPr>
          <p:spPr>
            <a:xfrm rot="10800000">
              <a:off x="5781172" y="2681227"/>
              <a:ext cx="637200" cy="0"/>
            </a:xfrm>
            <a:prstGeom prst="straightConnector1">
              <a:avLst/>
            </a:prstGeom>
            <a:noFill/>
            <a:ln cap="flat" cmpd="sng" w="987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7" name="Google Shape;167;p22"/>
            <p:cNvCxnSpPr/>
            <p:nvPr/>
          </p:nvCxnSpPr>
          <p:spPr>
            <a:xfrm>
              <a:off x="6408675" y="2681229"/>
              <a:ext cx="712200" cy="0"/>
            </a:xfrm>
            <a:prstGeom prst="straightConnector1">
              <a:avLst/>
            </a:prstGeom>
            <a:noFill/>
            <a:ln cap="flat" cmpd="sng" w="9875">
              <a:solidFill>
                <a:schemeClr val="l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8" name="Google Shape;168;p22"/>
          <p:cNvSpPr txBox="1"/>
          <p:nvPr/>
        </p:nvSpPr>
        <p:spPr>
          <a:xfrm>
            <a:off x="5704525" y="4106988"/>
            <a:ext cx="3027900" cy="1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475" lIns="70975" spcFirstLastPara="1" rIns="70975" wrap="square" tIns="35475">
            <a:noAutofit/>
          </a:bodyPr>
          <a:lstStyle/>
          <a:p>
            <a:pPr indent="0" lvl="0" marL="0" rtl="0" algn="l">
              <a:spcBef>
                <a:spcPts val="331"/>
              </a:spcBef>
              <a:spcAft>
                <a:spcPts val="0"/>
              </a:spcAft>
              <a:buNone/>
            </a:pPr>
            <a:r>
              <a:rPr b="1" lang="en" sz="1235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AQUABOT swarm in body of water</a:t>
            </a:r>
            <a:endParaRPr sz="1235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9" name="Google Shape;169;p22"/>
          <p:cNvSpPr txBox="1"/>
          <p:nvPr/>
        </p:nvSpPr>
        <p:spPr>
          <a:xfrm>
            <a:off x="3895625" y="3759363"/>
            <a:ext cx="6840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475" lIns="70975" spcFirstLastPara="1" rIns="70975" wrap="square" tIns="35475">
            <a:noAutofit/>
          </a:bodyPr>
          <a:lstStyle/>
          <a:p>
            <a:pPr indent="0" lvl="0" marL="0" rtl="0" algn="l">
              <a:spcBef>
                <a:spcPts val="331"/>
              </a:spcBef>
              <a:spcAft>
                <a:spcPts val="0"/>
              </a:spcAft>
              <a:buNone/>
            </a:pPr>
            <a:r>
              <a:rPr b="1" lang="en" sz="1035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Starlink-equipped drone</a:t>
            </a:r>
            <a:endParaRPr sz="1035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0" name="Google Shape;170;p22"/>
          <p:cNvSpPr txBox="1"/>
          <p:nvPr/>
        </p:nvSpPr>
        <p:spPr>
          <a:xfrm>
            <a:off x="7233375" y="3357138"/>
            <a:ext cx="11415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475" lIns="70975" spcFirstLastPara="1" rIns="70975" wrap="square" tIns="35475">
            <a:noAutofit/>
          </a:bodyPr>
          <a:lstStyle/>
          <a:p>
            <a:pPr indent="0" lvl="0" marL="0" rtl="0" algn="l">
              <a:spcBef>
                <a:spcPts val="331"/>
              </a:spcBef>
              <a:spcAft>
                <a:spcPts val="0"/>
              </a:spcAft>
              <a:buNone/>
            </a:pPr>
            <a:r>
              <a:rPr b="1" lang="en" sz="1035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RC boat d</a:t>
            </a:r>
            <a:r>
              <a:rPr b="1" lang="en" sz="1035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rones</a:t>
            </a:r>
            <a:endParaRPr sz="1035" u="sng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71" name="Google Shape;171;p22"/>
          <p:cNvPicPr preferRelativeResize="0"/>
          <p:nvPr/>
        </p:nvPicPr>
        <p:blipFill rotWithShape="1">
          <a:blip r:embed="rId3">
            <a:alphaModFix/>
          </a:blip>
          <a:srcRect b="0" l="56571" r="0" t="87821"/>
          <a:stretch/>
        </p:blipFill>
        <p:spPr>
          <a:xfrm>
            <a:off x="8200236" y="3772988"/>
            <a:ext cx="883525" cy="22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0189" y="2821016"/>
            <a:ext cx="595700" cy="343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"/>
          <p:cNvSpPr txBox="1"/>
          <p:nvPr/>
        </p:nvSpPr>
        <p:spPr>
          <a:xfrm>
            <a:off x="2743200" y="162500"/>
            <a:ext cx="3657600" cy="5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PDR Action Items</a:t>
            </a:r>
            <a:endParaRPr b="1" i="0" sz="30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8" name="Google Shape;178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23"/>
          <p:cNvSpPr txBox="1"/>
          <p:nvPr/>
        </p:nvSpPr>
        <p:spPr>
          <a:xfrm>
            <a:off x="271475" y="606504"/>
            <a:ext cx="3043800" cy="34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Items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 system requirement for drone to drone communication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a system requirement for swarm control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SBD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a weight analysis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Define/resolve deployment system approach with your sponsor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3"/>
          <p:cNvSpPr txBox="1"/>
          <p:nvPr/>
        </p:nvSpPr>
        <p:spPr>
          <a:xfrm>
            <a:off x="3315275" y="606500"/>
            <a:ext cx="5751300" cy="36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 Taken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Requirement 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5.4.2 for inter-drone communication up to 100m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Created Requirement 5.4.6 for coordinated drone swarm behavior with a leader-follower model at &lt; 1 s latency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Updates made to SBD: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lphaL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Modification to reflect finalized motor and prop layout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lphaL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Removal of in-drone E-stop and Master Switch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 Analysis conducted to find total drone mass of ~37 kg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negotiation and discussion with sponsors resulted in a change of focus from deployment system to swarm demonstration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3"/>
          <p:cNvSpPr/>
          <p:nvPr/>
        </p:nvSpPr>
        <p:spPr>
          <a:xfrm>
            <a:off x="676650" y="4041650"/>
            <a:ext cx="2208300" cy="525300"/>
          </a:xfrm>
          <a:prstGeom prst="roundRect">
            <a:avLst>
              <a:gd fmla="val 16667" name="adj"/>
            </a:avLst>
          </a:prstGeom>
          <a:solidFill>
            <a:srgbClr val="6FA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All Action Items Closed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4"/>
          <p:cNvSpPr txBox="1"/>
          <p:nvPr/>
        </p:nvSpPr>
        <p:spPr>
          <a:xfrm>
            <a:off x="1787250" y="154725"/>
            <a:ext cx="55695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Major Post-</a:t>
            </a: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PDR Changes</a:t>
            </a:r>
            <a:endParaRPr i="0" sz="18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24"/>
          <p:cNvSpPr txBox="1"/>
          <p:nvPr/>
        </p:nvSpPr>
        <p:spPr>
          <a:xfrm>
            <a:off x="488250" y="819961"/>
            <a:ext cx="81675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Deployment system is no longer within the scope of the project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Shift of project focus to showcasing swarm behavior and control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least three drones must be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deployed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including speed, battery life, and internal volume have been altered to include a threshold value and objective value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5"/>
          <p:cNvSpPr txBox="1"/>
          <p:nvPr/>
        </p:nvSpPr>
        <p:spPr>
          <a:xfrm>
            <a:off x="696900" y="1980300"/>
            <a:ext cx="77502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System Requirements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" name="Google Shape;194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/>
          <p:nvPr/>
        </p:nvSpPr>
        <p:spPr>
          <a:xfrm>
            <a:off x="4237875" y="4121175"/>
            <a:ext cx="814200" cy="76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6"/>
          <p:cNvSpPr txBox="1"/>
          <p:nvPr/>
        </p:nvSpPr>
        <p:spPr>
          <a:xfrm>
            <a:off x="47785" y="73603"/>
            <a:ext cx="22317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System Block Diagram:</a:t>
            </a:r>
            <a:endParaRPr b="1" sz="3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7342575" y="948375"/>
            <a:ext cx="1455000" cy="4010400"/>
          </a:xfrm>
          <a:prstGeom prst="rect">
            <a:avLst/>
          </a:prstGeom>
          <a:solidFill>
            <a:schemeClr val="lt2"/>
          </a:solidFill>
          <a:ln cap="flat" cmpd="sng" w="12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950" lIns="122950" spcFirstLastPara="1" rIns="122950" wrap="square" tIns="12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</p:txBody>
      </p:sp>
      <p:sp>
        <p:nvSpPr>
          <p:cNvPr id="202" name="Google Shape;202;p26"/>
          <p:cNvSpPr/>
          <p:nvPr/>
        </p:nvSpPr>
        <p:spPr>
          <a:xfrm>
            <a:off x="2422950" y="131361"/>
            <a:ext cx="4883400" cy="4833600"/>
          </a:xfrm>
          <a:prstGeom prst="rect">
            <a:avLst/>
          </a:prstGeom>
          <a:noFill/>
          <a:ln cap="flat" cmpd="sng" w="128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8550" lIns="88550" spcFirstLastPara="1" rIns="88550" wrap="square" tIns="8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203" name="Google Shape;203;p26"/>
          <p:cNvSpPr txBox="1"/>
          <p:nvPr/>
        </p:nvSpPr>
        <p:spPr>
          <a:xfrm>
            <a:off x="4000622" y="184800"/>
            <a:ext cx="2367600" cy="494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550" lIns="88550" spcFirstLastPara="1" rIns="88550" wrap="square" tIns="8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6"/>
              <a:t>Drone Hull</a:t>
            </a:r>
            <a:endParaRPr sz="1356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94"/>
              <a:t>Waterproof IP68, Integrated Self-Righting System</a:t>
            </a:r>
            <a:endParaRPr sz="694"/>
          </a:p>
        </p:txBody>
      </p:sp>
      <p:sp>
        <p:nvSpPr>
          <p:cNvPr id="204" name="Google Shape;204;p26"/>
          <p:cNvSpPr/>
          <p:nvPr/>
        </p:nvSpPr>
        <p:spPr>
          <a:xfrm>
            <a:off x="2981667" y="4150713"/>
            <a:ext cx="621900" cy="2826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0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PH Sensor</a:t>
            </a:r>
            <a:endParaRPr sz="619"/>
          </a:p>
        </p:txBody>
      </p:sp>
      <p:sp>
        <p:nvSpPr>
          <p:cNvPr id="205" name="Google Shape;205;p26"/>
          <p:cNvSpPr/>
          <p:nvPr/>
        </p:nvSpPr>
        <p:spPr>
          <a:xfrm>
            <a:off x="2981668" y="3739675"/>
            <a:ext cx="621900" cy="2826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Salinity Sensor </a:t>
            </a:r>
            <a:endParaRPr sz="619"/>
          </a:p>
        </p:txBody>
      </p:sp>
      <p:sp>
        <p:nvSpPr>
          <p:cNvPr id="206" name="Google Shape;206;p26"/>
          <p:cNvSpPr/>
          <p:nvPr/>
        </p:nvSpPr>
        <p:spPr>
          <a:xfrm>
            <a:off x="2981668" y="3328637"/>
            <a:ext cx="621900" cy="2826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Temperature</a:t>
            </a:r>
            <a:endParaRPr sz="619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Sensor</a:t>
            </a:r>
            <a:endParaRPr sz="619"/>
          </a:p>
        </p:txBody>
      </p:sp>
      <p:sp>
        <p:nvSpPr>
          <p:cNvPr id="207" name="Google Shape;207;p26"/>
          <p:cNvSpPr/>
          <p:nvPr/>
        </p:nvSpPr>
        <p:spPr>
          <a:xfrm>
            <a:off x="6024667" y="3782124"/>
            <a:ext cx="905100" cy="3687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IMX219</a:t>
            </a:r>
            <a:endParaRPr sz="619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(Surface)</a:t>
            </a:r>
            <a:endParaRPr sz="619"/>
          </a:p>
        </p:txBody>
      </p:sp>
      <p:sp>
        <p:nvSpPr>
          <p:cNvPr id="208" name="Google Shape;208;p26"/>
          <p:cNvSpPr/>
          <p:nvPr/>
        </p:nvSpPr>
        <p:spPr>
          <a:xfrm>
            <a:off x="6025358" y="2777727"/>
            <a:ext cx="905100" cy="451800"/>
          </a:xfrm>
          <a:prstGeom prst="rect">
            <a:avLst/>
          </a:prstGeom>
          <a:solidFill>
            <a:srgbClr val="CFE2F3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Jetson Orin Nano + </a:t>
            </a:r>
            <a:endParaRPr sz="619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Local Storage</a:t>
            </a:r>
            <a:endParaRPr sz="619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(Encoded Video + </a:t>
            </a:r>
            <a:r>
              <a:rPr lang="en" sz="619"/>
              <a:t>Telemetry</a:t>
            </a:r>
            <a:r>
              <a:rPr lang="en" sz="619"/>
              <a:t> Logs)</a:t>
            </a:r>
            <a:endParaRPr sz="619"/>
          </a:p>
        </p:txBody>
      </p:sp>
      <p:sp>
        <p:nvSpPr>
          <p:cNvPr id="209" name="Google Shape;209;p26"/>
          <p:cNvSpPr/>
          <p:nvPr/>
        </p:nvSpPr>
        <p:spPr>
          <a:xfrm>
            <a:off x="3022112" y="796840"/>
            <a:ext cx="905100" cy="452400"/>
          </a:xfrm>
          <a:prstGeom prst="rect">
            <a:avLst/>
          </a:prstGeom>
          <a:solidFill>
            <a:srgbClr val="CFE2F3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2"/>
              <a:t>Starlink Mini </a:t>
            </a:r>
            <a:endParaRPr sz="662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2"/>
              <a:t>(Antenna + Router)</a:t>
            </a:r>
            <a:endParaRPr sz="662"/>
          </a:p>
        </p:txBody>
      </p:sp>
      <p:sp>
        <p:nvSpPr>
          <p:cNvPr id="210" name="Google Shape;210;p26"/>
          <p:cNvSpPr/>
          <p:nvPr/>
        </p:nvSpPr>
        <p:spPr>
          <a:xfrm>
            <a:off x="980026" y="2862322"/>
            <a:ext cx="621900" cy="282600"/>
          </a:xfrm>
          <a:prstGeom prst="rect">
            <a:avLst/>
          </a:prstGeom>
          <a:solidFill>
            <a:srgbClr val="CFE2F3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2"/>
              <a:t>Satellite</a:t>
            </a:r>
            <a:endParaRPr sz="662"/>
          </a:p>
        </p:txBody>
      </p:sp>
      <p:cxnSp>
        <p:nvCxnSpPr>
          <p:cNvPr id="211" name="Google Shape;211;p26"/>
          <p:cNvCxnSpPr>
            <a:stCxn id="210" idx="3"/>
            <a:endCxn id="209" idx="1"/>
          </p:cNvCxnSpPr>
          <p:nvPr/>
        </p:nvCxnSpPr>
        <p:spPr>
          <a:xfrm flipH="1" rot="10800000">
            <a:off x="1601926" y="1023022"/>
            <a:ext cx="1420200" cy="1980600"/>
          </a:xfrm>
          <a:prstGeom prst="bentConnector3">
            <a:avLst>
              <a:gd fmla="val 49999" name="adj1"/>
            </a:avLst>
          </a:prstGeom>
          <a:noFill/>
          <a:ln cap="flat" cmpd="sng" w="9425">
            <a:solidFill>
              <a:srgbClr val="0000FF"/>
            </a:solidFill>
            <a:prstDash val="dot"/>
            <a:round/>
            <a:headEnd len="med" w="med" type="triangle"/>
            <a:tailEnd len="med" w="med" type="triangle"/>
          </a:ln>
        </p:spPr>
      </p:cxnSp>
      <p:sp>
        <p:nvSpPr>
          <p:cNvPr id="212" name="Google Shape;212;p26"/>
          <p:cNvSpPr/>
          <p:nvPr/>
        </p:nvSpPr>
        <p:spPr>
          <a:xfrm>
            <a:off x="5059364" y="4009705"/>
            <a:ext cx="621900" cy="282600"/>
          </a:xfrm>
          <a:prstGeom prst="rect">
            <a:avLst/>
          </a:prstGeom>
          <a:solidFill>
            <a:srgbClr val="F6B26B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95"/>
              <a:t>Brushless Motor</a:t>
            </a:r>
            <a:endParaRPr sz="662"/>
          </a:p>
        </p:txBody>
      </p:sp>
      <p:sp>
        <p:nvSpPr>
          <p:cNvPr id="213" name="Google Shape;213;p26"/>
          <p:cNvSpPr/>
          <p:nvPr/>
        </p:nvSpPr>
        <p:spPr>
          <a:xfrm>
            <a:off x="5059475" y="4477660"/>
            <a:ext cx="621900" cy="282600"/>
          </a:xfrm>
          <a:prstGeom prst="rect">
            <a:avLst/>
          </a:prstGeom>
          <a:solidFill>
            <a:srgbClr val="F6B26B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94"/>
              <a:t>Propeller</a:t>
            </a:r>
            <a:endParaRPr sz="594"/>
          </a:p>
        </p:txBody>
      </p:sp>
      <p:sp>
        <p:nvSpPr>
          <p:cNvPr id="214" name="Google Shape;214;p26"/>
          <p:cNvSpPr/>
          <p:nvPr/>
        </p:nvSpPr>
        <p:spPr>
          <a:xfrm>
            <a:off x="5059370" y="3541750"/>
            <a:ext cx="621900" cy="282600"/>
          </a:xfrm>
          <a:prstGeom prst="rect">
            <a:avLst/>
          </a:prstGeom>
          <a:solidFill>
            <a:srgbClr val="F6B26B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94"/>
              <a:t>ESC</a:t>
            </a:r>
            <a:endParaRPr sz="594"/>
          </a:p>
        </p:txBody>
      </p:sp>
      <p:sp>
        <p:nvSpPr>
          <p:cNvPr id="215" name="Google Shape;215;p26"/>
          <p:cNvSpPr/>
          <p:nvPr/>
        </p:nvSpPr>
        <p:spPr>
          <a:xfrm>
            <a:off x="5556935" y="797938"/>
            <a:ext cx="905100" cy="5664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Battery </a:t>
            </a:r>
            <a:endParaRPr sz="6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(24V LiFePO</a:t>
            </a:r>
            <a:r>
              <a:rPr baseline="-25000" lang="en" sz="619"/>
              <a:t>4</a:t>
            </a:r>
            <a:r>
              <a:rPr lang="en" sz="619"/>
              <a:t>)</a:t>
            </a:r>
            <a:endParaRPr sz="619"/>
          </a:p>
        </p:txBody>
      </p:sp>
      <p:cxnSp>
        <p:nvCxnSpPr>
          <p:cNvPr id="216" name="Google Shape;216;p26"/>
          <p:cNvCxnSpPr>
            <a:stCxn id="214" idx="2"/>
            <a:endCxn id="212" idx="0"/>
          </p:cNvCxnSpPr>
          <p:nvPr/>
        </p:nvCxnSpPr>
        <p:spPr>
          <a:xfrm flipH="1" rot="-5400000">
            <a:off x="5277920" y="3916750"/>
            <a:ext cx="185400" cy="600"/>
          </a:xfrm>
          <a:prstGeom prst="bentConnector3">
            <a:avLst>
              <a:gd fmla="val 49988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" name="Google Shape;217;p26"/>
          <p:cNvCxnSpPr>
            <a:stCxn id="213" idx="0"/>
            <a:endCxn id="212" idx="2"/>
          </p:cNvCxnSpPr>
          <p:nvPr/>
        </p:nvCxnSpPr>
        <p:spPr>
          <a:xfrm rot="-5400000">
            <a:off x="5278025" y="4384660"/>
            <a:ext cx="185400" cy="600"/>
          </a:xfrm>
          <a:prstGeom prst="bentConnector3">
            <a:avLst>
              <a:gd fmla="val 49988" name="adj1"/>
            </a:avLst>
          </a:prstGeom>
          <a:noFill/>
          <a:ln cap="flat" cmpd="sng" w="94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18" name="Google Shape;218;p26"/>
          <p:cNvCxnSpPr/>
          <p:nvPr/>
        </p:nvCxnSpPr>
        <p:spPr>
          <a:xfrm>
            <a:off x="4053150" y="3455611"/>
            <a:ext cx="0" cy="0"/>
          </a:xfrm>
          <a:prstGeom prst="bentConnector3">
            <a:avLst>
              <a:gd fmla="val 50000" name="adj1"/>
            </a:avLst>
          </a:prstGeom>
          <a:noFill/>
          <a:ln cap="flat" cmpd="sng" w="23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26"/>
          <p:cNvSpPr/>
          <p:nvPr/>
        </p:nvSpPr>
        <p:spPr>
          <a:xfrm>
            <a:off x="2840079" y="2777729"/>
            <a:ext cx="905100" cy="451800"/>
          </a:xfrm>
          <a:prstGeom prst="rect">
            <a:avLst/>
          </a:prstGeom>
          <a:solidFill>
            <a:srgbClr val="CFE2F3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ESP32</a:t>
            </a:r>
            <a:endParaRPr sz="619"/>
          </a:p>
        </p:txBody>
      </p:sp>
      <p:sp>
        <p:nvSpPr>
          <p:cNvPr id="220" name="Google Shape;220;p26"/>
          <p:cNvSpPr/>
          <p:nvPr/>
        </p:nvSpPr>
        <p:spPr>
          <a:xfrm>
            <a:off x="4656076" y="1625269"/>
            <a:ext cx="651600" cy="3231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+/- Bus</a:t>
            </a:r>
            <a:endParaRPr sz="619"/>
          </a:p>
        </p:txBody>
      </p:sp>
      <p:sp>
        <p:nvSpPr>
          <p:cNvPr id="221" name="Google Shape;221;p26"/>
          <p:cNvSpPr/>
          <p:nvPr/>
        </p:nvSpPr>
        <p:spPr>
          <a:xfrm>
            <a:off x="3131566" y="2043073"/>
            <a:ext cx="905100" cy="4524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5V Buck Converter</a:t>
            </a:r>
            <a:endParaRPr sz="619"/>
          </a:p>
        </p:txBody>
      </p:sp>
      <p:sp>
        <p:nvSpPr>
          <p:cNvPr id="222" name="Google Shape;222;p26"/>
          <p:cNvSpPr/>
          <p:nvPr/>
        </p:nvSpPr>
        <p:spPr>
          <a:xfrm>
            <a:off x="6025641" y="2043073"/>
            <a:ext cx="905100" cy="4518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19</a:t>
            </a:r>
            <a:r>
              <a:rPr lang="en" sz="619"/>
              <a:t>V Buck Converter</a:t>
            </a:r>
            <a:endParaRPr sz="619"/>
          </a:p>
        </p:txBody>
      </p:sp>
      <p:sp>
        <p:nvSpPr>
          <p:cNvPr id="223" name="Google Shape;223;p26"/>
          <p:cNvSpPr/>
          <p:nvPr/>
        </p:nvSpPr>
        <p:spPr>
          <a:xfrm>
            <a:off x="4532937" y="797152"/>
            <a:ext cx="905100" cy="4518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48V Boost Converter</a:t>
            </a:r>
            <a:endParaRPr sz="619"/>
          </a:p>
        </p:txBody>
      </p:sp>
      <p:cxnSp>
        <p:nvCxnSpPr>
          <p:cNvPr id="224" name="Google Shape;224;p26"/>
          <p:cNvCxnSpPr>
            <a:stCxn id="223" idx="1"/>
            <a:endCxn id="209" idx="3"/>
          </p:cNvCxnSpPr>
          <p:nvPr/>
        </p:nvCxnSpPr>
        <p:spPr>
          <a:xfrm flipH="1">
            <a:off x="3927237" y="1023052"/>
            <a:ext cx="605700" cy="600"/>
          </a:xfrm>
          <a:prstGeom prst="bentConnector3">
            <a:avLst>
              <a:gd fmla="val 50002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5" name="Google Shape;225;p26"/>
          <p:cNvCxnSpPr>
            <a:stCxn id="220" idx="3"/>
            <a:endCxn id="222" idx="1"/>
          </p:cNvCxnSpPr>
          <p:nvPr/>
        </p:nvCxnSpPr>
        <p:spPr>
          <a:xfrm>
            <a:off x="5307676" y="1786819"/>
            <a:ext cx="717900" cy="482100"/>
          </a:xfrm>
          <a:prstGeom prst="bentConnector3">
            <a:avLst>
              <a:gd fmla="val 50004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6" name="Google Shape;226;p26"/>
          <p:cNvCxnSpPr>
            <a:stCxn id="221" idx="2"/>
            <a:endCxn id="219" idx="0"/>
          </p:cNvCxnSpPr>
          <p:nvPr/>
        </p:nvCxnSpPr>
        <p:spPr>
          <a:xfrm rot="5400000">
            <a:off x="3297166" y="2490823"/>
            <a:ext cx="282300" cy="291600"/>
          </a:xfrm>
          <a:prstGeom prst="bentConnector3">
            <a:avLst>
              <a:gd fmla="val 49992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7" name="Google Shape;227;p26"/>
          <p:cNvCxnSpPr>
            <a:stCxn id="222" idx="2"/>
            <a:endCxn id="208" idx="0"/>
          </p:cNvCxnSpPr>
          <p:nvPr/>
        </p:nvCxnSpPr>
        <p:spPr>
          <a:xfrm flipH="1" rot="-5400000">
            <a:off x="6337041" y="2636023"/>
            <a:ext cx="282900" cy="600"/>
          </a:xfrm>
          <a:prstGeom prst="bentConnector3">
            <a:avLst>
              <a:gd fmla="val 49992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8" name="Google Shape;228;p26"/>
          <p:cNvCxnSpPr>
            <a:stCxn id="208" idx="2"/>
            <a:endCxn id="207" idx="0"/>
          </p:cNvCxnSpPr>
          <p:nvPr/>
        </p:nvCxnSpPr>
        <p:spPr>
          <a:xfrm rot="5400000">
            <a:off x="6201308" y="3505527"/>
            <a:ext cx="552600" cy="600"/>
          </a:xfrm>
          <a:prstGeom prst="bentConnector3">
            <a:avLst>
              <a:gd fmla="val 50000" name="adj1"/>
            </a:avLst>
          </a:prstGeom>
          <a:noFill/>
          <a:ln cap="flat" cmpd="sng" w="94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9" name="Google Shape;229;p26"/>
          <p:cNvCxnSpPr>
            <a:endCxn id="207" idx="1"/>
          </p:cNvCxnSpPr>
          <p:nvPr/>
        </p:nvCxnSpPr>
        <p:spPr>
          <a:xfrm flipH="1" rot="-5400000">
            <a:off x="5543317" y="3485124"/>
            <a:ext cx="844500" cy="118200"/>
          </a:xfrm>
          <a:prstGeom prst="bentConnector2">
            <a:avLst/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6"/>
          <p:cNvCxnSpPr>
            <a:stCxn id="219" idx="1"/>
            <a:endCxn id="206" idx="1"/>
          </p:cNvCxnSpPr>
          <p:nvPr/>
        </p:nvCxnSpPr>
        <p:spPr>
          <a:xfrm>
            <a:off x="2840079" y="3003629"/>
            <a:ext cx="141600" cy="466200"/>
          </a:xfrm>
          <a:prstGeom prst="bentConnector3">
            <a:avLst>
              <a:gd fmla="val -168167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26"/>
          <p:cNvCxnSpPr>
            <a:stCxn id="219" idx="1"/>
            <a:endCxn id="205" idx="1"/>
          </p:cNvCxnSpPr>
          <p:nvPr/>
        </p:nvCxnSpPr>
        <p:spPr>
          <a:xfrm>
            <a:off x="2840079" y="3003629"/>
            <a:ext cx="141600" cy="877200"/>
          </a:xfrm>
          <a:prstGeom prst="bentConnector3">
            <a:avLst>
              <a:gd fmla="val -168167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2" name="Google Shape;232;p26"/>
          <p:cNvCxnSpPr>
            <a:stCxn id="219" idx="1"/>
            <a:endCxn id="204" idx="1"/>
          </p:cNvCxnSpPr>
          <p:nvPr/>
        </p:nvCxnSpPr>
        <p:spPr>
          <a:xfrm>
            <a:off x="2840079" y="3003629"/>
            <a:ext cx="141600" cy="1288500"/>
          </a:xfrm>
          <a:prstGeom prst="bentConnector3">
            <a:avLst>
              <a:gd fmla="val -168167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3" name="Google Shape;233;p26"/>
          <p:cNvSpPr txBox="1"/>
          <p:nvPr/>
        </p:nvSpPr>
        <p:spPr>
          <a:xfrm>
            <a:off x="7449817" y="1058000"/>
            <a:ext cx="1240500" cy="212400"/>
          </a:xfrm>
          <a:prstGeom prst="rect">
            <a:avLst/>
          </a:prstGeom>
          <a:solidFill>
            <a:srgbClr val="EA9999"/>
          </a:solidFill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00" lIns="48500" spcFirstLastPara="1" rIns="48500" wrap="square" tIns="48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2"/>
              <a:t>POWER</a:t>
            </a:r>
            <a:endParaRPr b="1" sz="742"/>
          </a:p>
        </p:txBody>
      </p:sp>
      <p:sp>
        <p:nvSpPr>
          <p:cNvPr id="234" name="Google Shape;234;p26"/>
          <p:cNvSpPr txBox="1"/>
          <p:nvPr/>
        </p:nvSpPr>
        <p:spPr>
          <a:xfrm>
            <a:off x="7449817" y="1475045"/>
            <a:ext cx="1240500" cy="212400"/>
          </a:xfrm>
          <a:prstGeom prst="rect">
            <a:avLst/>
          </a:prstGeom>
          <a:solidFill>
            <a:srgbClr val="CFE2F3"/>
          </a:solidFill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00" lIns="48500" spcFirstLastPara="1" rIns="48500" wrap="square" tIns="48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2"/>
              <a:t>COMMUNICATION</a:t>
            </a:r>
            <a:endParaRPr b="1" sz="742"/>
          </a:p>
        </p:txBody>
      </p:sp>
      <p:sp>
        <p:nvSpPr>
          <p:cNvPr id="235" name="Google Shape;235;p26"/>
          <p:cNvSpPr txBox="1"/>
          <p:nvPr/>
        </p:nvSpPr>
        <p:spPr>
          <a:xfrm>
            <a:off x="7449817" y="1892089"/>
            <a:ext cx="1240500" cy="212400"/>
          </a:xfrm>
          <a:prstGeom prst="rect">
            <a:avLst/>
          </a:prstGeom>
          <a:solidFill>
            <a:srgbClr val="B6D7A8"/>
          </a:solidFill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00" lIns="48500" spcFirstLastPara="1" rIns="48500" wrap="square" tIns="48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2"/>
              <a:t>SENSOR</a:t>
            </a:r>
            <a:endParaRPr b="1" sz="742"/>
          </a:p>
        </p:txBody>
      </p:sp>
      <p:sp>
        <p:nvSpPr>
          <p:cNvPr id="236" name="Google Shape;236;p26"/>
          <p:cNvSpPr txBox="1"/>
          <p:nvPr/>
        </p:nvSpPr>
        <p:spPr>
          <a:xfrm>
            <a:off x="7449817" y="2309134"/>
            <a:ext cx="1240500" cy="212400"/>
          </a:xfrm>
          <a:prstGeom prst="rect">
            <a:avLst/>
          </a:prstGeom>
          <a:solidFill>
            <a:srgbClr val="F6B26B"/>
          </a:solidFill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00" lIns="48500" spcFirstLastPara="1" rIns="48500" wrap="square" tIns="48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2"/>
              <a:t>PROPULSION</a:t>
            </a:r>
            <a:endParaRPr b="1" sz="742"/>
          </a:p>
        </p:txBody>
      </p:sp>
      <p:sp>
        <p:nvSpPr>
          <p:cNvPr id="237" name="Google Shape;237;p26"/>
          <p:cNvSpPr txBox="1"/>
          <p:nvPr/>
        </p:nvSpPr>
        <p:spPr>
          <a:xfrm>
            <a:off x="7449817" y="2726179"/>
            <a:ext cx="1240500" cy="226500"/>
          </a:xfrm>
          <a:prstGeom prst="rect">
            <a:avLst/>
          </a:prstGeom>
          <a:solidFill>
            <a:srgbClr val="F1C232"/>
          </a:solidFill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00" lIns="48500" spcFirstLastPara="1" rIns="48500" wrap="square" tIns="48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2"/>
              <a:t>GROUND STATION</a:t>
            </a:r>
            <a:endParaRPr b="1" sz="742"/>
          </a:p>
        </p:txBody>
      </p:sp>
      <p:cxnSp>
        <p:nvCxnSpPr>
          <p:cNvPr id="238" name="Google Shape;238;p26"/>
          <p:cNvCxnSpPr/>
          <p:nvPr/>
        </p:nvCxnSpPr>
        <p:spPr>
          <a:xfrm>
            <a:off x="7681717" y="3237436"/>
            <a:ext cx="776700" cy="600"/>
          </a:xfrm>
          <a:prstGeom prst="bentConnector3">
            <a:avLst>
              <a:gd fmla="val 50000" name="adj1"/>
            </a:avLst>
          </a:prstGeom>
          <a:noFill/>
          <a:ln cap="flat" cmpd="sng" w="283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9" name="Google Shape;239;p26"/>
          <p:cNvSpPr txBox="1"/>
          <p:nvPr/>
        </p:nvSpPr>
        <p:spPr>
          <a:xfrm>
            <a:off x="7521217" y="3362568"/>
            <a:ext cx="1074600" cy="181500"/>
          </a:xfrm>
          <a:prstGeom prst="rect">
            <a:avLst/>
          </a:prstGeom>
          <a:noFill/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42"/>
              <a:t>POWER CONNECTION</a:t>
            </a:r>
            <a:endParaRPr sz="742"/>
          </a:p>
        </p:txBody>
      </p:sp>
      <p:sp>
        <p:nvSpPr>
          <p:cNvPr id="240" name="Google Shape;240;p26"/>
          <p:cNvSpPr txBox="1"/>
          <p:nvPr/>
        </p:nvSpPr>
        <p:spPr>
          <a:xfrm>
            <a:off x="7521217" y="3953957"/>
            <a:ext cx="1074600" cy="181500"/>
          </a:xfrm>
          <a:prstGeom prst="rect">
            <a:avLst/>
          </a:prstGeom>
          <a:noFill/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42"/>
              <a:t>DATA CONNECTION</a:t>
            </a:r>
            <a:endParaRPr sz="742"/>
          </a:p>
        </p:txBody>
      </p:sp>
      <p:grpSp>
        <p:nvGrpSpPr>
          <p:cNvPr id="241" name="Google Shape;241;p26"/>
          <p:cNvGrpSpPr/>
          <p:nvPr/>
        </p:nvGrpSpPr>
        <p:grpSpPr>
          <a:xfrm>
            <a:off x="217011" y="3770373"/>
            <a:ext cx="2093290" cy="1172771"/>
            <a:chOff x="1303847" y="3082540"/>
            <a:chExt cx="1874700" cy="1050306"/>
          </a:xfrm>
        </p:grpSpPr>
        <p:sp>
          <p:nvSpPr>
            <p:cNvPr id="242" name="Google Shape;242;p26"/>
            <p:cNvSpPr/>
            <p:nvPr/>
          </p:nvSpPr>
          <p:spPr>
            <a:xfrm>
              <a:off x="1303847" y="3082545"/>
              <a:ext cx="1874700" cy="1050300"/>
            </a:xfrm>
            <a:prstGeom prst="rect">
              <a:avLst/>
            </a:prstGeom>
            <a:noFill/>
            <a:ln cap="flat" cmpd="sng" w="128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3100" lIns="43100" spcFirstLastPara="1" rIns="43100" wrap="square" tIns="43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60"/>
            </a:p>
          </p:txBody>
        </p:sp>
        <p:sp>
          <p:nvSpPr>
            <p:cNvPr id="243" name="Google Shape;243;p26"/>
            <p:cNvSpPr txBox="1"/>
            <p:nvPr/>
          </p:nvSpPr>
          <p:spPr>
            <a:xfrm>
              <a:off x="1436897" y="3082540"/>
              <a:ext cx="1608600" cy="183000"/>
            </a:xfrm>
            <a:prstGeom prst="rect">
              <a:avLst/>
            </a:prstGeom>
            <a:noFill/>
            <a:ln cap="flat" cmpd="sng" w="128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3100" lIns="43100" spcFirstLastPara="1" rIns="43100" wrap="square" tIns="431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62"/>
                <a:t>User Interface and Control</a:t>
              </a:r>
              <a:endParaRPr sz="762"/>
            </a:p>
          </p:txBody>
        </p:sp>
        <p:grpSp>
          <p:nvGrpSpPr>
            <p:cNvPr id="244" name="Google Shape;244;p26"/>
            <p:cNvGrpSpPr/>
            <p:nvPr/>
          </p:nvGrpSpPr>
          <p:grpSpPr>
            <a:xfrm>
              <a:off x="1428288" y="3390799"/>
              <a:ext cx="1625818" cy="594015"/>
              <a:chOff x="1378294" y="3390799"/>
              <a:chExt cx="1625818" cy="594015"/>
            </a:xfrm>
          </p:grpSpPr>
          <p:sp>
            <p:nvSpPr>
              <p:cNvPr id="245" name="Google Shape;245;p26"/>
              <p:cNvSpPr/>
              <p:nvPr/>
            </p:nvSpPr>
            <p:spPr>
              <a:xfrm>
                <a:off x="1962603" y="3390799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38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6725" lIns="36725" spcFirstLastPara="1" rIns="36725" wrap="square" tIns="367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94"/>
                  <a:t>Laptop</a:t>
                </a:r>
                <a:endParaRPr sz="562"/>
              </a:p>
            </p:txBody>
          </p:sp>
          <p:sp>
            <p:nvSpPr>
              <p:cNvPr id="246" name="Google Shape;246;p26"/>
              <p:cNvSpPr/>
              <p:nvPr/>
            </p:nvSpPr>
            <p:spPr>
              <a:xfrm>
                <a:off x="1962603" y="3756214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38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2675" lIns="22675" spcFirstLastPara="1" rIns="22675" wrap="square" tIns="226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94"/>
                  <a:t>GUI</a:t>
                </a:r>
                <a:endParaRPr sz="594"/>
              </a:p>
            </p:txBody>
          </p:sp>
          <p:sp>
            <p:nvSpPr>
              <p:cNvPr id="247" name="Google Shape;247;p26"/>
              <p:cNvSpPr/>
              <p:nvPr/>
            </p:nvSpPr>
            <p:spPr>
              <a:xfrm>
                <a:off x="1378300" y="3390800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38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2675" lIns="22675" spcFirstLastPara="1" rIns="22675" wrap="square" tIns="226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94"/>
                  <a:t>Starlink Terminal</a:t>
                </a:r>
                <a:endParaRPr sz="594"/>
              </a:p>
            </p:txBody>
          </p:sp>
          <p:sp>
            <p:nvSpPr>
              <p:cNvPr id="248" name="Google Shape;248;p26"/>
              <p:cNvSpPr/>
              <p:nvPr/>
            </p:nvSpPr>
            <p:spPr>
              <a:xfrm>
                <a:off x="2546912" y="3390799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38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2675" lIns="22675" spcFirstLastPara="1" rIns="22675" wrap="square" tIns="226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94"/>
                  <a:t>Internet Connection</a:t>
                </a:r>
                <a:endParaRPr sz="594"/>
              </a:p>
            </p:txBody>
          </p:sp>
          <p:sp>
            <p:nvSpPr>
              <p:cNvPr id="249" name="Google Shape;249;p26"/>
              <p:cNvSpPr/>
              <p:nvPr/>
            </p:nvSpPr>
            <p:spPr>
              <a:xfrm>
                <a:off x="1378294" y="3756214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38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2675" lIns="22675" spcFirstLastPara="1" rIns="22675" wrap="square" tIns="226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94"/>
                  <a:t>Live-video </a:t>
                </a:r>
                <a:endParaRPr sz="594"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94"/>
                  <a:t>Streaming</a:t>
                </a:r>
                <a:endParaRPr sz="594"/>
              </a:p>
            </p:txBody>
          </p:sp>
          <p:sp>
            <p:nvSpPr>
              <p:cNvPr id="250" name="Google Shape;250;p26"/>
              <p:cNvSpPr/>
              <p:nvPr/>
            </p:nvSpPr>
            <p:spPr>
              <a:xfrm>
                <a:off x="2546912" y="3756214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38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22675" lIns="22675" spcFirstLastPara="1" rIns="22675" wrap="square" tIns="2267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594"/>
                  <a:t>GEO- Overlay</a:t>
                </a:r>
                <a:endParaRPr sz="594"/>
              </a:p>
            </p:txBody>
          </p:sp>
        </p:grpSp>
        <p:cxnSp>
          <p:nvCxnSpPr>
            <p:cNvPr id="251" name="Google Shape;251;p26"/>
            <p:cNvCxnSpPr>
              <a:stCxn id="247" idx="3"/>
              <a:endCxn id="245" idx="1"/>
            </p:cNvCxnSpPr>
            <p:nvPr/>
          </p:nvCxnSpPr>
          <p:spPr>
            <a:xfrm>
              <a:off x="1885493" y="3505100"/>
              <a:ext cx="127200" cy="0"/>
            </a:xfrm>
            <a:prstGeom prst="straightConnector1">
              <a:avLst/>
            </a:prstGeom>
            <a:noFill/>
            <a:ln cap="flat" cmpd="sng" w="9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2" name="Google Shape;252;p26"/>
            <p:cNvCxnSpPr>
              <a:stCxn id="245" idx="3"/>
              <a:endCxn id="248" idx="1"/>
            </p:cNvCxnSpPr>
            <p:nvPr/>
          </p:nvCxnSpPr>
          <p:spPr>
            <a:xfrm>
              <a:off x="2469797" y="3505099"/>
              <a:ext cx="127200" cy="0"/>
            </a:xfrm>
            <a:prstGeom prst="straightConnector1">
              <a:avLst/>
            </a:prstGeom>
            <a:noFill/>
            <a:ln cap="flat" cmpd="sng" w="9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26"/>
            <p:cNvCxnSpPr>
              <a:stCxn id="245" idx="2"/>
              <a:endCxn id="246" idx="0"/>
            </p:cNvCxnSpPr>
            <p:nvPr/>
          </p:nvCxnSpPr>
          <p:spPr>
            <a:xfrm>
              <a:off x="2241197" y="3619399"/>
              <a:ext cx="0" cy="136800"/>
            </a:xfrm>
            <a:prstGeom prst="straightConnector1">
              <a:avLst/>
            </a:prstGeom>
            <a:noFill/>
            <a:ln cap="flat" cmpd="sng" w="9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26"/>
            <p:cNvCxnSpPr>
              <a:stCxn id="249" idx="3"/>
              <a:endCxn id="246" idx="1"/>
            </p:cNvCxnSpPr>
            <p:nvPr/>
          </p:nvCxnSpPr>
          <p:spPr>
            <a:xfrm>
              <a:off x="1885488" y="3870514"/>
              <a:ext cx="127200" cy="0"/>
            </a:xfrm>
            <a:prstGeom prst="straightConnector1">
              <a:avLst/>
            </a:prstGeom>
            <a:noFill/>
            <a:ln cap="flat" cmpd="sng" w="9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6"/>
            <p:cNvCxnSpPr>
              <a:stCxn id="246" idx="3"/>
              <a:endCxn id="250" idx="1"/>
            </p:cNvCxnSpPr>
            <p:nvPr/>
          </p:nvCxnSpPr>
          <p:spPr>
            <a:xfrm>
              <a:off x="2469797" y="3870514"/>
              <a:ext cx="127200" cy="0"/>
            </a:xfrm>
            <a:prstGeom prst="straightConnector1">
              <a:avLst/>
            </a:prstGeom>
            <a:noFill/>
            <a:ln cap="flat" cmpd="sng" w="94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56" name="Google Shape;256;p26"/>
          <p:cNvCxnSpPr>
            <a:stCxn id="247" idx="1"/>
            <a:endCxn id="210" idx="1"/>
          </p:cNvCxnSpPr>
          <p:nvPr/>
        </p:nvCxnSpPr>
        <p:spPr>
          <a:xfrm flipH="1" rot="10800000">
            <a:off x="355968" y="3003504"/>
            <a:ext cx="624000" cy="1238700"/>
          </a:xfrm>
          <a:prstGeom prst="bentConnector3">
            <a:avLst>
              <a:gd fmla="val -38161" name="adj1"/>
            </a:avLst>
          </a:prstGeom>
          <a:noFill/>
          <a:ln cap="flat" cmpd="sng" w="9425">
            <a:solidFill>
              <a:srgbClr val="0000FF"/>
            </a:solidFill>
            <a:prstDash val="dot"/>
            <a:round/>
            <a:headEnd len="med" w="med" type="triangle"/>
            <a:tailEnd len="med" w="med" type="triangle"/>
          </a:ln>
        </p:spPr>
      </p:cxnSp>
      <p:cxnSp>
        <p:nvCxnSpPr>
          <p:cNvPr id="257" name="Google Shape;257;p26"/>
          <p:cNvCxnSpPr/>
          <p:nvPr/>
        </p:nvCxnSpPr>
        <p:spPr>
          <a:xfrm>
            <a:off x="7682467" y="3838525"/>
            <a:ext cx="775200" cy="0"/>
          </a:xfrm>
          <a:prstGeom prst="straightConnector1">
            <a:avLst/>
          </a:prstGeom>
          <a:noFill/>
          <a:ln cap="flat" cmpd="sng" w="28300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8" name="Google Shape;258;p26"/>
          <p:cNvSpPr/>
          <p:nvPr/>
        </p:nvSpPr>
        <p:spPr>
          <a:xfrm>
            <a:off x="4219233" y="3541760"/>
            <a:ext cx="621900" cy="282600"/>
          </a:xfrm>
          <a:prstGeom prst="rect">
            <a:avLst/>
          </a:prstGeom>
          <a:solidFill>
            <a:srgbClr val="F6B26B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94"/>
              <a:t>Rudder Servo</a:t>
            </a:r>
            <a:endParaRPr sz="594"/>
          </a:p>
        </p:txBody>
      </p:sp>
      <p:sp>
        <p:nvSpPr>
          <p:cNvPr id="259" name="Google Shape;259;p26"/>
          <p:cNvSpPr/>
          <p:nvPr/>
        </p:nvSpPr>
        <p:spPr>
          <a:xfrm>
            <a:off x="4219233" y="4477674"/>
            <a:ext cx="621900" cy="282600"/>
          </a:xfrm>
          <a:prstGeom prst="rect">
            <a:avLst/>
          </a:prstGeom>
          <a:solidFill>
            <a:srgbClr val="F6B26B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94"/>
              <a:t>Rudder</a:t>
            </a:r>
            <a:endParaRPr sz="594"/>
          </a:p>
        </p:txBody>
      </p:sp>
      <p:cxnSp>
        <p:nvCxnSpPr>
          <p:cNvPr id="260" name="Google Shape;260;p26"/>
          <p:cNvCxnSpPr>
            <a:stCxn id="219" idx="3"/>
            <a:endCxn id="206" idx="3"/>
          </p:cNvCxnSpPr>
          <p:nvPr/>
        </p:nvCxnSpPr>
        <p:spPr>
          <a:xfrm flipH="1">
            <a:off x="3603579" y="3003629"/>
            <a:ext cx="141600" cy="466200"/>
          </a:xfrm>
          <a:prstGeom prst="bentConnector3">
            <a:avLst>
              <a:gd fmla="val -168167" name="adj1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6"/>
          <p:cNvCxnSpPr>
            <a:stCxn id="219" idx="3"/>
            <a:endCxn id="205" idx="3"/>
          </p:cNvCxnSpPr>
          <p:nvPr/>
        </p:nvCxnSpPr>
        <p:spPr>
          <a:xfrm flipH="1">
            <a:off x="3603579" y="3003629"/>
            <a:ext cx="141600" cy="877200"/>
          </a:xfrm>
          <a:prstGeom prst="bentConnector3">
            <a:avLst>
              <a:gd fmla="val -168167" name="adj1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2" name="Google Shape;262;p26"/>
          <p:cNvCxnSpPr>
            <a:stCxn id="219" idx="3"/>
            <a:endCxn id="204" idx="3"/>
          </p:cNvCxnSpPr>
          <p:nvPr/>
        </p:nvCxnSpPr>
        <p:spPr>
          <a:xfrm flipH="1">
            <a:off x="3603579" y="3003629"/>
            <a:ext cx="141600" cy="1288500"/>
          </a:xfrm>
          <a:prstGeom prst="bentConnector3">
            <a:avLst>
              <a:gd fmla="val -168167" name="adj1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3" name="Google Shape;263;p26"/>
          <p:cNvCxnSpPr>
            <a:stCxn id="221" idx="2"/>
            <a:endCxn id="258" idx="0"/>
          </p:cNvCxnSpPr>
          <p:nvPr/>
        </p:nvCxnSpPr>
        <p:spPr>
          <a:xfrm flipH="1" rot="-5400000">
            <a:off x="3534016" y="2545573"/>
            <a:ext cx="1046400" cy="946200"/>
          </a:xfrm>
          <a:prstGeom prst="bentConnector3">
            <a:avLst>
              <a:gd fmla="val 13647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26"/>
          <p:cNvCxnSpPr>
            <a:stCxn id="258" idx="2"/>
            <a:endCxn id="259" idx="0"/>
          </p:cNvCxnSpPr>
          <p:nvPr/>
        </p:nvCxnSpPr>
        <p:spPr>
          <a:xfrm flipH="1" rot="-5400000">
            <a:off x="4203783" y="4150760"/>
            <a:ext cx="653400" cy="6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5" name="Google Shape;265;p26"/>
          <p:cNvCxnSpPr>
            <a:endCxn id="258" idx="1"/>
          </p:cNvCxnSpPr>
          <p:nvPr/>
        </p:nvCxnSpPr>
        <p:spPr>
          <a:xfrm flipH="1" rot="-5400000">
            <a:off x="3766083" y="3229910"/>
            <a:ext cx="673500" cy="232800"/>
          </a:xfrm>
          <a:prstGeom prst="bentConnector2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26"/>
          <p:cNvCxnSpPr/>
          <p:nvPr/>
        </p:nvCxnSpPr>
        <p:spPr>
          <a:xfrm>
            <a:off x="5906675" y="3122000"/>
            <a:ext cx="117900" cy="0"/>
          </a:xfrm>
          <a:prstGeom prst="straightConnector1">
            <a:avLst/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6"/>
          <p:cNvCxnSpPr/>
          <p:nvPr/>
        </p:nvCxnSpPr>
        <p:spPr>
          <a:xfrm flipH="1" rot="10800000">
            <a:off x="3745179" y="3000954"/>
            <a:ext cx="1869600" cy="42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268" name="Google Shape;268;p26"/>
          <p:cNvCxnSpPr>
            <a:stCxn id="269" idx="6"/>
            <a:endCxn id="208" idx="1"/>
          </p:cNvCxnSpPr>
          <p:nvPr/>
        </p:nvCxnSpPr>
        <p:spPr>
          <a:xfrm>
            <a:off x="5185658" y="3003627"/>
            <a:ext cx="8397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70" name="Google Shape;27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9866" y="4335454"/>
            <a:ext cx="814200" cy="19338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7521217" y="4578782"/>
            <a:ext cx="1074600" cy="181500"/>
          </a:xfrm>
          <a:prstGeom prst="rect">
            <a:avLst/>
          </a:prstGeom>
          <a:noFill/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42"/>
              <a:t>No-connect Crossover</a:t>
            </a:r>
            <a:endParaRPr sz="742"/>
          </a:p>
        </p:txBody>
      </p:sp>
      <p:cxnSp>
        <p:nvCxnSpPr>
          <p:cNvPr id="272" name="Google Shape;272;p26"/>
          <p:cNvCxnSpPr/>
          <p:nvPr/>
        </p:nvCxnSpPr>
        <p:spPr>
          <a:xfrm flipH="1" rot="-5400000">
            <a:off x="4385570" y="2529900"/>
            <a:ext cx="1593300" cy="388500"/>
          </a:xfrm>
          <a:prstGeom prst="bentConnector3">
            <a:avLst>
              <a:gd fmla="val 74587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" name="Google Shape;273;p26"/>
          <p:cNvSpPr/>
          <p:nvPr/>
        </p:nvSpPr>
        <p:spPr>
          <a:xfrm>
            <a:off x="6616583" y="896799"/>
            <a:ext cx="480300" cy="3687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BMS</a:t>
            </a:r>
            <a:endParaRPr sz="619"/>
          </a:p>
        </p:txBody>
      </p:sp>
      <p:cxnSp>
        <p:nvCxnSpPr>
          <p:cNvPr id="274" name="Google Shape;274;p26"/>
          <p:cNvCxnSpPr>
            <a:stCxn id="215" idx="3"/>
            <a:endCxn id="273" idx="1"/>
          </p:cNvCxnSpPr>
          <p:nvPr/>
        </p:nvCxnSpPr>
        <p:spPr>
          <a:xfrm>
            <a:off x="6462035" y="1081138"/>
            <a:ext cx="154500" cy="600"/>
          </a:xfrm>
          <a:prstGeom prst="bentConnector3">
            <a:avLst>
              <a:gd fmla="val 50015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26"/>
          <p:cNvCxnSpPr>
            <a:stCxn id="273" idx="3"/>
            <a:endCxn id="208" idx="3"/>
          </p:cNvCxnSpPr>
          <p:nvPr/>
        </p:nvCxnSpPr>
        <p:spPr>
          <a:xfrm flipH="1">
            <a:off x="6930383" y="1081149"/>
            <a:ext cx="166500" cy="1922400"/>
          </a:xfrm>
          <a:prstGeom prst="bentConnector3">
            <a:avLst>
              <a:gd fmla="val -81977" name="adj1"/>
            </a:avLst>
          </a:prstGeom>
          <a:noFill/>
          <a:ln cap="flat" cmpd="sng" w="9425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76" name="Google Shape;276;p26"/>
          <p:cNvCxnSpPr>
            <a:stCxn id="220" idx="0"/>
            <a:endCxn id="223" idx="2"/>
          </p:cNvCxnSpPr>
          <p:nvPr/>
        </p:nvCxnSpPr>
        <p:spPr>
          <a:xfrm rot="-5400000">
            <a:off x="4795576" y="1435369"/>
            <a:ext cx="376200" cy="3600"/>
          </a:xfrm>
          <a:prstGeom prst="bentConnector3">
            <a:avLst>
              <a:gd fmla="val 50016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26"/>
          <p:cNvCxnSpPr>
            <a:stCxn id="220" idx="1"/>
            <a:endCxn id="221" idx="3"/>
          </p:cNvCxnSpPr>
          <p:nvPr/>
        </p:nvCxnSpPr>
        <p:spPr>
          <a:xfrm flipH="1">
            <a:off x="4036576" y="1786819"/>
            <a:ext cx="619500" cy="482400"/>
          </a:xfrm>
          <a:prstGeom prst="bentConnector3">
            <a:avLst>
              <a:gd fmla="val 49993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8" name="Google Shape;278;p26"/>
          <p:cNvCxnSpPr>
            <a:stCxn id="273" idx="2"/>
          </p:cNvCxnSpPr>
          <p:nvPr/>
        </p:nvCxnSpPr>
        <p:spPr>
          <a:xfrm rot="5400000">
            <a:off x="5868983" y="707049"/>
            <a:ext cx="429300" cy="1546200"/>
          </a:xfrm>
          <a:prstGeom prst="bentConnector2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26"/>
          <p:cNvCxnSpPr/>
          <p:nvPr/>
        </p:nvCxnSpPr>
        <p:spPr>
          <a:xfrm>
            <a:off x="5476500" y="3008425"/>
            <a:ext cx="0" cy="5289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0" name="Google Shape;280;p26"/>
          <p:cNvSpPr txBox="1"/>
          <p:nvPr/>
        </p:nvSpPr>
        <p:spPr>
          <a:xfrm>
            <a:off x="2404200" y="2608100"/>
            <a:ext cx="7752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3.3 V &amp; GPIO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6747263" y="1749617"/>
            <a:ext cx="567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Ethernet</a:t>
            </a:r>
            <a:endParaRPr sz="700">
              <a:solidFill>
                <a:srgbClr val="0000FF"/>
              </a:solidFill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6068193" y="3307828"/>
            <a:ext cx="567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CSI Ribbon</a:t>
            </a:r>
            <a:endParaRPr sz="700">
              <a:solidFill>
                <a:srgbClr val="0000FF"/>
              </a:solidFill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4574438" y="2792238"/>
            <a:ext cx="567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UART</a:t>
            </a:r>
            <a:endParaRPr sz="700">
              <a:solidFill>
                <a:srgbClr val="0000FF"/>
              </a:solidFill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1697348" y="1929100"/>
            <a:ext cx="7752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WebRTC</a:t>
            </a:r>
            <a:endParaRPr sz="7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Uplink</a:t>
            </a:r>
            <a:endParaRPr sz="7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(Video +</a:t>
            </a:r>
            <a:endParaRPr sz="7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Commands)</a:t>
            </a:r>
            <a:endParaRPr sz="700">
              <a:solidFill>
                <a:srgbClr val="0000FF"/>
              </a:solidFill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133260" y="3124475"/>
            <a:ext cx="7752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WebRTC</a:t>
            </a:r>
            <a:endParaRPr sz="7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Uplink</a:t>
            </a:r>
            <a:endParaRPr sz="7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(Video +</a:t>
            </a:r>
            <a:endParaRPr sz="7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000FF"/>
                </a:solidFill>
              </a:rPr>
              <a:t>Commands)</a:t>
            </a:r>
            <a:endParaRPr sz="700">
              <a:solidFill>
                <a:srgbClr val="0000FF"/>
              </a:solidFill>
            </a:endParaRPr>
          </a:p>
        </p:txBody>
      </p:sp>
      <p:sp>
        <p:nvSpPr>
          <p:cNvPr id="286" name="Google Shape;286;p26"/>
          <p:cNvSpPr txBox="1"/>
          <p:nvPr/>
        </p:nvSpPr>
        <p:spPr>
          <a:xfrm>
            <a:off x="3958725" y="3232000"/>
            <a:ext cx="7752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5</a:t>
            </a:r>
            <a:r>
              <a:rPr lang="en" sz="800">
                <a:solidFill>
                  <a:srgbClr val="FF0000"/>
                </a:solidFill>
              </a:rPr>
              <a:t>V (3-pin)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4675250" y="3231825"/>
            <a:ext cx="7752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24</a:t>
            </a:r>
            <a:r>
              <a:rPr lang="en" sz="800">
                <a:solidFill>
                  <a:srgbClr val="FF0000"/>
                </a:solidFill>
              </a:rPr>
              <a:t>V (XT-60)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4605205" y="3762038"/>
            <a:ext cx="10746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24V (3-phase)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5393300" y="3190425"/>
            <a:ext cx="7752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</a:rPr>
              <a:t>(PWM)</a:t>
            </a:r>
            <a:endParaRPr sz="800">
              <a:solidFill>
                <a:srgbClr val="0000FF"/>
              </a:solidFill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5834125" y="3251425"/>
            <a:ext cx="7752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3.3V</a:t>
            </a:r>
            <a:endParaRPr sz="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7"/>
          <p:cNvSpPr/>
          <p:nvPr/>
        </p:nvSpPr>
        <p:spPr>
          <a:xfrm>
            <a:off x="247450" y="3455600"/>
            <a:ext cx="1960500" cy="1123200"/>
          </a:xfrm>
          <a:prstGeom prst="rect">
            <a:avLst/>
          </a:prstGeom>
          <a:noFill/>
          <a:ln cap="flat" cmpd="sng" w="128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8550" lIns="88550" spcFirstLastPara="1" rIns="88550" wrap="square" tIns="8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296" name="Google Shape;296;p27"/>
          <p:cNvSpPr/>
          <p:nvPr/>
        </p:nvSpPr>
        <p:spPr>
          <a:xfrm>
            <a:off x="4237875" y="4121175"/>
            <a:ext cx="814200" cy="76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47775" y="73599"/>
            <a:ext cx="2231700" cy="19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8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System Block Diagram Cont.:</a:t>
            </a:r>
            <a:endParaRPr b="1" sz="38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98" name="Google Shape;298;p27"/>
          <p:cNvSpPr/>
          <p:nvPr/>
        </p:nvSpPr>
        <p:spPr>
          <a:xfrm>
            <a:off x="7342575" y="948375"/>
            <a:ext cx="1455000" cy="4010400"/>
          </a:xfrm>
          <a:prstGeom prst="rect">
            <a:avLst/>
          </a:prstGeom>
          <a:solidFill>
            <a:schemeClr val="lt2"/>
          </a:solidFill>
          <a:ln cap="flat" cmpd="sng" w="12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2950" lIns="122950" spcFirstLastPara="1" rIns="122950" wrap="square" tIns="122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83"/>
          </a:p>
        </p:txBody>
      </p:sp>
      <p:sp>
        <p:nvSpPr>
          <p:cNvPr id="299" name="Google Shape;299;p27"/>
          <p:cNvSpPr/>
          <p:nvPr/>
        </p:nvSpPr>
        <p:spPr>
          <a:xfrm>
            <a:off x="2333575" y="73600"/>
            <a:ext cx="4945500" cy="5058300"/>
          </a:xfrm>
          <a:prstGeom prst="rect">
            <a:avLst/>
          </a:prstGeom>
          <a:noFill/>
          <a:ln cap="flat" cmpd="sng" w="128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88550" lIns="88550" spcFirstLastPara="1" rIns="88550" wrap="square" tIns="885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0"/>
          </a:p>
        </p:txBody>
      </p:sp>
      <p:sp>
        <p:nvSpPr>
          <p:cNvPr id="300" name="Google Shape;300;p27"/>
          <p:cNvSpPr txBox="1"/>
          <p:nvPr/>
        </p:nvSpPr>
        <p:spPr>
          <a:xfrm>
            <a:off x="4000622" y="184800"/>
            <a:ext cx="2367600" cy="387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88550" lIns="88550" spcFirstLastPara="1" rIns="88550" wrap="square" tIns="885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6"/>
              <a:t>RC Boat Hull</a:t>
            </a:r>
            <a:endParaRPr sz="694"/>
          </a:p>
        </p:txBody>
      </p:sp>
      <p:sp>
        <p:nvSpPr>
          <p:cNvPr id="301" name="Google Shape;301;p27"/>
          <p:cNvSpPr/>
          <p:nvPr/>
        </p:nvSpPr>
        <p:spPr>
          <a:xfrm>
            <a:off x="2981667" y="4150713"/>
            <a:ext cx="621900" cy="2826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0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PH Sensor</a:t>
            </a:r>
            <a:endParaRPr sz="619"/>
          </a:p>
        </p:txBody>
      </p:sp>
      <p:sp>
        <p:nvSpPr>
          <p:cNvPr id="302" name="Google Shape;302;p27"/>
          <p:cNvSpPr/>
          <p:nvPr/>
        </p:nvSpPr>
        <p:spPr>
          <a:xfrm>
            <a:off x="2981668" y="3739675"/>
            <a:ext cx="621900" cy="2826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Salinity Sensor </a:t>
            </a:r>
            <a:endParaRPr sz="619"/>
          </a:p>
        </p:txBody>
      </p:sp>
      <p:sp>
        <p:nvSpPr>
          <p:cNvPr id="303" name="Google Shape;303;p27"/>
          <p:cNvSpPr/>
          <p:nvPr/>
        </p:nvSpPr>
        <p:spPr>
          <a:xfrm>
            <a:off x="2981668" y="3328637"/>
            <a:ext cx="621900" cy="2826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Temperature</a:t>
            </a:r>
            <a:endParaRPr sz="619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Sensor</a:t>
            </a:r>
            <a:endParaRPr sz="619"/>
          </a:p>
        </p:txBody>
      </p:sp>
      <p:sp>
        <p:nvSpPr>
          <p:cNvPr id="304" name="Google Shape;304;p27"/>
          <p:cNvSpPr/>
          <p:nvPr/>
        </p:nvSpPr>
        <p:spPr>
          <a:xfrm>
            <a:off x="5059364" y="4009705"/>
            <a:ext cx="621900" cy="282600"/>
          </a:xfrm>
          <a:prstGeom prst="rect">
            <a:avLst/>
          </a:prstGeom>
          <a:solidFill>
            <a:srgbClr val="F6B26B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95"/>
              <a:t>Brushless Motor</a:t>
            </a:r>
            <a:endParaRPr sz="562"/>
          </a:p>
        </p:txBody>
      </p:sp>
      <p:sp>
        <p:nvSpPr>
          <p:cNvPr id="305" name="Google Shape;305;p27"/>
          <p:cNvSpPr/>
          <p:nvPr/>
        </p:nvSpPr>
        <p:spPr>
          <a:xfrm>
            <a:off x="5059475" y="4477660"/>
            <a:ext cx="621900" cy="282600"/>
          </a:xfrm>
          <a:prstGeom prst="rect">
            <a:avLst/>
          </a:prstGeom>
          <a:solidFill>
            <a:srgbClr val="F6B26B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94"/>
              <a:t>Propeller</a:t>
            </a:r>
            <a:endParaRPr sz="594"/>
          </a:p>
        </p:txBody>
      </p:sp>
      <p:sp>
        <p:nvSpPr>
          <p:cNvPr id="306" name="Google Shape;306;p27"/>
          <p:cNvSpPr/>
          <p:nvPr/>
        </p:nvSpPr>
        <p:spPr>
          <a:xfrm>
            <a:off x="5059370" y="3541750"/>
            <a:ext cx="621900" cy="282600"/>
          </a:xfrm>
          <a:prstGeom prst="rect">
            <a:avLst/>
          </a:prstGeom>
          <a:solidFill>
            <a:srgbClr val="F6B26B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94"/>
              <a:t>ESC</a:t>
            </a:r>
            <a:endParaRPr sz="594"/>
          </a:p>
        </p:txBody>
      </p:sp>
      <p:sp>
        <p:nvSpPr>
          <p:cNvPr id="307" name="Google Shape;307;p27"/>
          <p:cNvSpPr/>
          <p:nvPr/>
        </p:nvSpPr>
        <p:spPr>
          <a:xfrm>
            <a:off x="5002610" y="770613"/>
            <a:ext cx="905100" cy="5664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Battery </a:t>
            </a:r>
            <a:endParaRPr sz="619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(24V LiFePO</a:t>
            </a:r>
            <a:r>
              <a:rPr baseline="-25000" lang="en" sz="619"/>
              <a:t>4</a:t>
            </a:r>
            <a:r>
              <a:rPr lang="en" sz="619"/>
              <a:t>)</a:t>
            </a:r>
            <a:endParaRPr sz="619"/>
          </a:p>
        </p:txBody>
      </p:sp>
      <p:cxnSp>
        <p:nvCxnSpPr>
          <p:cNvPr id="308" name="Google Shape;308;p27"/>
          <p:cNvCxnSpPr>
            <a:stCxn id="306" idx="2"/>
            <a:endCxn id="304" idx="0"/>
          </p:cNvCxnSpPr>
          <p:nvPr/>
        </p:nvCxnSpPr>
        <p:spPr>
          <a:xfrm flipH="1" rot="-5400000">
            <a:off x="5277920" y="3916750"/>
            <a:ext cx="185400" cy="600"/>
          </a:xfrm>
          <a:prstGeom prst="bentConnector3">
            <a:avLst>
              <a:gd fmla="val 49988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9" name="Google Shape;309;p27"/>
          <p:cNvCxnSpPr>
            <a:stCxn id="305" idx="0"/>
            <a:endCxn id="304" idx="2"/>
          </p:cNvCxnSpPr>
          <p:nvPr/>
        </p:nvCxnSpPr>
        <p:spPr>
          <a:xfrm rot="-5400000">
            <a:off x="5278025" y="4384660"/>
            <a:ext cx="185400" cy="600"/>
          </a:xfrm>
          <a:prstGeom prst="bentConnector3">
            <a:avLst>
              <a:gd fmla="val 49988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10" name="Google Shape;310;p27"/>
          <p:cNvCxnSpPr/>
          <p:nvPr/>
        </p:nvCxnSpPr>
        <p:spPr>
          <a:xfrm>
            <a:off x="4053150" y="3455611"/>
            <a:ext cx="0" cy="0"/>
          </a:xfrm>
          <a:prstGeom prst="bentConnector3">
            <a:avLst>
              <a:gd fmla="val 50000" name="adj1"/>
            </a:avLst>
          </a:prstGeom>
          <a:noFill/>
          <a:ln cap="flat" cmpd="sng" w="23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1" name="Google Shape;311;p27"/>
          <p:cNvSpPr/>
          <p:nvPr/>
        </p:nvSpPr>
        <p:spPr>
          <a:xfrm>
            <a:off x="2840079" y="2777729"/>
            <a:ext cx="905100" cy="451800"/>
          </a:xfrm>
          <a:prstGeom prst="rect">
            <a:avLst/>
          </a:prstGeom>
          <a:solidFill>
            <a:srgbClr val="CFE2F3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ESP32</a:t>
            </a:r>
            <a:endParaRPr sz="619"/>
          </a:p>
        </p:txBody>
      </p:sp>
      <p:sp>
        <p:nvSpPr>
          <p:cNvPr id="312" name="Google Shape;312;p27"/>
          <p:cNvSpPr/>
          <p:nvPr/>
        </p:nvSpPr>
        <p:spPr>
          <a:xfrm>
            <a:off x="4656076" y="1625269"/>
            <a:ext cx="651600" cy="3231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+/- Bus</a:t>
            </a:r>
            <a:endParaRPr sz="619"/>
          </a:p>
        </p:txBody>
      </p:sp>
      <p:sp>
        <p:nvSpPr>
          <p:cNvPr id="313" name="Google Shape;313;p27"/>
          <p:cNvSpPr/>
          <p:nvPr/>
        </p:nvSpPr>
        <p:spPr>
          <a:xfrm>
            <a:off x="3131566" y="2043073"/>
            <a:ext cx="905100" cy="4524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5V Buck Converter</a:t>
            </a:r>
            <a:endParaRPr sz="619"/>
          </a:p>
        </p:txBody>
      </p:sp>
      <p:sp>
        <p:nvSpPr>
          <p:cNvPr id="314" name="Google Shape;314;p27"/>
          <p:cNvSpPr/>
          <p:nvPr/>
        </p:nvSpPr>
        <p:spPr>
          <a:xfrm>
            <a:off x="6025641" y="2043073"/>
            <a:ext cx="905100" cy="4518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5V Buck Converter</a:t>
            </a:r>
            <a:endParaRPr sz="619"/>
          </a:p>
        </p:txBody>
      </p:sp>
      <p:cxnSp>
        <p:nvCxnSpPr>
          <p:cNvPr id="315" name="Google Shape;315;p27"/>
          <p:cNvCxnSpPr>
            <a:stCxn id="312" idx="3"/>
            <a:endCxn id="314" idx="1"/>
          </p:cNvCxnSpPr>
          <p:nvPr/>
        </p:nvCxnSpPr>
        <p:spPr>
          <a:xfrm>
            <a:off x="5307676" y="1786819"/>
            <a:ext cx="717900" cy="482100"/>
          </a:xfrm>
          <a:prstGeom prst="bentConnector3">
            <a:avLst>
              <a:gd fmla="val 50004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6" name="Google Shape;316;p27"/>
          <p:cNvCxnSpPr>
            <a:stCxn id="313" idx="2"/>
            <a:endCxn id="311" idx="0"/>
          </p:cNvCxnSpPr>
          <p:nvPr/>
        </p:nvCxnSpPr>
        <p:spPr>
          <a:xfrm rot="5400000">
            <a:off x="3297166" y="2490823"/>
            <a:ext cx="282300" cy="291600"/>
          </a:xfrm>
          <a:prstGeom prst="bentConnector3">
            <a:avLst>
              <a:gd fmla="val 49992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7" name="Google Shape;317;p27"/>
          <p:cNvCxnSpPr>
            <a:stCxn id="314" idx="2"/>
            <a:endCxn id="318" idx="0"/>
          </p:cNvCxnSpPr>
          <p:nvPr/>
        </p:nvCxnSpPr>
        <p:spPr>
          <a:xfrm flipH="1" rot="-5400000">
            <a:off x="6337041" y="2636023"/>
            <a:ext cx="282900" cy="600"/>
          </a:xfrm>
          <a:prstGeom prst="bentConnector3">
            <a:avLst>
              <a:gd fmla="val 49992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19" name="Google Shape;319;p27"/>
          <p:cNvCxnSpPr>
            <a:stCxn id="311" idx="1"/>
            <a:endCxn id="303" idx="1"/>
          </p:cNvCxnSpPr>
          <p:nvPr/>
        </p:nvCxnSpPr>
        <p:spPr>
          <a:xfrm>
            <a:off x="2840079" y="3003629"/>
            <a:ext cx="141600" cy="466200"/>
          </a:xfrm>
          <a:prstGeom prst="bentConnector3">
            <a:avLst>
              <a:gd fmla="val -168167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0" name="Google Shape;320;p27"/>
          <p:cNvCxnSpPr>
            <a:stCxn id="311" idx="1"/>
            <a:endCxn id="302" idx="1"/>
          </p:cNvCxnSpPr>
          <p:nvPr/>
        </p:nvCxnSpPr>
        <p:spPr>
          <a:xfrm>
            <a:off x="2840079" y="3003629"/>
            <a:ext cx="141600" cy="877200"/>
          </a:xfrm>
          <a:prstGeom prst="bentConnector3">
            <a:avLst>
              <a:gd fmla="val -168167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1" name="Google Shape;321;p27"/>
          <p:cNvCxnSpPr>
            <a:stCxn id="311" idx="1"/>
            <a:endCxn id="301" idx="1"/>
          </p:cNvCxnSpPr>
          <p:nvPr/>
        </p:nvCxnSpPr>
        <p:spPr>
          <a:xfrm>
            <a:off x="2840079" y="3003629"/>
            <a:ext cx="141600" cy="1288500"/>
          </a:xfrm>
          <a:prstGeom prst="bentConnector3">
            <a:avLst>
              <a:gd fmla="val -168167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2" name="Google Shape;322;p27"/>
          <p:cNvSpPr txBox="1"/>
          <p:nvPr/>
        </p:nvSpPr>
        <p:spPr>
          <a:xfrm>
            <a:off x="7449817" y="1058000"/>
            <a:ext cx="1240500" cy="212400"/>
          </a:xfrm>
          <a:prstGeom prst="rect">
            <a:avLst/>
          </a:prstGeom>
          <a:solidFill>
            <a:srgbClr val="EA9999"/>
          </a:solidFill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00" lIns="48500" spcFirstLastPara="1" rIns="48500" wrap="square" tIns="48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2"/>
              <a:t>POWER</a:t>
            </a:r>
            <a:endParaRPr b="1" sz="742"/>
          </a:p>
        </p:txBody>
      </p:sp>
      <p:sp>
        <p:nvSpPr>
          <p:cNvPr id="323" name="Google Shape;323;p27"/>
          <p:cNvSpPr txBox="1"/>
          <p:nvPr/>
        </p:nvSpPr>
        <p:spPr>
          <a:xfrm>
            <a:off x="7449817" y="1475045"/>
            <a:ext cx="1240500" cy="212400"/>
          </a:xfrm>
          <a:prstGeom prst="rect">
            <a:avLst/>
          </a:prstGeom>
          <a:solidFill>
            <a:srgbClr val="CFE2F3"/>
          </a:solidFill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00" lIns="48500" spcFirstLastPara="1" rIns="48500" wrap="square" tIns="48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2"/>
              <a:t>COMMUNICATION</a:t>
            </a:r>
            <a:endParaRPr b="1" sz="742"/>
          </a:p>
        </p:txBody>
      </p:sp>
      <p:sp>
        <p:nvSpPr>
          <p:cNvPr id="324" name="Google Shape;324;p27"/>
          <p:cNvSpPr txBox="1"/>
          <p:nvPr/>
        </p:nvSpPr>
        <p:spPr>
          <a:xfrm>
            <a:off x="7449817" y="1892089"/>
            <a:ext cx="1240500" cy="212400"/>
          </a:xfrm>
          <a:prstGeom prst="rect">
            <a:avLst/>
          </a:prstGeom>
          <a:solidFill>
            <a:srgbClr val="B6D7A8"/>
          </a:solidFill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00" lIns="48500" spcFirstLastPara="1" rIns="48500" wrap="square" tIns="48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2"/>
              <a:t>SENSOR</a:t>
            </a:r>
            <a:endParaRPr b="1" sz="742"/>
          </a:p>
        </p:txBody>
      </p:sp>
      <p:sp>
        <p:nvSpPr>
          <p:cNvPr id="325" name="Google Shape;325;p27"/>
          <p:cNvSpPr txBox="1"/>
          <p:nvPr/>
        </p:nvSpPr>
        <p:spPr>
          <a:xfrm>
            <a:off x="7449817" y="2309134"/>
            <a:ext cx="1240500" cy="212400"/>
          </a:xfrm>
          <a:prstGeom prst="rect">
            <a:avLst/>
          </a:prstGeom>
          <a:solidFill>
            <a:srgbClr val="F6B26B"/>
          </a:solidFill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00" lIns="48500" spcFirstLastPara="1" rIns="48500" wrap="square" tIns="485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2"/>
              <a:t>PROPULSION</a:t>
            </a:r>
            <a:endParaRPr b="1" sz="742"/>
          </a:p>
        </p:txBody>
      </p:sp>
      <p:sp>
        <p:nvSpPr>
          <p:cNvPr id="326" name="Google Shape;326;p27"/>
          <p:cNvSpPr txBox="1"/>
          <p:nvPr/>
        </p:nvSpPr>
        <p:spPr>
          <a:xfrm>
            <a:off x="7449817" y="2726179"/>
            <a:ext cx="1240500" cy="226500"/>
          </a:xfrm>
          <a:prstGeom prst="rect">
            <a:avLst/>
          </a:prstGeom>
          <a:solidFill>
            <a:srgbClr val="F1C232"/>
          </a:solidFill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8500" lIns="48500" spcFirstLastPara="1" rIns="48500" wrap="square" tIns="48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42"/>
              <a:t>GROUND STATION</a:t>
            </a:r>
            <a:endParaRPr b="1" sz="742"/>
          </a:p>
        </p:txBody>
      </p:sp>
      <p:cxnSp>
        <p:nvCxnSpPr>
          <p:cNvPr id="327" name="Google Shape;327;p27"/>
          <p:cNvCxnSpPr/>
          <p:nvPr/>
        </p:nvCxnSpPr>
        <p:spPr>
          <a:xfrm>
            <a:off x="7681717" y="3237436"/>
            <a:ext cx="776700" cy="600"/>
          </a:xfrm>
          <a:prstGeom prst="bentConnector3">
            <a:avLst>
              <a:gd fmla="val 50000" name="adj1"/>
            </a:avLst>
          </a:prstGeom>
          <a:noFill/>
          <a:ln cap="flat" cmpd="sng" w="2830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8" name="Google Shape;328;p27"/>
          <p:cNvSpPr txBox="1"/>
          <p:nvPr/>
        </p:nvSpPr>
        <p:spPr>
          <a:xfrm>
            <a:off x="7521217" y="3362568"/>
            <a:ext cx="1074600" cy="181500"/>
          </a:xfrm>
          <a:prstGeom prst="rect">
            <a:avLst/>
          </a:prstGeom>
          <a:noFill/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42"/>
              <a:t>POWER CONNECTION</a:t>
            </a:r>
            <a:endParaRPr sz="742"/>
          </a:p>
        </p:txBody>
      </p:sp>
      <p:sp>
        <p:nvSpPr>
          <p:cNvPr id="329" name="Google Shape;329;p27"/>
          <p:cNvSpPr txBox="1"/>
          <p:nvPr/>
        </p:nvSpPr>
        <p:spPr>
          <a:xfrm>
            <a:off x="7521217" y="3953957"/>
            <a:ext cx="1074600" cy="181500"/>
          </a:xfrm>
          <a:prstGeom prst="rect">
            <a:avLst/>
          </a:prstGeom>
          <a:noFill/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42"/>
              <a:t>DATA CONNECTION</a:t>
            </a:r>
            <a:endParaRPr sz="742"/>
          </a:p>
        </p:txBody>
      </p:sp>
      <p:cxnSp>
        <p:nvCxnSpPr>
          <p:cNvPr id="330" name="Google Shape;330;p27"/>
          <p:cNvCxnSpPr/>
          <p:nvPr/>
        </p:nvCxnSpPr>
        <p:spPr>
          <a:xfrm>
            <a:off x="7682467" y="3838525"/>
            <a:ext cx="775200" cy="0"/>
          </a:xfrm>
          <a:prstGeom prst="straightConnector1">
            <a:avLst/>
          </a:prstGeom>
          <a:noFill/>
          <a:ln cap="flat" cmpd="sng" w="28300">
            <a:solidFill>
              <a:srgbClr val="0000F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" name="Google Shape;331;p27"/>
          <p:cNvSpPr/>
          <p:nvPr/>
        </p:nvSpPr>
        <p:spPr>
          <a:xfrm>
            <a:off x="4219233" y="3541760"/>
            <a:ext cx="621900" cy="282600"/>
          </a:xfrm>
          <a:prstGeom prst="rect">
            <a:avLst/>
          </a:prstGeom>
          <a:solidFill>
            <a:srgbClr val="F6B26B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94"/>
              <a:t>Rudder Servo</a:t>
            </a:r>
            <a:endParaRPr sz="594"/>
          </a:p>
        </p:txBody>
      </p:sp>
      <p:sp>
        <p:nvSpPr>
          <p:cNvPr id="332" name="Google Shape;332;p27"/>
          <p:cNvSpPr/>
          <p:nvPr/>
        </p:nvSpPr>
        <p:spPr>
          <a:xfrm>
            <a:off x="4219233" y="4477674"/>
            <a:ext cx="621900" cy="282600"/>
          </a:xfrm>
          <a:prstGeom prst="rect">
            <a:avLst/>
          </a:prstGeom>
          <a:solidFill>
            <a:srgbClr val="F6B26B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94"/>
              <a:t>Rudder</a:t>
            </a:r>
            <a:endParaRPr sz="594"/>
          </a:p>
        </p:txBody>
      </p:sp>
      <p:cxnSp>
        <p:nvCxnSpPr>
          <p:cNvPr id="333" name="Google Shape;333;p27"/>
          <p:cNvCxnSpPr>
            <a:stCxn id="311" idx="3"/>
            <a:endCxn id="303" idx="3"/>
          </p:cNvCxnSpPr>
          <p:nvPr/>
        </p:nvCxnSpPr>
        <p:spPr>
          <a:xfrm flipH="1">
            <a:off x="3603579" y="3003629"/>
            <a:ext cx="141600" cy="466200"/>
          </a:xfrm>
          <a:prstGeom prst="bentConnector3">
            <a:avLst>
              <a:gd fmla="val -168167" name="adj1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4" name="Google Shape;334;p27"/>
          <p:cNvCxnSpPr>
            <a:stCxn id="311" idx="3"/>
            <a:endCxn id="302" idx="3"/>
          </p:cNvCxnSpPr>
          <p:nvPr/>
        </p:nvCxnSpPr>
        <p:spPr>
          <a:xfrm flipH="1">
            <a:off x="3603579" y="3003629"/>
            <a:ext cx="141600" cy="877200"/>
          </a:xfrm>
          <a:prstGeom prst="bentConnector3">
            <a:avLst>
              <a:gd fmla="val -168167" name="adj1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5" name="Google Shape;335;p27"/>
          <p:cNvCxnSpPr>
            <a:stCxn id="311" idx="3"/>
            <a:endCxn id="301" idx="3"/>
          </p:cNvCxnSpPr>
          <p:nvPr/>
        </p:nvCxnSpPr>
        <p:spPr>
          <a:xfrm flipH="1">
            <a:off x="3603579" y="3003629"/>
            <a:ext cx="141600" cy="1288500"/>
          </a:xfrm>
          <a:prstGeom prst="bentConnector3">
            <a:avLst>
              <a:gd fmla="val -168167" name="adj1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6" name="Google Shape;336;p27"/>
          <p:cNvCxnSpPr>
            <a:stCxn id="313" idx="2"/>
            <a:endCxn id="331" idx="0"/>
          </p:cNvCxnSpPr>
          <p:nvPr/>
        </p:nvCxnSpPr>
        <p:spPr>
          <a:xfrm flipH="1" rot="-5400000">
            <a:off x="3534016" y="2545573"/>
            <a:ext cx="1046400" cy="946200"/>
          </a:xfrm>
          <a:prstGeom prst="bentConnector3">
            <a:avLst>
              <a:gd fmla="val 13647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7" name="Google Shape;337;p27"/>
          <p:cNvCxnSpPr>
            <a:stCxn id="331" idx="2"/>
            <a:endCxn id="332" idx="0"/>
          </p:cNvCxnSpPr>
          <p:nvPr/>
        </p:nvCxnSpPr>
        <p:spPr>
          <a:xfrm flipH="1" rot="-5400000">
            <a:off x="4203783" y="4150760"/>
            <a:ext cx="653400" cy="600"/>
          </a:xfrm>
          <a:prstGeom prst="bentConnector3">
            <a:avLst>
              <a:gd fmla="val 49993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8" name="Google Shape;338;p27"/>
          <p:cNvCxnSpPr>
            <a:stCxn id="311" idx="3"/>
            <a:endCxn id="331" idx="1"/>
          </p:cNvCxnSpPr>
          <p:nvPr/>
        </p:nvCxnSpPr>
        <p:spPr>
          <a:xfrm>
            <a:off x="3745179" y="3003629"/>
            <a:ext cx="474000" cy="6795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9" name="Google Shape;339;p27"/>
          <p:cNvSpPr/>
          <p:nvPr/>
        </p:nvSpPr>
        <p:spPr>
          <a:xfrm>
            <a:off x="5132775" y="2977225"/>
            <a:ext cx="52800" cy="52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7"/>
          <p:cNvSpPr/>
          <p:nvPr/>
        </p:nvSpPr>
        <p:spPr>
          <a:xfrm>
            <a:off x="4785225" y="2977225"/>
            <a:ext cx="52800" cy="528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1" name="Google Shape;341;p27"/>
          <p:cNvCxnSpPr>
            <a:stCxn id="311" idx="3"/>
            <a:endCxn id="340" idx="2"/>
          </p:cNvCxnSpPr>
          <p:nvPr/>
        </p:nvCxnSpPr>
        <p:spPr>
          <a:xfrm>
            <a:off x="3745179" y="3003629"/>
            <a:ext cx="10401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342" name="Google Shape;342;p27"/>
          <p:cNvCxnSpPr>
            <a:stCxn id="339" idx="6"/>
            <a:endCxn id="318" idx="1"/>
          </p:cNvCxnSpPr>
          <p:nvPr/>
        </p:nvCxnSpPr>
        <p:spPr>
          <a:xfrm>
            <a:off x="5185575" y="3003625"/>
            <a:ext cx="8397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43" name="Google Shape;343;p27"/>
          <p:cNvCxnSpPr>
            <a:stCxn id="340" idx="6"/>
            <a:endCxn id="339" idx="2"/>
          </p:cNvCxnSpPr>
          <p:nvPr/>
        </p:nvCxnSpPr>
        <p:spPr>
          <a:xfrm>
            <a:off x="4838025" y="3003625"/>
            <a:ext cx="294900" cy="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dot"/>
            <a:round/>
            <a:headEnd len="med" w="med" type="none"/>
            <a:tailEnd len="med" w="med" type="none"/>
          </a:ln>
        </p:spPr>
      </p:cxnSp>
      <p:pic>
        <p:nvPicPr>
          <p:cNvPr id="344" name="Google Shape;3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9866" y="4335454"/>
            <a:ext cx="814200" cy="193389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7"/>
          <p:cNvSpPr txBox="1"/>
          <p:nvPr/>
        </p:nvSpPr>
        <p:spPr>
          <a:xfrm>
            <a:off x="7521217" y="4578782"/>
            <a:ext cx="1074600" cy="181500"/>
          </a:xfrm>
          <a:prstGeom prst="rect">
            <a:avLst/>
          </a:prstGeom>
          <a:noFill/>
          <a:ln cap="flat" cmpd="sng" w="94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42"/>
              <a:t>No-connect Crossover</a:t>
            </a:r>
            <a:endParaRPr sz="742"/>
          </a:p>
        </p:txBody>
      </p:sp>
      <p:cxnSp>
        <p:nvCxnSpPr>
          <p:cNvPr id="346" name="Google Shape;346;p27"/>
          <p:cNvCxnSpPr>
            <a:stCxn id="312" idx="2"/>
            <a:endCxn id="306" idx="0"/>
          </p:cNvCxnSpPr>
          <p:nvPr/>
        </p:nvCxnSpPr>
        <p:spPr>
          <a:xfrm flipH="1" rot="-5400000">
            <a:off x="4379476" y="2550769"/>
            <a:ext cx="1593300" cy="388500"/>
          </a:xfrm>
          <a:prstGeom prst="bentConnector3">
            <a:avLst>
              <a:gd fmla="val 73615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47" name="Google Shape;347;p27"/>
          <p:cNvSpPr/>
          <p:nvPr/>
        </p:nvSpPr>
        <p:spPr>
          <a:xfrm>
            <a:off x="6384995" y="869774"/>
            <a:ext cx="480300" cy="368700"/>
          </a:xfrm>
          <a:prstGeom prst="rect">
            <a:avLst/>
          </a:prstGeom>
          <a:solidFill>
            <a:srgbClr val="EA9999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BMS</a:t>
            </a:r>
            <a:endParaRPr sz="619"/>
          </a:p>
        </p:txBody>
      </p:sp>
      <p:sp>
        <p:nvSpPr>
          <p:cNvPr id="348" name="Google Shape;348;p27"/>
          <p:cNvSpPr txBox="1"/>
          <p:nvPr/>
        </p:nvSpPr>
        <p:spPr>
          <a:xfrm>
            <a:off x="331475" y="3550154"/>
            <a:ext cx="1796100" cy="265800"/>
          </a:xfrm>
          <a:prstGeom prst="rect">
            <a:avLst/>
          </a:prstGeom>
          <a:noFill/>
          <a:ln cap="flat" cmpd="sng" w="128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3100" lIns="43100" spcFirstLastPara="1" rIns="43100" wrap="square" tIns="431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62"/>
              <a:t>Command Drone</a:t>
            </a:r>
            <a:endParaRPr sz="1162"/>
          </a:p>
        </p:txBody>
      </p:sp>
      <p:cxnSp>
        <p:nvCxnSpPr>
          <p:cNvPr id="349" name="Google Shape;349;p27"/>
          <p:cNvCxnSpPr>
            <a:stCxn id="307" idx="3"/>
            <a:endCxn id="347" idx="1"/>
          </p:cNvCxnSpPr>
          <p:nvPr/>
        </p:nvCxnSpPr>
        <p:spPr>
          <a:xfrm>
            <a:off x="5907710" y="1053813"/>
            <a:ext cx="477300" cy="600"/>
          </a:xfrm>
          <a:prstGeom prst="bentConnector3">
            <a:avLst>
              <a:gd fmla="val 49998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0" name="Google Shape;350;p27"/>
          <p:cNvCxnSpPr>
            <a:stCxn id="312" idx="1"/>
            <a:endCxn id="313" idx="3"/>
          </p:cNvCxnSpPr>
          <p:nvPr/>
        </p:nvCxnSpPr>
        <p:spPr>
          <a:xfrm flipH="1">
            <a:off x="4036576" y="1786819"/>
            <a:ext cx="619500" cy="482400"/>
          </a:xfrm>
          <a:prstGeom prst="bentConnector3">
            <a:avLst>
              <a:gd fmla="val 49993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p27"/>
          <p:cNvSpPr/>
          <p:nvPr/>
        </p:nvSpPr>
        <p:spPr>
          <a:xfrm>
            <a:off x="6025216" y="2777729"/>
            <a:ext cx="905100" cy="451800"/>
          </a:xfrm>
          <a:prstGeom prst="rect">
            <a:avLst/>
          </a:prstGeom>
          <a:solidFill>
            <a:srgbClr val="CFE2F3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Raspberry Pi</a:t>
            </a:r>
            <a:endParaRPr sz="619"/>
          </a:p>
        </p:txBody>
      </p:sp>
      <p:cxnSp>
        <p:nvCxnSpPr>
          <p:cNvPr id="351" name="Google Shape;351;p27"/>
          <p:cNvCxnSpPr>
            <a:stCxn id="347" idx="2"/>
            <a:endCxn id="312" idx="0"/>
          </p:cNvCxnSpPr>
          <p:nvPr/>
        </p:nvCxnSpPr>
        <p:spPr>
          <a:xfrm rot="5400000">
            <a:off x="5610095" y="610124"/>
            <a:ext cx="386700" cy="16434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2" name="Google Shape;352;p27"/>
          <p:cNvSpPr/>
          <p:nvPr/>
        </p:nvSpPr>
        <p:spPr>
          <a:xfrm>
            <a:off x="863629" y="3953954"/>
            <a:ext cx="905100" cy="451800"/>
          </a:xfrm>
          <a:prstGeom prst="rect">
            <a:avLst/>
          </a:prstGeom>
          <a:solidFill>
            <a:srgbClr val="CFE2F3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ESP32</a:t>
            </a:r>
            <a:endParaRPr sz="619"/>
          </a:p>
        </p:txBody>
      </p:sp>
      <p:cxnSp>
        <p:nvCxnSpPr>
          <p:cNvPr id="353" name="Google Shape;353;p27"/>
          <p:cNvCxnSpPr>
            <a:stCxn id="311" idx="1"/>
            <a:endCxn id="352" idx="3"/>
          </p:cNvCxnSpPr>
          <p:nvPr/>
        </p:nvCxnSpPr>
        <p:spPr>
          <a:xfrm flipH="1">
            <a:off x="1768779" y="3003629"/>
            <a:ext cx="1071300" cy="1176300"/>
          </a:xfrm>
          <a:prstGeom prst="bentConnector3">
            <a:avLst>
              <a:gd fmla="val 52196" name="adj1"/>
            </a:avLst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54" name="Google Shape;354;p27"/>
          <p:cNvCxnSpPr/>
          <p:nvPr/>
        </p:nvCxnSpPr>
        <p:spPr>
          <a:xfrm>
            <a:off x="5472475" y="3009475"/>
            <a:ext cx="0" cy="529500"/>
          </a:xfrm>
          <a:prstGeom prst="straightConnector1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5" name="Google Shape;355;p27"/>
          <p:cNvSpPr txBox="1"/>
          <p:nvPr/>
        </p:nvSpPr>
        <p:spPr>
          <a:xfrm>
            <a:off x="1898370" y="3123475"/>
            <a:ext cx="567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</a:rPr>
              <a:t>MQTT</a:t>
            </a:r>
            <a:endParaRPr sz="700">
              <a:solidFill>
                <a:schemeClr val="dk1"/>
              </a:solidFill>
            </a:endParaRPr>
          </a:p>
        </p:txBody>
      </p:sp>
      <p:sp>
        <p:nvSpPr>
          <p:cNvPr id="356" name="Google Shape;356;p27"/>
          <p:cNvSpPr txBox="1"/>
          <p:nvPr/>
        </p:nvSpPr>
        <p:spPr>
          <a:xfrm>
            <a:off x="2404200" y="2608100"/>
            <a:ext cx="775200" cy="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3.3 V &amp; GPIO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"/>
          <p:cNvSpPr txBox="1"/>
          <p:nvPr/>
        </p:nvSpPr>
        <p:spPr>
          <a:xfrm>
            <a:off x="118500" y="100144"/>
            <a:ext cx="89070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System Architecture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62" name="Google Shape;362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3" name="Google Shape;3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0138" y="667200"/>
            <a:ext cx="6703701" cy="370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29"/>
          <p:cNvSpPr txBox="1"/>
          <p:nvPr/>
        </p:nvSpPr>
        <p:spPr>
          <a:xfrm>
            <a:off x="664950" y="109725"/>
            <a:ext cx="7814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Key Performance 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Requirements</a:t>
            </a:r>
            <a:endParaRPr/>
          </a:p>
        </p:txBody>
      </p:sp>
      <p:sp>
        <p:nvSpPr>
          <p:cNvPr id="370" name="Google Shape;370;p29"/>
          <p:cNvSpPr txBox="1"/>
          <p:nvPr/>
        </p:nvSpPr>
        <p:spPr>
          <a:xfrm>
            <a:off x="219900" y="742200"/>
            <a:ext cx="8704200" cy="33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"/>
              <a:buChar char="-"/>
            </a:pPr>
            <a:r>
              <a:rPr b="1"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Swarm Deployment:</a:t>
            </a:r>
            <a:r>
              <a:rPr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All drones shall autonomously self-right and enter operational state within 60s of impact.</a:t>
            </a:r>
            <a:endParaRPr sz="1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"/>
              <a:buChar char="-"/>
            </a:pPr>
            <a:r>
              <a:rPr b="1"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Stabi</a:t>
            </a:r>
            <a:r>
              <a:rPr b="1"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lity:</a:t>
            </a:r>
            <a:r>
              <a:rPr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Each drone shall </a:t>
            </a:r>
            <a:r>
              <a:rPr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self-right</a:t>
            </a:r>
            <a:r>
              <a:rPr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and maintain operational orientation IAW UNE-EN ISO 12217-3:2022 and/or ASTM F3052-14(2020)e1.</a:t>
            </a:r>
            <a:endParaRPr sz="1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"/>
              <a:buChar char="-"/>
            </a:pPr>
            <a:r>
              <a:rPr b="1" lang="en" sz="1500">
                <a:solidFill>
                  <a:schemeClr val="lt1"/>
                </a:solidFill>
                <a:highlight>
                  <a:srgbClr val="0B5394"/>
                </a:highlight>
                <a:latin typeface="Times"/>
                <a:ea typeface="Times"/>
                <a:cs typeface="Times"/>
                <a:sym typeface="Times"/>
              </a:rPr>
              <a:t>Speed:</a:t>
            </a:r>
            <a:r>
              <a:rPr lang="en" sz="1500">
                <a:solidFill>
                  <a:schemeClr val="lt1"/>
                </a:solidFill>
                <a:highlight>
                  <a:srgbClr val="0B5394"/>
                </a:highlight>
                <a:latin typeface="Times"/>
                <a:ea typeface="Times"/>
                <a:cs typeface="Times"/>
                <a:sym typeface="Times"/>
              </a:rPr>
              <a:t> Each drone shall be able to </a:t>
            </a:r>
            <a:r>
              <a:rPr b="1" lang="en" sz="1500">
                <a:solidFill>
                  <a:schemeClr val="lt1"/>
                </a:solidFill>
                <a:highlight>
                  <a:srgbClr val="0B5394"/>
                </a:highlight>
                <a:latin typeface="Times"/>
                <a:ea typeface="Times"/>
                <a:cs typeface="Times"/>
                <a:sym typeface="Times"/>
              </a:rPr>
              <a:t>sustain a threshold speed of 2.5 kts</a:t>
            </a:r>
            <a:r>
              <a:rPr lang="en" sz="1500">
                <a:solidFill>
                  <a:schemeClr val="lt1"/>
                </a:solidFill>
                <a:highlight>
                  <a:srgbClr val="0B5394"/>
                </a:highlight>
                <a:latin typeface="Times"/>
                <a:ea typeface="Times"/>
                <a:cs typeface="Times"/>
                <a:sym typeface="Times"/>
              </a:rPr>
              <a:t> in calm water conditions, with an objective speed of 5 kts.</a:t>
            </a:r>
            <a:endParaRPr sz="1500">
              <a:solidFill>
                <a:schemeClr val="lt1"/>
              </a:solidFill>
              <a:highlight>
                <a:srgbClr val="0B5394"/>
              </a:highlight>
              <a:latin typeface="Times"/>
              <a:ea typeface="Times"/>
              <a:cs typeface="Times"/>
              <a:sym typeface="Time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"/>
              <a:buChar char="-"/>
            </a:pPr>
            <a:r>
              <a:rPr b="1" lang="en" sz="1500">
                <a:solidFill>
                  <a:schemeClr val="lt1"/>
                </a:solidFill>
                <a:highlight>
                  <a:srgbClr val="0B5394"/>
                </a:highlight>
                <a:latin typeface="Times"/>
                <a:ea typeface="Times"/>
                <a:cs typeface="Times"/>
                <a:sym typeface="Times"/>
              </a:rPr>
              <a:t>Battery Life:</a:t>
            </a:r>
            <a:r>
              <a:rPr lang="en" sz="1500">
                <a:solidFill>
                  <a:schemeClr val="lt1"/>
                </a:solidFill>
                <a:highlight>
                  <a:srgbClr val="0B5394"/>
                </a:highlight>
                <a:latin typeface="Times"/>
                <a:ea typeface="Times"/>
                <a:cs typeface="Times"/>
                <a:sym typeface="Times"/>
              </a:rPr>
              <a:t> Each drone shall reach a </a:t>
            </a:r>
            <a:r>
              <a:rPr b="1" lang="en" sz="1500">
                <a:solidFill>
                  <a:schemeClr val="lt1"/>
                </a:solidFill>
                <a:highlight>
                  <a:srgbClr val="0B5394"/>
                </a:highlight>
                <a:latin typeface="Times"/>
                <a:ea typeface="Times"/>
                <a:cs typeface="Times"/>
                <a:sym typeface="Times"/>
              </a:rPr>
              <a:t>threshold runtime of 6 minutes </a:t>
            </a:r>
            <a:r>
              <a:rPr lang="en" sz="1500">
                <a:solidFill>
                  <a:schemeClr val="lt1"/>
                </a:solidFill>
                <a:highlight>
                  <a:srgbClr val="0B5394"/>
                </a:highlight>
                <a:latin typeface="Times"/>
                <a:ea typeface="Times"/>
                <a:cs typeface="Times"/>
                <a:sym typeface="Times"/>
              </a:rPr>
              <a:t>at nominal load, with an</a:t>
            </a:r>
            <a:r>
              <a:rPr b="1" lang="en" sz="1500">
                <a:solidFill>
                  <a:schemeClr val="lt1"/>
                </a:solidFill>
                <a:highlight>
                  <a:srgbClr val="0B5394"/>
                </a:highlight>
                <a:latin typeface="Times"/>
                <a:ea typeface="Times"/>
                <a:cs typeface="Times"/>
                <a:sym typeface="Times"/>
              </a:rPr>
              <a:t> objective value of 5 hours.</a:t>
            </a:r>
            <a:endParaRPr b="1" sz="1500">
              <a:solidFill>
                <a:schemeClr val="lt1"/>
              </a:solidFill>
              <a:highlight>
                <a:srgbClr val="0B5394"/>
              </a:highlight>
              <a:latin typeface="Times"/>
              <a:ea typeface="Times"/>
              <a:cs typeface="Times"/>
              <a:sym typeface="Time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"/>
              <a:buChar char="-"/>
            </a:pPr>
            <a:r>
              <a:rPr b="1"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Data Collection:</a:t>
            </a:r>
            <a:r>
              <a:rPr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Each drone shall measure temperature, salinity, pH and capture visual imagery at a minimum of 1080p resolution, 30 fps.</a:t>
            </a:r>
            <a:endParaRPr sz="1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"/>
              <a:buChar char="-"/>
            </a:pPr>
            <a:r>
              <a:rPr b="1"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Data Mapping:</a:t>
            </a:r>
            <a:r>
              <a:rPr lang="en" sz="1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Each drone shall generate a georeferenced map of collected environmental variables and export data in GIS-compatible format.</a:t>
            </a:r>
            <a:endParaRPr sz="15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76" name="Google Shape;376;p30"/>
          <p:cNvGraphicFramePr/>
          <p:nvPr/>
        </p:nvGraphicFramePr>
        <p:xfrm>
          <a:off x="315850" y="7087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{70CA839F-EE83-4279-84BE-A2B74D249601}</a:tableStyleId>
              </a:tblPr>
              <a:tblGrid>
                <a:gridCol w="1513350"/>
                <a:gridCol w="2277250"/>
                <a:gridCol w="1035025"/>
                <a:gridCol w="1149025"/>
                <a:gridCol w="1359825"/>
                <a:gridCol w="1177825"/>
              </a:tblGrid>
              <a:tr h="90925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 Type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434343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434343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Verification Method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434343"/>
                    </a:solidFill>
                  </a:tcPr>
                </a:tc>
                <a:tc hMerge="1"/>
                <a:tc hMerge="1"/>
                <a:tc hMerge="1"/>
              </a:tr>
              <a:tr h="100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Analysis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Demonstration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Inspection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434343"/>
                    </a:solidFill>
                  </a:tcPr>
                </a:tc>
              </a:tr>
              <a:tr h="12700">
                <a:tc rowSpan="6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 Performance Requirements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4.1.2 Swarm Control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127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4.1.3 Stability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127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4.1.4 Speed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127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4.1.5 Battery Life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127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4.1.6 Data Collection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127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4.1.7 Data Mapping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12700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 Design Requirements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4.2.1 Hull Shape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2958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4.2.2 Internal Volume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6AA84F"/>
                    </a:solidFill>
                  </a:tcPr>
                </a:tc>
              </a:tr>
              <a:tr h="2612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4.2.3 Materials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</a:tr>
              <a:tr h="3323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4.2.4 Payload Mounts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377" name="Google Shape;377;p30"/>
          <p:cNvSpPr txBox="1"/>
          <p:nvPr/>
        </p:nvSpPr>
        <p:spPr>
          <a:xfrm>
            <a:off x="244351" y="109725"/>
            <a:ext cx="8806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System Requirements Verification Matrix (SRVM)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83" name="Google Shape;383;p31"/>
          <p:cNvGraphicFramePr/>
          <p:nvPr/>
        </p:nvGraphicFramePr>
        <p:xfrm>
          <a:off x="363359" y="7644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{70CA839F-EE83-4279-84BE-A2B74D249601}</a:tableStyleId>
              </a:tblPr>
              <a:tblGrid>
                <a:gridCol w="1571650"/>
                <a:gridCol w="2218950"/>
                <a:gridCol w="1035025"/>
                <a:gridCol w="1149025"/>
                <a:gridCol w="1359825"/>
                <a:gridCol w="1177825"/>
              </a:tblGrid>
              <a:tr h="100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 Type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434343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Requirement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434343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Verification Method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 hMerge="1"/>
                <a:tc hMerge="1"/>
                <a:tc hMerge="1"/>
              </a:tr>
              <a:tr h="1000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Analysis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Demonstration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Inspection</a:t>
                      </a:r>
                      <a:endParaRPr b="1" sz="1300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400125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 Environmental Requirement</a:t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4.3.1 Survivability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3806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4.3.2 Waterproofing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</a:tr>
              <a:tr h="3418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4.3.3 Operating temperature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15107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4.3.4 Non-Hazardous Surface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6AA84F"/>
                    </a:solidFill>
                  </a:tcPr>
                </a:tc>
              </a:tr>
              <a:tr h="341800">
                <a:tc rowSpan="4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 Interface Requirements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4.4.1 Autonomy &amp; Control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PASS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37210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4.4.2 Inter-Drone Communication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PASS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361225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4.4.4 Satellite Uplink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</a:tr>
              <a:tr h="419550"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4.4.5 Display 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PARTIAL </a:t>
                      </a: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6575" marB="36575" marR="63500" marL="63500">
                    <a:solidFill>
                      <a:srgbClr val="6AA84F"/>
                    </a:solidFill>
                  </a:tcPr>
                </a:tc>
              </a:tr>
            </a:tbl>
          </a:graphicData>
        </a:graphic>
      </p:graphicFrame>
      <p:sp>
        <p:nvSpPr>
          <p:cNvPr id="384" name="Google Shape;384;p31"/>
          <p:cNvSpPr txBox="1"/>
          <p:nvPr/>
        </p:nvSpPr>
        <p:spPr>
          <a:xfrm>
            <a:off x="244351" y="109725"/>
            <a:ext cx="88062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SRVM Cont.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/>
          <p:nvPr/>
        </p:nvSpPr>
        <p:spPr>
          <a:xfrm>
            <a:off x="696900" y="2072892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Point Design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90" name="Google Shape;390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3"/>
          <p:cNvSpPr txBox="1"/>
          <p:nvPr/>
        </p:nvSpPr>
        <p:spPr>
          <a:xfrm>
            <a:off x="2759100" y="82825"/>
            <a:ext cx="36258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Assembly Drawing</a:t>
            </a:r>
            <a:endParaRPr b="1" sz="2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396" name="Google Shape;396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7" name="Google Shape;397;p33" title="AQ201_Aquabot-2.JPG"/>
          <p:cNvPicPr preferRelativeResize="0"/>
          <p:nvPr/>
        </p:nvPicPr>
        <p:blipFill rotWithShape="1">
          <a:blip r:embed="rId3">
            <a:alphaModFix/>
          </a:blip>
          <a:srcRect b="0" l="19284" r="8866" t="9902"/>
          <a:stretch/>
        </p:blipFill>
        <p:spPr>
          <a:xfrm>
            <a:off x="1335000" y="504300"/>
            <a:ext cx="6323098" cy="413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3" name="Google Shape;403;p34"/>
          <p:cNvSpPr txBox="1"/>
          <p:nvPr/>
        </p:nvSpPr>
        <p:spPr>
          <a:xfrm>
            <a:off x="664950" y="109725"/>
            <a:ext cx="7814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Exploded 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SolidWorks Assembly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04" name="Google Shape;404;p34"/>
          <p:cNvSpPr txBox="1"/>
          <p:nvPr/>
        </p:nvSpPr>
        <p:spPr>
          <a:xfrm>
            <a:off x="219900" y="742200"/>
            <a:ext cx="8704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405" name="Google Shape;40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2875" y="734050"/>
            <a:ext cx="4178248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34"/>
          <p:cNvSpPr/>
          <p:nvPr/>
        </p:nvSpPr>
        <p:spPr>
          <a:xfrm>
            <a:off x="3954325" y="3546100"/>
            <a:ext cx="600600" cy="580800"/>
          </a:xfrm>
          <a:prstGeom prst="ellipse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4"/>
          <p:cNvSpPr/>
          <p:nvPr/>
        </p:nvSpPr>
        <p:spPr>
          <a:xfrm>
            <a:off x="3277800" y="2854350"/>
            <a:ext cx="500400" cy="477000"/>
          </a:xfrm>
          <a:prstGeom prst="ellipse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4"/>
          <p:cNvSpPr/>
          <p:nvPr/>
        </p:nvSpPr>
        <p:spPr>
          <a:xfrm>
            <a:off x="4306775" y="2484575"/>
            <a:ext cx="426600" cy="393600"/>
          </a:xfrm>
          <a:prstGeom prst="ellipse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4" name="Google Shape;4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400" y="211850"/>
            <a:ext cx="2008476" cy="1192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6402" y="1458602"/>
            <a:ext cx="2008476" cy="2830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3650" y="211850"/>
            <a:ext cx="4327426" cy="40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5"/>
          <p:cNvSpPr txBox="1"/>
          <p:nvPr/>
        </p:nvSpPr>
        <p:spPr>
          <a:xfrm>
            <a:off x="7145344" y="1454838"/>
            <a:ext cx="1898100" cy="15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*Updated electronics: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Starlink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Jetson Nano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-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7364" y="731875"/>
            <a:ext cx="7289276" cy="36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4" name="Google Shape;424;p36"/>
          <p:cNvSpPr txBox="1"/>
          <p:nvPr/>
        </p:nvSpPr>
        <p:spPr>
          <a:xfrm>
            <a:off x="664950" y="109725"/>
            <a:ext cx="7814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Exploded SolidWorks Assembly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5" name="Google Shape;425;p36"/>
          <p:cNvSpPr txBox="1"/>
          <p:nvPr/>
        </p:nvSpPr>
        <p:spPr>
          <a:xfrm>
            <a:off x="219900" y="742200"/>
            <a:ext cx="8704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4987875" y="2201950"/>
            <a:ext cx="2148900" cy="877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6"/>
          <p:cNvSpPr/>
          <p:nvPr/>
        </p:nvSpPr>
        <p:spPr>
          <a:xfrm>
            <a:off x="2019650" y="2491450"/>
            <a:ext cx="426600" cy="587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6"/>
          <p:cNvSpPr/>
          <p:nvPr/>
        </p:nvSpPr>
        <p:spPr>
          <a:xfrm>
            <a:off x="2407375" y="2328300"/>
            <a:ext cx="834900" cy="691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6"/>
          <p:cNvSpPr/>
          <p:nvPr/>
        </p:nvSpPr>
        <p:spPr>
          <a:xfrm>
            <a:off x="2446250" y="3127500"/>
            <a:ext cx="698700" cy="803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37"/>
          <p:cNvSpPr txBox="1"/>
          <p:nvPr/>
        </p:nvSpPr>
        <p:spPr>
          <a:xfrm>
            <a:off x="664950" y="109725"/>
            <a:ext cx="78141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Parts Guide for CAD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36" name="Google Shape;436;p37"/>
          <p:cNvSpPr txBox="1"/>
          <p:nvPr/>
        </p:nvSpPr>
        <p:spPr>
          <a:xfrm>
            <a:off x="219900" y="790575"/>
            <a:ext cx="8704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437" name="Google Shape;437;p37"/>
          <p:cNvGraphicFramePr/>
          <p:nvPr/>
        </p:nvGraphicFramePr>
        <p:xfrm>
          <a:off x="111325" y="79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{9E53EF30-7D4B-4DB2-9377-FE4B760E88BB}</a:tableStyleId>
              </a:tblPr>
              <a:tblGrid>
                <a:gridCol w="1019175"/>
                <a:gridCol w="142875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Part Number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Part Name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Rev Number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Status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CompletePart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WIPPart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WIP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ObsoletePart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OBS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To-DoPart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To-Do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Aquabot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ShelfAssem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203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StarlinkMount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BottomShell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TopShell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BottomShelf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TopShelf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StarlinkMountBase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StarlinkMountBracket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Starlink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SupportColumns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8" name="Google Shape;438;p37"/>
          <p:cNvGraphicFramePr/>
          <p:nvPr/>
        </p:nvGraphicFramePr>
        <p:xfrm>
          <a:off x="4681400" y="79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{9E53EF30-7D4B-4DB2-9377-FE4B760E88BB}</a:tableStyleId>
              </a:tblPr>
              <a:tblGrid>
                <a:gridCol w="1019175"/>
                <a:gridCol w="142875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Part Number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Part Name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Rev Number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BD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Status</a:t>
                      </a:r>
                      <a:endParaRPr b="1"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409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GPS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IMU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VerticalSupports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StepDownConverter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413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ShelfSupportEndCaps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414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ShelfSpacer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415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RaspPi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416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LiPO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417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JetsonNano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418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MainMotor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419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CameraHousing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420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MotorMount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421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Battery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422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RCMiniPiMount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Complete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E1CD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501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GoPro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OBS</a:t>
                      </a:r>
                      <a:endParaRPr sz="1000"/>
                    </a:p>
                  </a:txBody>
                  <a:tcPr marT="19050" marB="19050" marR="28575" marL="28575" anchor="b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A999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"/>
          <p:cNvSpPr txBox="1"/>
          <p:nvPr/>
        </p:nvSpPr>
        <p:spPr>
          <a:xfrm>
            <a:off x="696900" y="2072892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Software Subsystem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444" name="Google Shape;44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3438" y="4401949"/>
            <a:ext cx="701725" cy="7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1" name="Google Shape;451;p39"/>
          <p:cNvSpPr/>
          <p:nvPr/>
        </p:nvSpPr>
        <p:spPr>
          <a:xfrm>
            <a:off x="304925" y="262650"/>
            <a:ext cx="2034600" cy="135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Operator GUI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39"/>
          <p:cNvSpPr/>
          <p:nvPr/>
        </p:nvSpPr>
        <p:spPr>
          <a:xfrm>
            <a:off x="304950" y="3728650"/>
            <a:ext cx="8534100" cy="1021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2730700" y="262650"/>
            <a:ext cx="6108300" cy="1359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Mission Controller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4" name="Google Shape;454;p39"/>
          <p:cNvSpPr/>
          <p:nvPr/>
        </p:nvSpPr>
        <p:spPr>
          <a:xfrm>
            <a:off x="304925" y="1901038"/>
            <a:ext cx="8534100" cy="1491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 Controller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611813" y="830600"/>
            <a:ext cx="1420800" cy="577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/ Ground Station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3159450" y="847319"/>
            <a:ext cx="1420800" cy="577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Mission Logic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(ROS2)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7" name="Google Shape;457;p39"/>
          <p:cNvSpPr/>
          <p:nvPr/>
        </p:nvSpPr>
        <p:spPr>
          <a:xfrm>
            <a:off x="4911425" y="847319"/>
            <a:ext cx="1420800" cy="577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encode / telemetry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8" name="Google Shape;458;p39"/>
          <p:cNvSpPr/>
          <p:nvPr/>
        </p:nvSpPr>
        <p:spPr>
          <a:xfrm>
            <a:off x="6663400" y="847319"/>
            <a:ext cx="1770300" cy="595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health &amp; data logger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9" name="Google Shape;459;p39"/>
          <p:cNvSpPr/>
          <p:nvPr/>
        </p:nvSpPr>
        <p:spPr>
          <a:xfrm>
            <a:off x="690498" y="2471813"/>
            <a:ext cx="1420800" cy="577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data collection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60" name="Google Shape;460;p39"/>
          <p:cNvGrpSpPr/>
          <p:nvPr/>
        </p:nvGrpSpPr>
        <p:grpSpPr>
          <a:xfrm>
            <a:off x="4982174" y="2471825"/>
            <a:ext cx="2900200" cy="577812"/>
            <a:chOff x="5155750" y="2471825"/>
            <a:chExt cx="2900200" cy="577812"/>
          </a:xfrm>
        </p:grpSpPr>
        <p:sp>
          <p:nvSpPr>
            <p:cNvPr id="461" name="Google Shape;461;p39"/>
            <p:cNvSpPr/>
            <p:nvPr/>
          </p:nvSpPr>
          <p:spPr>
            <a:xfrm>
              <a:off x="6635150" y="2471837"/>
              <a:ext cx="1420800" cy="577800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Real-time motor control </a:t>
              </a:r>
              <a:endPara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" name="Google Shape;462;p39"/>
            <p:cNvSpPr/>
            <p:nvPr/>
          </p:nvSpPr>
          <p:spPr>
            <a:xfrm>
              <a:off x="5155750" y="2471825"/>
              <a:ext cx="1420800" cy="577800"/>
            </a:xfrm>
            <a:prstGeom prst="rect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E-stop + failsafe logic</a:t>
              </a:r>
              <a:endParaRPr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63" name="Google Shape;463;p39"/>
          <p:cNvSpPr/>
          <p:nvPr/>
        </p:nvSpPr>
        <p:spPr>
          <a:xfrm>
            <a:off x="2594369" y="2471813"/>
            <a:ext cx="1420800" cy="577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Peer comms (ESP-NOW)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4" name="Google Shape;464;p39"/>
          <p:cNvSpPr/>
          <p:nvPr/>
        </p:nvSpPr>
        <p:spPr>
          <a:xfrm>
            <a:off x="7622973" y="4246086"/>
            <a:ext cx="914400" cy="365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5" name="Google Shape;465;p39"/>
          <p:cNvSpPr/>
          <p:nvPr/>
        </p:nvSpPr>
        <p:spPr>
          <a:xfrm>
            <a:off x="6524374" y="4246086"/>
            <a:ext cx="914400" cy="365700"/>
          </a:xfrm>
          <a:prstGeom prst="rect">
            <a:avLst/>
          </a:prstGeom>
          <a:noFill/>
          <a:ln cap="flat" cmpd="sng" w="19050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Rudder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5425774" y="4246086"/>
            <a:ext cx="914400" cy="365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4327175" y="4246086"/>
            <a:ext cx="914400" cy="365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IMU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2289200" y="345575"/>
            <a:ext cx="504600" cy="393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39"/>
          <p:cNvSpPr/>
          <p:nvPr/>
        </p:nvSpPr>
        <p:spPr>
          <a:xfrm rot="5400000">
            <a:off x="2287600" y="901613"/>
            <a:ext cx="399000" cy="487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39"/>
          <p:cNvSpPr/>
          <p:nvPr/>
        </p:nvSpPr>
        <p:spPr>
          <a:xfrm>
            <a:off x="6232774" y="3176350"/>
            <a:ext cx="399000" cy="941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9"/>
          <p:cNvSpPr/>
          <p:nvPr/>
        </p:nvSpPr>
        <p:spPr>
          <a:xfrm>
            <a:off x="1201400" y="3102700"/>
            <a:ext cx="399000" cy="7416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9"/>
          <p:cNvSpPr txBox="1"/>
          <p:nvPr/>
        </p:nvSpPr>
        <p:spPr>
          <a:xfrm>
            <a:off x="7179925" y="3364588"/>
            <a:ext cx="1508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signals</a:t>
            </a:r>
            <a:endParaRPr sz="16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39"/>
          <p:cNvSpPr/>
          <p:nvPr/>
        </p:nvSpPr>
        <p:spPr>
          <a:xfrm>
            <a:off x="943700" y="3950346"/>
            <a:ext cx="914400" cy="577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Suite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4" name="Google Shape;474;p39"/>
          <p:cNvSpPr txBox="1"/>
          <p:nvPr/>
        </p:nvSpPr>
        <p:spPr>
          <a:xfrm>
            <a:off x="1461325" y="3364588"/>
            <a:ext cx="1508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Data</a:t>
            </a:r>
            <a:endParaRPr sz="16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75" name="Google Shape;475;p39"/>
          <p:cNvCxnSpPr/>
          <p:nvPr/>
        </p:nvCxnSpPr>
        <p:spPr>
          <a:xfrm>
            <a:off x="4327175" y="4142125"/>
            <a:ext cx="4210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39"/>
          <p:cNvSpPr txBox="1"/>
          <p:nvPr/>
        </p:nvSpPr>
        <p:spPr>
          <a:xfrm>
            <a:off x="2339525" y="3681371"/>
            <a:ext cx="21048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+ Actuators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7" name="Google Shape;477;p39"/>
          <p:cNvSpPr txBox="1"/>
          <p:nvPr/>
        </p:nvSpPr>
        <p:spPr>
          <a:xfrm>
            <a:off x="2001350" y="1508952"/>
            <a:ext cx="1080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Telemetry</a:t>
            </a:r>
            <a:endParaRPr sz="16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8" name="Google Shape;478;p39"/>
          <p:cNvSpPr txBox="1"/>
          <p:nvPr/>
        </p:nvSpPr>
        <p:spPr>
          <a:xfrm>
            <a:off x="2781275" y="345575"/>
            <a:ext cx="1221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Commands</a:t>
            </a:r>
            <a:endParaRPr sz="16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39"/>
          <p:cNvSpPr/>
          <p:nvPr/>
        </p:nvSpPr>
        <p:spPr>
          <a:xfrm rot="10800000">
            <a:off x="4538700" y="1540701"/>
            <a:ext cx="399000" cy="422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39"/>
          <p:cNvSpPr/>
          <p:nvPr/>
        </p:nvSpPr>
        <p:spPr>
          <a:xfrm>
            <a:off x="7136850" y="1536750"/>
            <a:ext cx="399000" cy="365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0"/>
          <p:cNvSpPr/>
          <p:nvPr/>
        </p:nvSpPr>
        <p:spPr>
          <a:xfrm>
            <a:off x="6421675" y="611275"/>
            <a:ext cx="2228700" cy="3939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0"/>
          <p:cNvSpPr txBox="1"/>
          <p:nvPr/>
        </p:nvSpPr>
        <p:spPr>
          <a:xfrm>
            <a:off x="0" y="8845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Swarm Architecture</a:t>
            </a:r>
            <a:endParaRPr/>
          </a:p>
        </p:txBody>
      </p:sp>
      <p:sp>
        <p:nvSpPr>
          <p:cNvPr id="487" name="Google Shape;487;p40"/>
          <p:cNvSpPr txBox="1"/>
          <p:nvPr/>
        </p:nvSpPr>
        <p:spPr>
          <a:xfrm>
            <a:off x="318200" y="566475"/>
            <a:ext cx="5314800" cy="4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Decentralized Mesh Network (Communication)</a:t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Protocol: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ESP-NOW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(IEEE 802.11 Action Frames). Operates at Layer 2 (MAC) for connectionless, router-free communication.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"Any-to-Any" Routing: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Implements a custom </a:t>
            </a: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Flooding Algorithm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TTL=3 (Time-To-Live).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○"/>
            </a:pP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Logic: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Packets are re-broadcast by neighbor drones, creating dynamic relay paths if the direct Line-of-Sight is blocked by waves.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Verification:</a:t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Latency: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 10 ms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(Verified). This is 10x faster than the system reaction time requirement, enabling real-time collision avoidance.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Throughput: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50 packets/sec verified (Sufficient for 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Hz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control loop).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 Block 2: Formation &amp; Control Logic (Autonomy)</a:t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Strategy: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"Virtual Rigid Body"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swarm treats the Leader as the origin point (0,0) and moves as a single fixed coordinate frame.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Position Algorithm:</a:t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○"/>
            </a:pP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Follower derives target using: </a:t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○"/>
            </a:pP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(Where              is the Leader's heading rotation matrix).</a:t>
            </a:r>
            <a:endParaRPr i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Loop:</a:t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PID Controller: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Drives motor thrust to zero out the Distance_Error.</a:t>
            </a:r>
            <a:endParaRPr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Failsafe: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data age &gt; 3.0s, logic switches to </a:t>
            </a: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"Station Keep"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(Hold GPS Position) until the mesh 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heels</a:t>
            </a:r>
            <a:r>
              <a:rPr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1" sz="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00">
              <a:solidFill>
                <a:schemeClr val="lt1"/>
              </a:solidFill>
            </a:endParaRPr>
          </a:p>
        </p:txBody>
      </p:sp>
      <p:sp>
        <p:nvSpPr>
          <p:cNvPr id="488" name="Google Shape;488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9" name="Google Shape;48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0959" y="3292125"/>
            <a:ext cx="2495567" cy="1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2125" y="3485625"/>
            <a:ext cx="275375" cy="1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0"/>
          <p:cNvSpPr/>
          <p:nvPr/>
        </p:nvSpPr>
        <p:spPr>
          <a:xfrm>
            <a:off x="6644150" y="715025"/>
            <a:ext cx="1763700" cy="4659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Global Waypoint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(Starlink)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2" name="Google Shape;492;p40"/>
          <p:cNvCxnSpPr>
            <a:stCxn id="491" idx="2"/>
            <a:endCxn id="493" idx="0"/>
          </p:cNvCxnSpPr>
          <p:nvPr/>
        </p:nvCxnSpPr>
        <p:spPr>
          <a:xfrm flipH="1">
            <a:off x="7525400" y="1180925"/>
            <a:ext cx="600" cy="193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3" name="Google Shape;493;p40"/>
          <p:cNvSpPr/>
          <p:nvPr/>
        </p:nvSpPr>
        <p:spPr>
          <a:xfrm>
            <a:off x="6643475" y="1374475"/>
            <a:ext cx="1763700" cy="465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Leader Drone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Receives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Waypoint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4" name="Google Shape;494;p40"/>
          <p:cNvSpPr/>
          <p:nvPr/>
        </p:nvSpPr>
        <p:spPr>
          <a:xfrm>
            <a:off x="6643475" y="2060275"/>
            <a:ext cx="1763700" cy="465900"/>
          </a:xfrm>
          <a:prstGeom prst="rect">
            <a:avLst/>
          </a:prstGeom>
          <a:solidFill>
            <a:srgbClr val="D9EAD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Broadcast via ESP-NOW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[GPS, Heading, Speed]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5" name="Google Shape;495;p40"/>
          <p:cNvCxnSpPr>
            <a:stCxn id="493" idx="2"/>
            <a:endCxn id="494" idx="0"/>
          </p:cNvCxnSpPr>
          <p:nvPr/>
        </p:nvCxnSpPr>
        <p:spPr>
          <a:xfrm>
            <a:off x="7525325" y="1840375"/>
            <a:ext cx="0" cy="21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6" name="Google Shape;496;p40"/>
          <p:cNvSpPr/>
          <p:nvPr/>
        </p:nvSpPr>
        <p:spPr>
          <a:xfrm>
            <a:off x="6580325" y="2746075"/>
            <a:ext cx="1890000" cy="6537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Follower Drone Calculates Target (Leader_pos +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Offset_Vector)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7" name="Google Shape;497;p40"/>
          <p:cNvCxnSpPr>
            <a:stCxn id="494" idx="2"/>
            <a:endCxn id="496" idx="0"/>
          </p:cNvCxnSpPr>
          <p:nvPr/>
        </p:nvCxnSpPr>
        <p:spPr>
          <a:xfrm>
            <a:off x="7525325" y="2526175"/>
            <a:ext cx="0" cy="219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8" name="Google Shape;498;p40"/>
          <p:cNvSpPr/>
          <p:nvPr/>
        </p:nvSpPr>
        <p:spPr>
          <a:xfrm>
            <a:off x="6580325" y="3745825"/>
            <a:ext cx="1890000" cy="653700"/>
          </a:xfrm>
          <a:prstGeom prst="rect">
            <a:avLst/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PID Controller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(Drives motors to minimize error)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499" name="Google Shape;499;p40"/>
          <p:cNvCxnSpPr>
            <a:stCxn id="496" idx="2"/>
            <a:endCxn id="498" idx="0"/>
          </p:cNvCxnSpPr>
          <p:nvPr/>
        </p:nvCxnSpPr>
        <p:spPr>
          <a:xfrm>
            <a:off x="7525325" y="3399775"/>
            <a:ext cx="0" cy="346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1"/>
          <p:cNvSpPr txBox="1"/>
          <p:nvPr/>
        </p:nvSpPr>
        <p:spPr>
          <a:xfrm>
            <a:off x="696900" y="2072892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Power Subsystem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05" name="Google Shape;505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42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Block Diagram</a:t>
            </a:r>
            <a:endParaRPr/>
          </a:p>
        </p:txBody>
      </p:sp>
      <p:pic>
        <p:nvPicPr>
          <p:cNvPr id="512" name="Google Shape;51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88" y="417900"/>
            <a:ext cx="7553229" cy="430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8" name="Google Shape;518;p43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Wiring Diagram</a:t>
            </a:r>
            <a:endParaRPr b="1" sz="3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519" name="Google Shape;519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013" y="484575"/>
            <a:ext cx="8251986" cy="4174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5" name="Google Shape;525;p44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Power 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Budget</a:t>
            </a:r>
            <a:endParaRPr/>
          </a:p>
        </p:txBody>
      </p:sp>
      <p:graphicFrame>
        <p:nvGraphicFramePr>
          <p:cNvPr id="526" name="Google Shape;526;p44"/>
          <p:cNvGraphicFramePr/>
          <p:nvPr/>
        </p:nvGraphicFramePr>
        <p:xfrm>
          <a:off x="536713" y="49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{9E53EF30-7D4B-4DB2-9377-FE4B760E88BB}</a:tableStyleId>
              </a:tblPr>
              <a:tblGrid>
                <a:gridCol w="839450"/>
                <a:gridCol w="1577150"/>
                <a:gridCol w="695300"/>
                <a:gridCol w="949675"/>
                <a:gridCol w="1009025"/>
                <a:gridCol w="1000550"/>
                <a:gridCol w="1000550"/>
                <a:gridCol w="1059925"/>
              </a:tblGrid>
              <a:tr h="319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Subsystem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Component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Voltage Rail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Max Power (Load)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Efficiency Loss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Power (from Battery)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Max Current (from Battery)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Cruise Power (from Battery)</a:t>
                      </a:r>
                      <a:endParaRPr sz="900">
                        <a:solidFill>
                          <a:srgbClr val="FFFFFF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BB46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463C"/>
                    </a:solidFill>
                  </a:tcPr>
                </a:tc>
              </a:tr>
              <a:tr h="175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Subsystem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Component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Voltage Rail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Max Power (Load)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Efficiency Loss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Total Power (from Battery)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Max Current (from Battery)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Cruise Power (from Battery)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1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Propulsion</a:t>
                      </a:r>
                      <a:endParaRPr b="1"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Apisqueen 5080 Motor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22.2 V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1200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 W (Direct)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1200.0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54.0 A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60.0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5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Comms</a:t>
                      </a:r>
                      <a:endParaRPr b="1"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Starlink Gen 3 (via Yaosheng)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57 V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~5 W (95%)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105.0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4.7 A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70.0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175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Compute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Jetson Orin Nano + Fan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12 V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25 W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~3 W (90%)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28.0 W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1.3 A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15.0 W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1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Control</a:t>
                      </a:r>
                      <a:endParaRPr b="1"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ESP32 + Rudder Servo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5V / 7.4V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~2 W (90%)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22.0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1.0 A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0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Payload</a:t>
                      </a:r>
                      <a:endParaRPr b="1"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Sensors (GPS, IMU, Env)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3.3 V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~1 W (85%)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6.0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0.3 A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5.0 W</a:t>
                      </a:r>
                      <a:endParaRPr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TOTALS</a:t>
                      </a:r>
                      <a:endParaRPr b="1"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1350 W</a:t>
                      </a:r>
                      <a:endParaRPr b="1"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~1361 W</a:t>
                      </a:r>
                      <a:endParaRPr b="1"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~61.3 A</a:t>
                      </a:r>
                      <a:endParaRPr b="1"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43434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~155 W</a:t>
                      </a:r>
                      <a:endParaRPr b="1" sz="1000">
                        <a:solidFill>
                          <a:srgbClr val="43434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19050" marB="19050" marR="76200" marL="76200" anchor="ctr">
                    <a:lnL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100">
                      <a:solidFill>
                        <a:srgbClr val="F4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100">
                      <a:solidFill>
                        <a:srgbClr val="8C352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27" name="Google Shape;527;p44"/>
          <p:cNvGraphicFramePr/>
          <p:nvPr/>
        </p:nvGraphicFramePr>
        <p:xfrm>
          <a:off x="536713" y="321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{B67F7228-FE1D-4FF7-A4CC-F1EDBB1678EC}</a:tableStyleId>
              </a:tblPr>
              <a:tblGrid>
                <a:gridCol w="1604950"/>
                <a:gridCol w="6526675"/>
              </a:tblGrid>
              <a:tr h="102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Battery Capacity: </a:t>
                      </a:r>
                      <a:endParaRPr sz="1200"/>
                    </a:p>
                  </a:txBody>
                  <a:tcPr marT="27425" marB="27425" marR="27425" marL="27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Ovonic 6S LiPo (22.2V, 6000mAh) = 133.2 Wh</a:t>
                      </a:r>
                      <a:endParaRPr sz="1200"/>
                    </a:p>
                  </a:txBody>
                  <a:tcPr marT="27425" marB="27425" marR="27425" marL="27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Cruise Endurance:</a:t>
                      </a:r>
                      <a:endParaRPr sz="1200"/>
                    </a:p>
                  </a:txBody>
                  <a:tcPr marT="27425" marB="27425" marR="27425" marL="27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133.2 Wh / 155 W ≅ 0.85 Hours (51 Minutes)</a:t>
                      </a:r>
                      <a:endParaRPr sz="1200"/>
                    </a:p>
                  </a:txBody>
                  <a:tcPr marT="27425" marB="27425" marR="27425" marL="27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Safety Margin:</a:t>
                      </a:r>
                      <a:endParaRPr sz="1200"/>
                    </a:p>
                  </a:txBody>
                  <a:tcPr marT="27425" marB="27425" marR="27425" marL="27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</a:rPr>
                        <a:t>Max draw is 61.3A, well within the 80A main fuse and the battery's 120C (720A) discharge limit.</a:t>
                      </a:r>
                      <a:endParaRPr sz="1200"/>
                    </a:p>
                  </a:txBody>
                  <a:tcPr marT="27425" marB="27425" marR="27425" marL="27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5"/>
          <p:cNvSpPr txBox="1"/>
          <p:nvPr/>
        </p:nvSpPr>
        <p:spPr>
          <a:xfrm>
            <a:off x="696900" y="2072892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Communication </a:t>
            </a:r>
            <a:r>
              <a:rPr b="1" lang="en" sz="5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Subsystem</a:t>
            </a:r>
            <a:endParaRPr b="1" sz="5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533" name="Google Shape;533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9" name="Google Shape;539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4099" y="94600"/>
            <a:ext cx="6041375" cy="44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6"/>
          <p:cNvSpPr txBox="1"/>
          <p:nvPr/>
        </p:nvSpPr>
        <p:spPr>
          <a:xfrm>
            <a:off x="295150" y="2724875"/>
            <a:ext cx="342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Communications</a:t>
            </a:r>
            <a:endParaRPr b="1" sz="3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Block Diagram</a:t>
            </a:r>
            <a:endParaRPr sz="16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7"/>
          <p:cNvSpPr/>
          <p:nvPr/>
        </p:nvSpPr>
        <p:spPr>
          <a:xfrm>
            <a:off x="2461125" y="2346675"/>
            <a:ext cx="1835100" cy="221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6" name="Google Shape;546;p47"/>
          <p:cNvSpPr/>
          <p:nvPr/>
        </p:nvSpPr>
        <p:spPr>
          <a:xfrm>
            <a:off x="325700" y="2346675"/>
            <a:ext cx="1835100" cy="2219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47" name="Google Shape;547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8" name="Google Shape;548;p47"/>
          <p:cNvSpPr txBox="1"/>
          <p:nvPr/>
        </p:nvSpPr>
        <p:spPr>
          <a:xfrm>
            <a:off x="0" y="131075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Gateway and Swarm 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Topology</a:t>
            </a:r>
            <a:endParaRPr/>
          </a:p>
        </p:txBody>
      </p:sp>
      <p:sp>
        <p:nvSpPr>
          <p:cNvPr id="549" name="Google Shape;549;p47"/>
          <p:cNvSpPr txBox="1"/>
          <p:nvPr/>
        </p:nvSpPr>
        <p:spPr>
          <a:xfrm>
            <a:off x="5556775" y="8301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Hybrid Star-Mesh</a:t>
            </a:r>
            <a:r>
              <a:rPr lang="en" sz="1100">
                <a:solidFill>
                  <a:schemeClr val="lt1"/>
                </a:solidFill>
              </a:rPr>
              <a:t> will </a:t>
            </a:r>
            <a:r>
              <a:rPr lang="en" sz="1100">
                <a:solidFill>
                  <a:schemeClr val="lt1"/>
                </a:solidFill>
              </a:rPr>
              <a:t>utilize a "Gateway &amp; Swarm" architecture to minimize cost while maximizing range.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550" name="Google Shape;550;p47"/>
          <p:cNvGraphicFramePr/>
          <p:nvPr/>
        </p:nvGraphicFramePr>
        <p:xfrm>
          <a:off x="5045263" y="182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{9E53EF30-7D4B-4DB2-9377-FE4B760E88BB}</a:tableStyleId>
              </a:tblPr>
              <a:tblGrid>
                <a:gridCol w="1126175"/>
                <a:gridCol w="1471750"/>
                <a:gridCol w="1205250"/>
              </a:tblGrid>
              <a:tr h="394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Main Drone (Gateway)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Follower Drones (Swarm)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39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Role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Central Hub &amp; Internet Bridge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Data Collection Node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Uplink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Starlink (Marine Terminal)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None (Relays to Main)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9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Local Link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ESP-NOW (Rx/Tx)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ESP-NOW (Tx to Main)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4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Hardware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Jetson Nano + ESP32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Raspberry Pi + ESP32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3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Data Flow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Aggregates all swarm data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→</a:t>
                      </a: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 Cloud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Sensors </a:t>
                      </a: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→</a:t>
                      </a: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Main Drone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76200" marL="76200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1" name="Google Shape;551;p47"/>
          <p:cNvSpPr/>
          <p:nvPr/>
        </p:nvSpPr>
        <p:spPr>
          <a:xfrm>
            <a:off x="614025" y="1181800"/>
            <a:ext cx="1136100" cy="4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Ground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Station</a:t>
            </a:r>
            <a:endParaRPr/>
          </a:p>
        </p:txBody>
      </p:sp>
      <p:sp>
        <p:nvSpPr>
          <p:cNvPr id="552" name="Google Shape;552;p47"/>
          <p:cNvSpPr/>
          <p:nvPr/>
        </p:nvSpPr>
        <p:spPr>
          <a:xfrm>
            <a:off x="2396725" y="1181800"/>
            <a:ext cx="1136100" cy="4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Starlink Satellite</a:t>
            </a:r>
            <a:endParaRPr/>
          </a:p>
        </p:txBody>
      </p:sp>
      <p:sp>
        <p:nvSpPr>
          <p:cNvPr id="553" name="Google Shape;553;p47"/>
          <p:cNvSpPr/>
          <p:nvPr/>
        </p:nvSpPr>
        <p:spPr>
          <a:xfrm>
            <a:off x="675200" y="2518775"/>
            <a:ext cx="1136100" cy="4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Starlink</a:t>
            </a:r>
            <a:endParaRPr/>
          </a:p>
        </p:txBody>
      </p:sp>
      <p:sp>
        <p:nvSpPr>
          <p:cNvPr id="554" name="Google Shape;554;p47"/>
          <p:cNvSpPr/>
          <p:nvPr/>
        </p:nvSpPr>
        <p:spPr>
          <a:xfrm>
            <a:off x="675200" y="3177138"/>
            <a:ext cx="1136100" cy="4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Jetson</a:t>
            </a:r>
            <a:endParaRPr/>
          </a:p>
        </p:txBody>
      </p:sp>
      <p:sp>
        <p:nvSpPr>
          <p:cNvPr id="555" name="Google Shape;555;p47"/>
          <p:cNvSpPr/>
          <p:nvPr/>
        </p:nvSpPr>
        <p:spPr>
          <a:xfrm>
            <a:off x="675200" y="3835500"/>
            <a:ext cx="1136100" cy="4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ESP32</a:t>
            </a:r>
            <a:endParaRPr/>
          </a:p>
        </p:txBody>
      </p:sp>
      <p:sp>
        <p:nvSpPr>
          <p:cNvPr id="556" name="Google Shape;556;p47"/>
          <p:cNvSpPr/>
          <p:nvPr/>
        </p:nvSpPr>
        <p:spPr>
          <a:xfrm>
            <a:off x="2810625" y="2518775"/>
            <a:ext cx="1136100" cy="4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Sensors</a:t>
            </a:r>
            <a:endParaRPr/>
          </a:p>
        </p:txBody>
      </p:sp>
      <p:sp>
        <p:nvSpPr>
          <p:cNvPr id="557" name="Google Shape;557;p47"/>
          <p:cNvSpPr/>
          <p:nvPr/>
        </p:nvSpPr>
        <p:spPr>
          <a:xfrm>
            <a:off x="2810625" y="3177138"/>
            <a:ext cx="1136100" cy="4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Raspberry</a:t>
            </a:r>
            <a:r>
              <a:rPr lang="en"/>
              <a:t> Pi</a:t>
            </a:r>
            <a:endParaRPr/>
          </a:p>
        </p:txBody>
      </p:sp>
      <p:sp>
        <p:nvSpPr>
          <p:cNvPr id="558" name="Google Shape;558;p47"/>
          <p:cNvSpPr/>
          <p:nvPr/>
        </p:nvSpPr>
        <p:spPr>
          <a:xfrm>
            <a:off x="2810625" y="3835500"/>
            <a:ext cx="1136100" cy="44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ESP32</a:t>
            </a:r>
            <a:endParaRPr/>
          </a:p>
        </p:txBody>
      </p:sp>
      <p:cxnSp>
        <p:nvCxnSpPr>
          <p:cNvPr id="559" name="Google Shape;559;p47"/>
          <p:cNvCxnSpPr>
            <a:stCxn id="551" idx="3"/>
            <a:endCxn id="552" idx="1"/>
          </p:cNvCxnSpPr>
          <p:nvPr/>
        </p:nvCxnSpPr>
        <p:spPr>
          <a:xfrm>
            <a:off x="1750125" y="1404550"/>
            <a:ext cx="646500" cy="600"/>
          </a:xfrm>
          <a:prstGeom prst="bentConnector3">
            <a:avLst>
              <a:gd fmla="val 50008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0" name="Google Shape;560;p47"/>
          <p:cNvCxnSpPr>
            <a:stCxn id="552" idx="2"/>
            <a:endCxn id="553" idx="0"/>
          </p:cNvCxnSpPr>
          <p:nvPr/>
        </p:nvCxnSpPr>
        <p:spPr>
          <a:xfrm rot="5400000">
            <a:off x="1658275" y="1212400"/>
            <a:ext cx="891600" cy="17214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1" name="Google Shape;561;p47"/>
          <p:cNvCxnSpPr>
            <a:stCxn id="553" idx="2"/>
            <a:endCxn id="554" idx="0"/>
          </p:cNvCxnSpPr>
          <p:nvPr/>
        </p:nvCxnSpPr>
        <p:spPr>
          <a:xfrm>
            <a:off x="1243250" y="2964275"/>
            <a:ext cx="0" cy="21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2" name="Google Shape;562;p47"/>
          <p:cNvCxnSpPr>
            <a:stCxn id="554" idx="2"/>
            <a:endCxn id="555" idx="0"/>
          </p:cNvCxnSpPr>
          <p:nvPr/>
        </p:nvCxnSpPr>
        <p:spPr>
          <a:xfrm>
            <a:off x="1243250" y="3622638"/>
            <a:ext cx="0" cy="21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3" name="Google Shape;563;p47"/>
          <p:cNvCxnSpPr>
            <a:stCxn id="558" idx="1"/>
            <a:endCxn id="555" idx="3"/>
          </p:cNvCxnSpPr>
          <p:nvPr/>
        </p:nvCxnSpPr>
        <p:spPr>
          <a:xfrm rot="10800000">
            <a:off x="1811325" y="4058250"/>
            <a:ext cx="999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4" name="Google Shape;564;p47"/>
          <p:cNvCxnSpPr>
            <a:stCxn id="558" idx="0"/>
            <a:endCxn id="557" idx="2"/>
          </p:cNvCxnSpPr>
          <p:nvPr/>
        </p:nvCxnSpPr>
        <p:spPr>
          <a:xfrm rot="10800000">
            <a:off x="3378675" y="3622500"/>
            <a:ext cx="0" cy="21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47"/>
          <p:cNvCxnSpPr>
            <a:stCxn id="557" idx="0"/>
            <a:endCxn id="556" idx="2"/>
          </p:cNvCxnSpPr>
          <p:nvPr/>
        </p:nvCxnSpPr>
        <p:spPr>
          <a:xfrm rot="10800000">
            <a:off x="3378675" y="2964138"/>
            <a:ext cx="0" cy="213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48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Wiring 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Diagram</a:t>
            </a:r>
            <a:endParaRPr/>
          </a:p>
        </p:txBody>
      </p:sp>
      <p:pic>
        <p:nvPicPr>
          <p:cNvPr id="572" name="Google Shape;57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450" y="498675"/>
            <a:ext cx="8251986" cy="4146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49"/>
          <p:cNvSpPr txBox="1"/>
          <p:nvPr/>
        </p:nvSpPr>
        <p:spPr>
          <a:xfrm>
            <a:off x="0" y="235925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Performance &amp; Bandwidth Analysis</a:t>
            </a:r>
            <a:endParaRPr/>
          </a:p>
        </p:txBody>
      </p:sp>
      <p:graphicFrame>
        <p:nvGraphicFramePr>
          <p:cNvPr id="579" name="Google Shape;579;p49"/>
          <p:cNvGraphicFramePr/>
          <p:nvPr/>
        </p:nvGraphicFramePr>
        <p:xfrm>
          <a:off x="448050" y="1346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{9E53EF30-7D4B-4DB2-9377-FE4B760E88BB}</a:tableStyleId>
              </a:tblPr>
              <a:tblGrid>
                <a:gridCol w="809300"/>
                <a:gridCol w="820025"/>
                <a:gridCol w="771800"/>
                <a:gridCol w="1093375"/>
              </a:tblGrid>
              <a:tr h="694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Link Type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Available Capacity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Required Load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</a:rPr>
                        <a:t>Margin / Status</a:t>
                      </a:r>
                      <a:endParaRPr b="1"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11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Swarm Network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(ESP-NOW)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~1,000 kbps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10 kbps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(2 Drones)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99% Free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(Highly Scalable)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9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Satellite Uplink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(Starlink)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~5,000 kbps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2,560 kbps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(Video + Telemetry)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~50% Free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(Video Quality Safe)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45700" marL="45700" anchor="ctr">
                    <a:lnL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D9EAD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580" name="Google Shape;580;p49"/>
          <p:cNvSpPr txBox="1"/>
          <p:nvPr/>
        </p:nvSpPr>
        <p:spPr>
          <a:xfrm>
            <a:off x="1195875" y="869875"/>
            <a:ext cx="21321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</a:rPr>
              <a:t>Link Budget</a:t>
            </a:r>
            <a:endParaRPr sz="1900">
              <a:solidFill>
                <a:schemeClr val="lt1"/>
              </a:solidFill>
            </a:endParaRPr>
          </a:p>
        </p:txBody>
      </p:sp>
      <p:pic>
        <p:nvPicPr>
          <p:cNvPr id="581" name="Google Shape;581;p49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750" y="1346525"/>
            <a:ext cx="4896650" cy="30269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2" name="Google Shape;582;p49"/>
          <p:cNvCxnSpPr/>
          <p:nvPr/>
        </p:nvCxnSpPr>
        <p:spPr>
          <a:xfrm flipH="1" rot="10800000">
            <a:off x="6529400" y="1931150"/>
            <a:ext cx="342300" cy="23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3" name="Google Shape;583;p49"/>
          <p:cNvSpPr txBox="1"/>
          <p:nvPr/>
        </p:nvSpPr>
        <p:spPr>
          <a:xfrm>
            <a:off x="6788975" y="1779225"/>
            <a:ext cx="7782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</a:rPr>
              <a:t>10 (0.2%)</a:t>
            </a:r>
            <a:endParaRPr b="1"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0"/>
          <p:cNvSpPr txBox="1"/>
          <p:nvPr/>
        </p:nvSpPr>
        <p:spPr>
          <a:xfrm>
            <a:off x="0" y="214675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Data Protocol &amp; Latency</a:t>
            </a:r>
            <a:endParaRPr/>
          </a:p>
        </p:txBody>
      </p:sp>
      <p:sp>
        <p:nvSpPr>
          <p:cNvPr id="589" name="Google Shape;5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0" name="Google Shape;590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4975" y="1705750"/>
            <a:ext cx="5320400" cy="2084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0"/>
          <p:cNvSpPr txBox="1"/>
          <p:nvPr/>
        </p:nvSpPr>
        <p:spPr>
          <a:xfrm>
            <a:off x="308600" y="745675"/>
            <a:ext cx="2861400" cy="41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Protocol Stack Definition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utilize distinct protocols for the local swarm versus the global uplink to optimize for speed and reliability.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○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Swarm Link: ESP-NOW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Uplink</a:t>
            </a: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WebRTC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Telemetry</a:t>
            </a: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MQTT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Payload (The Packet)</a:t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Format: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Packed Binary Struct (64 Bytes).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Content: 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[Nav Data] + [Sensor Readings] + [Battery Status].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chemeClr val="lt1"/>
              </a:buClr>
              <a:buSzPts val="1100"/>
              <a:buChar char="○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Efficiency: 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10x smaller than standard JSON, reducing airtime collision risk.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1"/>
          <p:cNvSpPr/>
          <p:nvPr/>
        </p:nvSpPr>
        <p:spPr>
          <a:xfrm>
            <a:off x="383450" y="3171250"/>
            <a:ext cx="1961700" cy="1578600"/>
          </a:xfrm>
          <a:prstGeom prst="rect">
            <a:avLst/>
          </a:prstGeom>
          <a:solidFill>
            <a:schemeClr val="dk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5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51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Propulsion Subsystem</a:t>
            </a:r>
            <a:endParaRPr/>
          </a:p>
        </p:txBody>
      </p:sp>
      <p:pic>
        <p:nvPicPr>
          <p:cNvPr id="599" name="Google Shape;59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674" y="741575"/>
            <a:ext cx="1961651" cy="1954206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0487" y="933013"/>
            <a:ext cx="2091725" cy="1514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1" name="Google Shape;601;p51"/>
          <p:cNvCxnSpPr/>
          <p:nvPr/>
        </p:nvCxnSpPr>
        <p:spPr>
          <a:xfrm rot="10800000">
            <a:off x="1737925" y="1875875"/>
            <a:ext cx="1903200" cy="0"/>
          </a:xfrm>
          <a:prstGeom prst="straightConnector1">
            <a:avLst/>
          </a:prstGeom>
          <a:noFill/>
          <a:ln cap="flat" cmpd="sng" w="38100">
            <a:solidFill>
              <a:srgbClr val="BD2036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02" name="Google Shape;602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43274" y="844634"/>
            <a:ext cx="2329173" cy="16913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3" name="Google Shape;603;p51"/>
          <p:cNvCxnSpPr/>
          <p:nvPr/>
        </p:nvCxnSpPr>
        <p:spPr>
          <a:xfrm>
            <a:off x="4986025" y="1561475"/>
            <a:ext cx="1686000" cy="314400"/>
          </a:xfrm>
          <a:prstGeom prst="bentConnector3">
            <a:avLst>
              <a:gd fmla="val 37286" name="adj1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51"/>
          <p:cNvSpPr/>
          <p:nvPr/>
        </p:nvSpPr>
        <p:spPr>
          <a:xfrm>
            <a:off x="1831225" y="1332875"/>
            <a:ext cx="14670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51"/>
          <p:cNvSpPr txBox="1"/>
          <p:nvPr/>
        </p:nvSpPr>
        <p:spPr>
          <a:xfrm>
            <a:off x="1934050" y="1298825"/>
            <a:ext cx="132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2400 RPM</a:t>
            </a:r>
            <a:endParaRPr sz="1800">
              <a:solidFill>
                <a:schemeClr val="accent1"/>
              </a:solidFill>
            </a:endParaRPr>
          </a:p>
        </p:txBody>
      </p:sp>
      <p:pic>
        <p:nvPicPr>
          <p:cNvPr id="606" name="Google Shape;606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84999" y="2849600"/>
            <a:ext cx="1562675" cy="1446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7" name="Google Shape;607;p51"/>
          <p:cNvCxnSpPr/>
          <p:nvPr/>
        </p:nvCxnSpPr>
        <p:spPr>
          <a:xfrm flipH="1" rot="10800000">
            <a:off x="4262150" y="2218663"/>
            <a:ext cx="9600" cy="838200"/>
          </a:xfrm>
          <a:prstGeom prst="straightConnector1">
            <a:avLst/>
          </a:prstGeom>
          <a:noFill/>
          <a:ln cap="flat" cmpd="sng" w="38100">
            <a:solidFill>
              <a:srgbClr val="BD203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8" name="Google Shape;608;p51"/>
          <p:cNvSpPr txBox="1"/>
          <p:nvPr/>
        </p:nvSpPr>
        <p:spPr>
          <a:xfrm>
            <a:off x="720400" y="279875"/>
            <a:ext cx="107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Propeller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9" name="Google Shape;609;p51"/>
          <p:cNvSpPr txBox="1"/>
          <p:nvPr/>
        </p:nvSpPr>
        <p:spPr>
          <a:xfrm>
            <a:off x="3804051" y="471325"/>
            <a:ext cx="90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0" name="Google Shape;610;p51"/>
          <p:cNvSpPr txBox="1"/>
          <p:nvPr/>
        </p:nvSpPr>
        <p:spPr>
          <a:xfrm>
            <a:off x="6274363" y="327500"/>
            <a:ext cx="146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Mount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1" name="Google Shape;611;p51"/>
          <p:cNvSpPr txBox="1"/>
          <p:nvPr/>
        </p:nvSpPr>
        <p:spPr>
          <a:xfrm>
            <a:off x="3641126" y="4295875"/>
            <a:ext cx="90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12" name="Google Shape;612;p51"/>
          <p:cNvCxnSpPr/>
          <p:nvPr/>
        </p:nvCxnSpPr>
        <p:spPr>
          <a:xfrm rot="10800000">
            <a:off x="4881400" y="3056875"/>
            <a:ext cx="1257000" cy="19200"/>
          </a:xfrm>
          <a:prstGeom prst="straightConnector1">
            <a:avLst/>
          </a:prstGeom>
          <a:noFill/>
          <a:ln cap="flat" cmpd="sng" w="38100">
            <a:solidFill>
              <a:srgbClr val="BD203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51"/>
          <p:cNvCxnSpPr/>
          <p:nvPr/>
        </p:nvCxnSpPr>
        <p:spPr>
          <a:xfrm rot="10800000">
            <a:off x="4881400" y="3733150"/>
            <a:ext cx="1257000" cy="192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4" name="Google Shape;614;p51"/>
          <p:cNvSpPr/>
          <p:nvPr/>
        </p:nvSpPr>
        <p:spPr>
          <a:xfrm>
            <a:off x="3263950" y="2374938"/>
            <a:ext cx="857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51"/>
          <p:cNvSpPr txBox="1"/>
          <p:nvPr/>
        </p:nvSpPr>
        <p:spPr>
          <a:xfrm>
            <a:off x="3388300" y="2340900"/>
            <a:ext cx="60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24V</a:t>
            </a:r>
            <a:endParaRPr sz="1800">
              <a:solidFill>
                <a:schemeClr val="accent1"/>
              </a:solidFill>
            </a:endParaRPr>
          </a:p>
        </p:txBody>
      </p:sp>
      <p:cxnSp>
        <p:nvCxnSpPr>
          <p:cNvPr id="616" name="Google Shape;616;p51"/>
          <p:cNvCxnSpPr/>
          <p:nvPr/>
        </p:nvCxnSpPr>
        <p:spPr>
          <a:xfrm>
            <a:off x="480925" y="4207425"/>
            <a:ext cx="1257000" cy="19200"/>
          </a:xfrm>
          <a:prstGeom prst="straightConnector1">
            <a:avLst/>
          </a:prstGeom>
          <a:noFill/>
          <a:ln cap="flat" cmpd="sng" w="38100">
            <a:solidFill>
              <a:srgbClr val="BD203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51"/>
          <p:cNvCxnSpPr/>
          <p:nvPr/>
        </p:nvCxnSpPr>
        <p:spPr>
          <a:xfrm>
            <a:off x="480925" y="3733150"/>
            <a:ext cx="1257000" cy="192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18" name="Google Shape;618;p51"/>
          <p:cNvSpPr txBox="1"/>
          <p:nvPr/>
        </p:nvSpPr>
        <p:spPr>
          <a:xfrm>
            <a:off x="383450" y="3220750"/>
            <a:ext cx="200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Connection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p51"/>
          <p:cNvSpPr txBox="1"/>
          <p:nvPr/>
        </p:nvSpPr>
        <p:spPr>
          <a:xfrm>
            <a:off x="383450" y="4295875"/>
            <a:ext cx="200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Connection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0" name="Google Shape;620;p51"/>
          <p:cNvSpPr/>
          <p:nvPr/>
        </p:nvSpPr>
        <p:spPr>
          <a:xfrm>
            <a:off x="5216575" y="2599600"/>
            <a:ext cx="857400" cy="393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51"/>
          <p:cNvSpPr txBox="1"/>
          <p:nvPr/>
        </p:nvSpPr>
        <p:spPr>
          <a:xfrm>
            <a:off x="5340925" y="2565563"/>
            <a:ext cx="60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24V</a:t>
            </a:r>
            <a:endParaRPr sz="1800">
              <a:solidFill>
                <a:schemeClr val="accent1"/>
              </a:solidFill>
            </a:endParaRPr>
          </a:p>
        </p:txBody>
      </p:sp>
      <p:sp>
        <p:nvSpPr>
          <p:cNvPr id="622" name="Google Shape;622;p51"/>
          <p:cNvSpPr txBox="1"/>
          <p:nvPr/>
        </p:nvSpPr>
        <p:spPr>
          <a:xfrm>
            <a:off x="6242875" y="2849575"/>
            <a:ext cx="28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from Battery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3" name="Google Shape;623;p51"/>
          <p:cNvSpPr txBox="1"/>
          <p:nvPr/>
        </p:nvSpPr>
        <p:spPr>
          <a:xfrm>
            <a:off x="6242875" y="3511900"/>
            <a:ext cx="28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signal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ESP32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5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52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RC Drone Specifications</a:t>
            </a:r>
            <a:endParaRPr/>
          </a:p>
        </p:txBody>
      </p:sp>
      <p:pic>
        <p:nvPicPr>
          <p:cNvPr id="630" name="Google Shape;630;p52"/>
          <p:cNvPicPr preferRelativeResize="0"/>
          <p:nvPr/>
        </p:nvPicPr>
        <p:blipFill rotWithShape="1">
          <a:blip r:embed="rId3">
            <a:alphaModFix/>
          </a:blip>
          <a:srcRect b="3626" l="0" r="0" t="12241"/>
          <a:stretch/>
        </p:blipFill>
        <p:spPr>
          <a:xfrm>
            <a:off x="650575" y="2489475"/>
            <a:ext cx="3271701" cy="2259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576" y="531000"/>
            <a:ext cx="3271700" cy="1958475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52"/>
          <p:cNvSpPr txBox="1"/>
          <p:nvPr/>
        </p:nvSpPr>
        <p:spPr>
          <a:xfrm>
            <a:off x="4849450" y="531000"/>
            <a:ext cx="3871800" cy="3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Features: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hold ESP32 and Jetson Nano for data transmission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Reaches 45 km/h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Waterproof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Brushless Motor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Watercooled System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190 min charging time</a:t>
            </a:r>
            <a:endParaRPr b="1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Font typeface="Times New Roman"/>
              <a:buChar char="●"/>
            </a:pPr>
            <a:r>
              <a:rPr b="1" lang="en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minute run time</a:t>
            </a:r>
            <a:endParaRPr b="1" sz="3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Notes: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purely to demonstrate swarm abilities. $1700 cheaper than using 2025 hull </a:t>
            </a:r>
            <a:endParaRPr b="1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3" name="Google Shape;633;p52"/>
          <p:cNvSpPr/>
          <p:nvPr/>
        </p:nvSpPr>
        <p:spPr>
          <a:xfrm>
            <a:off x="4645875" y="531000"/>
            <a:ext cx="4166400" cy="2531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2"/>
          <p:cNvSpPr txBox="1"/>
          <p:nvPr/>
        </p:nvSpPr>
        <p:spPr>
          <a:xfrm>
            <a:off x="5285350" y="431220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Images from </a:t>
            </a:r>
            <a:r>
              <a:rPr lang="en" sz="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https://www.amazon.com/-/es/Ssccgym-UDI005-escobillas-funciones-completas/dp/B0DRNNY597</a:t>
            </a:r>
            <a:endParaRPr sz="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0" name="Google Shape;640;p53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GUI with Sensor Data and Live Footage</a:t>
            </a:r>
            <a:endParaRPr/>
          </a:p>
        </p:txBody>
      </p:sp>
      <p:pic>
        <p:nvPicPr>
          <p:cNvPr id="641" name="Google Shape;641;p53" title="20251128-2344-04.227719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4874" y="982975"/>
            <a:ext cx="5244976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53"/>
          <p:cNvSpPr/>
          <p:nvPr/>
        </p:nvSpPr>
        <p:spPr>
          <a:xfrm>
            <a:off x="371204" y="686666"/>
            <a:ext cx="905100" cy="451800"/>
          </a:xfrm>
          <a:prstGeom prst="rect">
            <a:avLst/>
          </a:prstGeom>
          <a:solidFill>
            <a:srgbClr val="CFE2F3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19"/>
              <a:t>ESP32</a:t>
            </a:r>
            <a:endParaRPr sz="819"/>
          </a:p>
        </p:txBody>
      </p:sp>
      <p:sp>
        <p:nvSpPr>
          <p:cNvPr id="643" name="Google Shape;643;p53"/>
          <p:cNvSpPr/>
          <p:nvPr/>
        </p:nvSpPr>
        <p:spPr>
          <a:xfrm>
            <a:off x="512793" y="1294162"/>
            <a:ext cx="621900" cy="2826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Temperature</a:t>
            </a:r>
            <a:endParaRPr sz="619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Sensor</a:t>
            </a:r>
            <a:endParaRPr sz="619"/>
          </a:p>
        </p:txBody>
      </p:sp>
      <p:sp>
        <p:nvSpPr>
          <p:cNvPr id="644" name="Google Shape;644;p53"/>
          <p:cNvSpPr/>
          <p:nvPr/>
        </p:nvSpPr>
        <p:spPr>
          <a:xfrm>
            <a:off x="512793" y="1732425"/>
            <a:ext cx="621900" cy="2826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Salinity Sensor </a:t>
            </a:r>
            <a:endParaRPr sz="619"/>
          </a:p>
        </p:txBody>
      </p:sp>
      <p:sp>
        <p:nvSpPr>
          <p:cNvPr id="645" name="Google Shape;645;p53"/>
          <p:cNvSpPr/>
          <p:nvPr/>
        </p:nvSpPr>
        <p:spPr>
          <a:xfrm>
            <a:off x="512792" y="2170688"/>
            <a:ext cx="621900" cy="2826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0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PH Sensor</a:t>
            </a:r>
            <a:endParaRPr sz="619"/>
          </a:p>
        </p:txBody>
      </p:sp>
      <p:sp>
        <p:nvSpPr>
          <p:cNvPr id="646" name="Google Shape;646;p53"/>
          <p:cNvSpPr/>
          <p:nvPr/>
        </p:nvSpPr>
        <p:spPr>
          <a:xfrm>
            <a:off x="1841983" y="686677"/>
            <a:ext cx="905100" cy="451800"/>
          </a:xfrm>
          <a:prstGeom prst="rect">
            <a:avLst/>
          </a:prstGeom>
          <a:solidFill>
            <a:srgbClr val="CFE2F3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19"/>
              <a:t>Jetson Orin Nano</a:t>
            </a:r>
            <a:endParaRPr sz="719"/>
          </a:p>
        </p:txBody>
      </p:sp>
      <p:sp>
        <p:nvSpPr>
          <p:cNvPr id="647" name="Google Shape;647;p53"/>
          <p:cNvSpPr/>
          <p:nvPr/>
        </p:nvSpPr>
        <p:spPr>
          <a:xfrm>
            <a:off x="1841983" y="1610579"/>
            <a:ext cx="905100" cy="368700"/>
          </a:xfrm>
          <a:prstGeom prst="rect">
            <a:avLst/>
          </a:prstGeom>
          <a:solidFill>
            <a:srgbClr val="B6D7A8"/>
          </a:solidFill>
          <a:ln cap="flat" cmpd="sng" w="23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2675" lIns="22675" spcFirstLastPara="1" rIns="22675" wrap="square" tIns="226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Camera</a:t>
            </a:r>
            <a:endParaRPr sz="619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19"/>
              <a:t>(Surface)</a:t>
            </a:r>
            <a:endParaRPr sz="619"/>
          </a:p>
        </p:txBody>
      </p:sp>
      <p:cxnSp>
        <p:nvCxnSpPr>
          <p:cNvPr id="648" name="Google Shape;648;p53"/>
          <p:cNvCxnSpPr/>
          <p:nvPr/>
        </p:nvCxnSpPr>
        <p:spPr>
          <a:xfrm>
            <a:off x="371204" y="982979"/>
            <a:ext cx="141600" cy="1288500"/>
          </a:xfrm>
          <a:prstGeom prst="bentConnector3">
            <a:avLst>
              <a:gd fmla="val -168167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9" name="Google Shape;649;p53"/>
          <p:cNvCxnSpPr/>
          <p:nvPr/>
        </p:nvCxnSpPr>
        <p:spPr>
          <a:xfrm>
            <a:off x="371204" y="996854"/>
            <a:ext cx="141600" cy="877200"/>
          </a:xfrm>
          <a:prstGeom prst="bentConnector3">
            <a:avLst>
              <a:gd fmla="val -168167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0" name="Google Shape;650;p53"/>
          <p:cNvCxnSpPr/>
          <p:nvPr/>
        </p:nvCxnSpPr>
        <p:spPr>
          <a:xfrm>
            <a:off x="371204" y="996854"/>
            <a:ext cx="141600" cy="466200"/>
          </a:xfrm>
          <a:prstGeom prst="bentConnector3">
            <a:avLst>
              <a:gd fmla="val -168167" name="adj1"/>
            </a:avLst>
          </a:prstGeom>
          <a:noFill/>
          <a:ln cap="flat" cmpd="sng" w="94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1" name="Google Shape;651;p53"/>
          <p:cNvCxnSpPr>
            <a:stCxn id="642" idx="3"/>
            <a:endCxn id="646" idx="1"/>
          </p:cNvCxnSpPr>
          <p:nvPr/>
        </p:nvCxnSpPr>
        <p:spPr>
          <a:xfrm>
            <a:off x="1276304" y="912566"/>
            <a:ext cx="565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2" name="Google Shape;652;p53"/>
          <p:cNvCxnSpPr>
            <a:stCxn id="647" idx="0"/>
            <a:endCxn id="646" idx="2"/>
          </p:cNvCxnSpPr>
          <p:nvPr/>
        </p:nvCxnSpPr>
        <p:spPr>
          <a:xfrm rot="10800000">
            <a:off x="2294533" y="1138379"/>
            <a:ext cx="0" cy="472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3" name="Google Shape;653;p53"/>
          <p:cNvSpPr/>
          <p:nvPr/>
        </p:nvSpPr>
        <p:spPr>
          <a:xfrm>
            <a:off x="1841987" y="2369465"/>
            <a:ext cx="905100" cy="452400"/>
          </a:xfrm>
          <a:prstGeom prst="rect">
            <a:avLst/>
          </a:prstGeom>
          <a:solidFill>
            <a:srgbClr val="CFE2F3"/>
          </a:solidFill>
          <a:ln cap="flat" cmpd="sng" w="38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725" lIns="36725" spcFirstLastPara="1" rIns="36725" wrap="square" tIns="36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62"/>
              <a:t>Starlink Antenna</a:t>
            </a:r>
            <a:endParaRPr sz="762"/>
          </a:p>
        </p:txBody>
      </p:sp>
      <p:cxnSp>
        <p:nvCxnSpPr>
          <p:cNvPr id="654" name="Google Shape;654;p53"/>
          <p:cNvCxnSpPr>
            <a:endCxn id="653" idx="0"/>
          </p:cNvCxnSpPr>
          <p:nvPr/>
        </p:nvCxnSpPr>
        <p:spPr>
          <a:xfrm rot="5400000">
            <a:off x="2061137" y="1134065"/>
            <a:ext cx="1468800" cy="1002000"/>
          </a:xfrm>
          <a:prstGeom prst="bentConnector3">
            <a:avLst>
              <a:gd fmla="val 83111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5" name="Google Shape;655;p53"/>
          <p:cNvCxnSpPr/>
          <p:nvPr/>
        </p:nvCxnSpPr>
        <p:spPr>
          <a:xfrm>
            <a:off x="2775200" y="900675"/>
            <a:ext cx="548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56" name="Google Shape;656;p53"/>
          <p:cNvGrpSpPr/>
          <p:nvPr/>
        </p:nvGrpSpPr>
        <p:grpSpPr>
          <a:xfrm>
            <a:off x="441140" y="3160950"/>
            <a:ext cx="2661626" cy="972403"/>
            <a:chOff x="1428288" y="3390799"/>
            <a:chExt cx="1625818" cy="594015"/>
          </a:xfrm>
        </p:grpSpPr>
        <p:grpSp>
          <p:nvGrpSpPr>
            <p:cNvPr id="657" name="Google Shape;657;p53"/>
            <p:cNvGrpSpPr/>
            <p:nvPr/>
          </p:nvGrpSpPr>
          <p:grpSpPr>
            <a:xfrm>
              <a:off x="1428288" y="3390799"/>
              <a:ext cx="1625818" cy="594015"/>
              <a:chOff x="1378294" y="3390799"/>
              <a:chExt cx="1625818" cy="594015"/>
            </a:xfrm>
          </p:grpSpPr>
          <p:sp>
            <p:nvSpPr>
              <p:cNvPr id="658" name="Google Shape;658;p53"/>
              <p:cNvSpPr/>
              <p:nvPr/>
            </p:nvSpPr>
            <p:spPr>
              <a:xfrm>
                <a:off x="1962603" y="3390799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56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53850" lIns="53850" spcFirstLastPara="1" rIns="53850" wrap="square" tIns="5385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7"/>
                  <a:t>Laptop</a:t>
                </a:r>
                <a:endParaRPr sz="971"/>
              </a:p>
            </p:txBody>
          </p:sp>
          <p:sp>
            <p:nvSpPr>
              <p:cNvPr id="659" name="Google Shape;659;p53"/>
              <p:cNvSpPr/>
              <p:nvPr/>
            </p:nvSpPr>
            <p:spPr>
              <a:xfrm>
                <a:off x="1962603" y="3756214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56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3250" lIns="33250" spcFirstLastPara="1" rIns="33250" wrap="square" tIns="33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3"/>
                  <a:t>GUI</a:t>
                </a:r>
                <a:endParaRPr sz="953"/>
              </a:p>
            </p:txBody>
          </p:sp>
          <p:sp>
            <p:nvSpPr>
              <p:cNvPr id="660" name="Google Shape;660;p53"/>
              <p:cNvSpPr/>
              <p:nvPr/>
            </p:nvSpPr>
            <p:spPr>
              <a:xfrm>
                <a:off x="1378300" y="3390800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56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3250" lIns="33250" spcFirstLastPara="1" rIns="33250" wrap="square" tIns="33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7"/>
                  <a:t>Starlink Terminal</a:t>
                </a:r>
                <a:endParaRPr sz="1017"/>
              </a:p>
            </p:txBody>
          </p:sp>
          <p:sp>
            <p:nvSpPr>
              <p:cNvPr id="661" name="Google Shape;661;p53"/>
              <p:cNvSpPr/>
              <p:nvPr/>
            </p:nvSpPr>
            <p:spPr>
              <a:xfrm>
                <a:off x="2546912" y="3390799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56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3250" lIns="33250" spcFirstLastPara="1" rIns="33250" wrap="square" tIns="33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7"/>
                  <a:t>Internet Connection</a:t>
                </a:r>
                <a:endParaRPr sz="1017"/>
              </a:p>
            </p:txBody>
          </p:sp>
          <p:sp>
            <p:nvSpPr>
              <p:cNvPr id="662" name="Google Shape;662;p53"/>
              <p:cNvSpPr/>
              <p:nvPr/>
            </p:nvSpPr>
            <p:spPr>
              <a:xfrm>
                <a:off x="1378294" y="3756214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56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3250" lIns="33250" spcFirstLastPara="1" rIns="33250" wrap="square" tIns="33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7"/>
                  <a:t>Live-video </a:t>
                </a:r>
                <a:endParaRPr sz="1017"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7"/>
                  <a:t>Streaming</a:t>
                </a:r>
                <a:endParaRPr sz="1017"/>
              </a:p>
            </p:txBody>
          </p:sp>
          <p:sp>
            <p:nvSpPr>
              <p:cNvPr id="663" name="Google Shape;663;p53"/>
              <p:cNvSpPr/>
              <p:nvPr/>
            </p:nvSpPr>
            <p:spPr>
              <a:xfrm>
                <a:off x="2546912" y="3756214"/>
                <a:ext cx="457200" cy="228600"/>
              </a:xfrm>
              <a:prstGeom prst="rect">
                <a:avLst/>
              </a:prstGeom>
              <a:solidFill>
                <a:srgbClr val="F1C232"/>
              </a:solidFill>
              <a:ln cap="flat" cmpd="sng" w="56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3250" lIns="33250" spcFirstLastPara="1" rIns="33250" wrap="square" tIns="3325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17"/>
                  <a:t>GEO- Overlay</a:t>
                </a:r>
                <a:endParaRPr sz="1017"/>
              </a:p>
            </p:txBody>
          </p:sp>
        </p:grpSp>
        <p:cxnSp>
          <p:nvCxnSpPr>
            <p:cNvPr id="664" name="Google Shape;664;p53"/>
            <p:cNvCxnSpPr>
              <a:stCxn id="660" idx="3"/>
              <a:endCxn id="658" idx="1"/>
            </p:cNvCxnSpPr>
            <p:nvPr/>
          </p:nvCxnSpPr>
          <p:spPr>
            <a:xfrm>
              <a:off x="1885493" y="3505100"/>
              <a:ext cx="127200" cy="0"/>
            </a:xfrm>
            <a:prstGeom prst="straightConnector1">
              <a:avLst/>
            </a:prstGeom>
            <a:noFill/>
            <a:ln cap="flat" cmpd="sng" w="138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5" name="Google Shape;665;p53"/>
            <p:cNvCxnSpPr>
              <a:stCxn id="658" idx="3"/>
              <a:endCxn id="661" idx="1"/>
            </p:cNvCxnSpPr>
            <p:nvPr/>
          </p:nvCxnSpPr>
          <p:spPr>
            <a:xfrm>
              <a:off x="2469797" y="3505099"/>
              <a:ext cx="127200" cy="0"/>
            </a:xfrm>
            <a:prstGeom prst="straightConnector1">
              <a:avLst/>
            </a:prstGeom>
            <a:noFill/>
            <a:ln cap="flat" cmpd="sng" w="138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53"/>
            <p:cNvCxnSpPr>
              <a:stCxn id="658" idx="2"/>
              <a:endCxn id="659" idx="0"/>
            </p:cNvCxnSpPr>
            <p:nvPr/>
          </p:nvCxnSpPr>
          <p:spPr>
            <a:xfrm>
              <a:off x="2241197" y="3619399"/>
              <a:ext cx="0" cy="136800"/>
            </a:xfrm>
            <a:prstGeom prst="straightConnector1">
              <a:avLst/>
            </a:prstGeom>
            <a:noFill/>
            <a:ln cap="flat" cmpd="sng" w="138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7" name="Google Shape;667;p53"/>
            <p:cNvCxnSpPr>
              <a:stCxn id="662" idx="3"/>
              <a:endCxn id="659" idx="1"/>
            </p:cNvCxnSpPr>
            <p:nvPr/>
          </p:nvCxnSpPr>
          <p:spPr>
            <a:xfrm>
              <a:off x="1885488" y="3870514"/>
              <a:ext cx="127200" cy="0"/>
            </a:xfrm>
            <a:prstGeom prst="straightConnector1">
              <a:avLst/>
            </a:prstGeom>
            <a:noFill/>
            <a:ln cap="flat" cmpd="sng" w="138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53"/>
            <p:cNvCxnSpPr>
              <a:stCxn id="659" idx="3"/>
              <a:endCxn id="663" idx="1"/>
            </p:cNvCxnSpPr>
            <p:nvPr/>
          </p:nvCxnSpPr>
          <p:spPr>
            <a:xfrm>
              <a:off x="2469797" y="3870514"/>
              <a:ext cx="127200" cy="0"/>
            </a:xfrm>
            <a:prstGeom prst="straightConnector1">
              <a:avLst/>
            </a:prstGeom>
            <a:noFill/>
            <a:ln cap="flat" cmpd="sng" w="138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669" name="Google Shape;669;p53"/>
          <p:cNvCxnSpPr>
            <a:endCxn id="660" idx="1"/>
          </p:cNvCxnSpPr>
          <p:nvPr/>
        </p:nvCxnSpPr>
        <p:spPr>
          <a:xfrm flipH="1">
            <a:off x="441149" y="2628961"/>
            <a:ext cx="1401300" cy="719100"/>
          </a:xfrm>
          <a:prstGeom prst="bentConnector3">
            <a:avLst>
              <a:gd fmla="val 116993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54"/>
          <p:cNvSpPr txBox="1"/>
          <p:nvPr/>
        </p:nvSpPr>
        <p:spPr>
          <a:xfrm>
            <a:off x="1385850" y="1969050"/>
            <a:ext cx="63723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Performance Analyses and Expectations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675" name="Google Shape;675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1" name="Google Shape;681;p55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Propulsion Expectations</a:t>
            </a:r>
            <a:endParaRPr/>
          </a:p>
        </p:txBody>
      </p:sp>
      <p:grpSp>
        <p:nvGrpSpPr>
          <p:cNvPr id="682" name="Google Shape;682;p55"/>
          <p:cNvGrpSpPr/>
          <p:nvPr/>
        </p:nvGrpSpPr>
        <p:grpSpPr>
          <a:xfrm>
            <a:off x="594450" y="1566250"/>
            <a:ext cx="2472300" cy="531000"/>
            <a:chOff x="684900" y="2271600"/>
            <a:chExt cx="2472300" cy="531000"/>
          </a:xfrm>
        </p:grpSpPr>
        <p:sp>
          <p:nvSpPr>
            <p:cNvPr id="683" name="Google Shape;683;p55"/>
            <p:cNvSpPr/>
            <p:nvPr/>
          </p:nvSpPr>
          <p:spPr>
            <a:xfrm>
              <a:off x="684900" y="2271600"/>
              <a:ext cx="2472300" cy="53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55"/>
            <p:cNvSpPr txBox="1"/>
            <p:nvPr/>
          </p:nvSpPr>
          <p:spPr>
            <a:xfrm>
              <a:off x="684900" y="2306250"/>
              <a:ext cx="2472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 cruise speed: 5 kn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85" name="Google Shape;685;p55"/>
          <p:cNvGrpSpPr/>
          <p:nvPr/>
        </p:nvGrpSpPr>
        <p:grpSpPr>
          <a:xfrm>
            <a:off x="594450" y="3047725"/>
            <a:ext cx="2772375" cy="531000"/>
            <a:chOff x="5333100" y="2306250"/>
            <a:chExt cx="2772375" cy="531000"/>
          </a:xfrm>
        </p:grpSpPr>
        <p:sp>
          <p:nvSpPr>
            <p:cNvPr id="686" name="Google Shape;686;p55"/>
            <p:cNvSpPr/>
            <p:nvPr/>
          </p:nvSpPr>
          <p:spPr>
            <a:xfrm>
              <a:off x="5333100" y="2306250"/>
              <a:ext cx="2682000" cy="531000"/>
            </a:xfrm>
            <a:prstGeom prst="rect">
              <a:avLst/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55"/>
            <p:cNvSpPr txBox="1"/>
            <p:nvPr/>
          </p:nvSpPr>
          <p:spPr>
            <a:xfrm>
              <a:off x="5376075" y="2340900"/>
              <a:ext cx="2729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Target cruise speed: 2.5 kn</a:t>
              </a:r>
              <a:endParaRPr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88" name="Google Shape;688;p55"/>
          <p:cNvSpPr txBox="1"/>
          <p:nvPr/>
        </p:nvSpPr>
        <p:spPr>
          <a:xfrm>
            <a:off x="594450" y="970425"/>
            <a:ext cx="85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PDR: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9" name="Google Shape;689;p55"/>
          <p:cNvSpPr txBox="1"/>
          <p:nvPr/>
        </p:nvSpPr>
        <p:spPr>
          <a:xfrm>
            <a:off x="594450" y="2417250"/>
            <a:ext cx="85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DR: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0" name="Google Shape;690;p55"/>
          <p:cNvSpPr/>
          <p:nvPr/>
        </p:nvSpPr>
        <p:spPr>
          <a:xfrm>
            <a:off x="4168125" y="901675"/>
            <a:ext cx="4213800" cy="32010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5"/>
          <p:cNvSpPr txBox="1"/>
          <p:nvPr/>
        </p:nvSpPr>
        <p:spPr>
          <a:xfrm>
            <a:off x="4264575" y="1058425"/>
            <a:ext cx="40209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Hull Speed: </a:t>
            </a:r>
            <a:r>
              <a:rPr i="1"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Maximum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 a hull can reach before the bow wavelength equals the boat’s length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Very large increase in wave drag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L_WL is the waterline length in feet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_hull (3.2 ft.) = 2.4 kn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92" name="Google Shape;69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038" y="2350475"/>
            <a:ext cx="2589975" cy="595250"/>
          </a:xfrm>
          <a:prstGeom prst="rect">
            <a:avLst/>
          </a:prstGeom>
          <a:solidFill>
            <a:schemeClr val="dk2"/>
          </a:solidFill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8" name="Google Shape;698;p56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Propulsion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Expectations</a:t>
            </a:r>
            <a:endParaRPr/>
          </a:p>
        </p:txBody>
      </p:sp>
      <p:pic>
        <p:nvPicPr>
          <p:cNvPr id="699" name="Google Shape;69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78" y="746263"/>
            <a:ext cx="3535321" cy="26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56"/>
          <p:cNvSpPr txBox="1"/>
          <p:nvPr/>
        </p:nvSpPr>
        <p:spPr>
          <a:xfrm>
            <a:off x="141975" y="3381438"/>
            <a:ext cx="4964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Accounting for wave drag (2.5 to 5 kn)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8x increase (ideal) vs ~28x increase (real)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1" name="Google Shape;70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9393" y="888950"/>
            <a:ext cx="2014956" cy="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29212" y="1497050"/>
            <a:ext cx="3535325" cy="4185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3" name="Google Shape;703;p5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9363" y="1992696"/>
            <a:ext cx="3695024" cy="5405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5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74049" y="2630053"/>
            <a:ext cx="4645665" cy="6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0" name="Google Shape;710;p57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Propulsion Expectations</a:t>
            </a:r>
            <a:endParaRPr/>
          </a:p>
        </p:txBody>
      </p:sp>
      <p:pic>
        <p:nvPicPr>
          <p:cNvPr id="711" name="Google Shape;711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200" y="531012"/>
            <a:ext cx="4630751" cy="38303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2" name="Google Shape;712;p57"/>
          <p:cNvGrpSpPr/>
          <p:nvPr/>
        </p:nvGrpSpPr>
        <p:grpSpPr>
          <a:xfrm>
            <a:off x="3659374" y="3087140"/>
            <a:ext cx="1236233" cy="1103026"/>
            <a:chOff x="7329175" y="1755575"/>
            <a:chExt cx="1548000" cy="1381200"/>
          </a:xfrm>
        </p:grpSpPr>
        <p:sp>
          <p:nvSpPr>
            <p:cNvPr id="713" name="Google Shape;713;p57"/>
            <p:cNvSpPr/>
            <p:nvPr/>
          </p:nvSpPr>
          <p:spPr>
            <a:xfrm>
              <a:off x="7329175" y="1755575"/>
              <a:ext cx="1438200" cy="1381200"/>
            </a:xfrm>
            <a:prstGeom prst="rect">
              <a:avLst/>
            </a:prstGeom>
            <a:solidFill>
              <a:schemeClr val="lt2"/>
            </a:solidFill>
            <a:ln cap="flat" cmpd="sng" w="76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000" lIns="73000" spcFirstLastPara="1" rIns="73000" wrap="square" tIns="730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18"/>
            </a:p>
          </p:txBody>
        </p:sp>
        <p:sp>
          <p:nvSpPr>
            <p:cNvPr id="714" name="Google Shape;714;p57"/>
            <p:cNvSpPr txBox="1"/>
            <p:nvPr/>
          </p:nvSpPr>
          <p:spPr>
            <a:xfrm>
              <a:off x="7329175" y="1799675"/>
              <a:ext cx="15480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000" lIns="73000" spcFirstLastPara="1" rIns="73000" wrap="square" tIns="730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37">
                  <a:solidFill>
                    <a:schemeClr val="dk2"/>
                  </a:solidFill>
                </a:rPr>
                <a:t>10x Decrease in Ah required</a:t>
              </a:r>
              <a:endParaRPr sz="1437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37">
                  <a:solidFill>
                    <a:schemeClr val="dk2"/>
                  </a:solidFill>
                </a:rPr>
                <a:t>(ideal)  </a:t>
              </a:r>
              <a:endParaRPr sz="1437">
                <a:solidFill>
                  <a:schemeClr val="dk2"/>
                </a:solidFill>
              </a:endParaRPr>
            </a:p>
          </p:txBody>
        </p:sp>
      </p:grpSp>
      <p:sp>
        <p:nvSpPr>
          <p:cNvPr id="715" name="Google Shape;715;p57"/>
          <p:cNvSpPr txBox="1"/>
          <p:nvPr/>
        </p:nvSpPr>
        <p:spPr>
          <a:xfrm>
            <a:off x="5031750" y="580800"/>
            <a:ext cx="3832200" cy="37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graph: Power to motor to achieve cruise speed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between ideal and real model predictions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Bottom graph: Battery capacity required to achieve 5 hour range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‘motor range’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Ideal case, assuming propeller efficiency = 1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115 Ah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battery for 5 kn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b="1"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Ah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battery for 2.5 kn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</a:t>
            </a: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capacity for same distance traveled: 12 Ah total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1" name="Google Shape;721;p58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Heat Analysis</a:t>
            </a:r>
            <a:endParaRPr/>
          </a:p>
        </p:txBody>
      </p:sp>
      <p:sp>
        <p:nvSpPr>
          <p:cNvPr id="722" name="Google Shape;722;p58"/>
          <p:cNvSpPr txBox="1"/>
          <p:nvPr/>
        </p:nvSpPr>
        <p:spPr>
          <a:xfrm>
            <a:off x="125" y="348900"/>
            <a:ext cx="9144000" cy="22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Assumptions: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AQUABOT modeled as two hemispheres and a cylinder (a large curved object for external convection)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Small Jetson Orin fan forces internal convection slowly, comparable to flow over a flat plate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AQUABOT operating stagnant, at steady state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adiation n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eglected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wall layer is modeled as thin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Standard values for conductive coefficients of dense fiberglass and marine rubber/plastic coating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23" name="Google Shape;723;p58"/>
          <p:cNvPicPr preferRelativeResize="0"/>
          <p:nvPr/>
        </p:nvPicPr>
        <p:blipFill rotWithShape="1">
          <a:blip r:embed="rId3">
            <a:alphaModFix/>
          </a:blip>
          <a:srcRect b="80516" l="0" r="68524" t="0"/>
          <a:stretch/>
        </p:blipFill>
        <p:spPr>
          <a:xfrm>
            <a:off x="4822813" y="2740250"/>
            <a:ext cx="921400" cy="53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58"/>
          <p:cNvPicPr preferRelativeResize="0"/>
          <p:nvPr/>
        </p:nvPicPr>
        <p:blipFill rotWithShape="1">
          <a:blip r:embed="rId4">
            <a:alphaModFix/>
          </a:blip>
          <a:srcRect b="61551" l="0" r="39095" t="19341"/>
          <a:stretch/>
        </p:blipFill>
        <p:spPr>
          <a:xfrm>
            <a:off x="4822813" y="3418775"/>
            <a:ext cx="1260576" cy="393601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8"/>
          <p:cNvSpPr txBox="1"/>
          <p:nvPr/>
        </p:nvSpPr>
        <p:spPr>
          <a:xfrm>
            <a:off x="4008563" y="2626507"/>
            <a:ext cx="826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10000"/>
          </a:p>
        </p:txBody>
      </p:sp>
      <p:pic>
        <p:nvPicPr>
          <p:cNvPr id="726" name="Google Shape;726;p58"/>
          <p:cNvPicPr preferRelativeResize="0"/>
          <p:nvPr/>
        </p:nvPicPr>
        <p:blipFill rotWithShape="1">
          <a:blip r:embed="rId5">
            <a:alphaModFix/>
          </a:blip>
          <a:srcRect b="58380" l="0" r="47462" t="0"/>
          <a:stretch/>
        </p:blipFill>
        <p:spPr>
          <a:xfrm>
            <a:off x="4822816" y="3959900"/>
            <a:ext cx="1162600" cy="4983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7" name="Google Shape;727;p58"/>
          <p:cNvGrpSpPr/>
          <p:nvPr/>
        </p:nvGrpSpPr>
        <p:grpSpPr>
          <a:xfrm>
            <a:off x="7192533" y="3271250"/>
            <a:ext cx="1854600" cy="660000"/>
            <a:chOff x="2398500" y="3588350"/>
            <a:chExt cx="1854600" cy="660000"/>
          </a:xfrm>
        </p:grpSpPr>
        <p:sp>
          <p:nvSpPr>
            <p:cNvPr id="728" name="Google Shape;728;p58"/>
            <p:cNvSpPr/>
            <p:nvPr/>
          </p:nvSpPr>
          <p:spPr>
            <a:xfrm>
              <a:off x="2398500" y="3588350"/>
              <a:ext cx="1854600" cy="6600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29" name="Google Shape;729;p58"/>
            <p:cNvPicPr preferRelativeResize="0"/>
            <p:nvPr/>
          </p:nvPicPr>
          <p:blipFill rotWithShape="1">
            <a:blip r:embed="rId6">
              <a:alphaModFix/>
            </a:blip>
            <a:srcRect b="0" l="0" r="4626" t="0"/>
            <a:stretch/>
          </p:blipFill>
          <p:spPr>
            <a:xfrm>
              <a:off x="2461125" y="3652850"/>
              <a:ext cx="1728800" cy="531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30" name="Google Shape;730;p58"/>
          <p:cNvGrpSpPr/>
          <p:nvPr/>
        </p:nvGrpSpPr>
        <p:grpSpPr>
          <a:xfrm>
            <a:off x="6384082" y="3467241"/>
            <a:ext cx="474014" cy="300980"/>
            <a:chOff x="972873" y="3511397"/>
            <a:chExt cx="474014" cy="300980"/>
          </a:xfrm>
        </p:grpSpPr>
        <p:cxnSp>
          <p:nvCxnSpPr>
            <p:cNvPr id="731" name="Google Shape;731;p58"/>
            <p:cNvCxnSpPr/>
            <p:nvPr/>
          </p:nvCxnSpPr>
          <p:spPr>
            <a:xfrm>
              <a:off x="972873" y="3627379"/>
              <a:ext cx="416700" cy="0"/>
            </a:xfrm>
            <a:prstGeom prst="straightConnector1">
              <a:avLst/>
            </a:prstGeom>
            <a:noFill/>
            <a:ln cap="flat" cmpd="sng" w="292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2" name="Google Shape;732;p58"/>
            <p:cNvCxnSpPr/>
            <p:nvPr/>
          </p:nvCxnSpPr>
          <p:spPr>
            <a:xfrm rot="10800000">
              <a:off x="1277987" y="3511397"/>
              <a:ext cx="168900" cy="168900"/>
            </a:xfrm>
            <a:prstGeom prst="straightConnector1">
              <a:avLst/>
            </a:prstGeom>
            <a:noFill/>
            <a:ln cap="flat" cmpd="sng" w="292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3" name="Google Shape;733;p58"/>
            <p:cNvCxnSpPr/>
            <p:nvPr/>
          </p:nvCxnSpPr>
          <p:spPr>
            <a:xfrm flipH="1" rot="10800000">
              <a:off x="1293512" y="3662377"/>
              <a:ext cx="150000" cy="150000"/>
            </a:xfrm>
            <a:prstGeom prst="straightConnector1">
              <a:avLst/>
            </a:prstGeom>
            <a:noFill/>
            <a:ln cap="flat" cmpd="sng" w="292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4" name="Google Shape;734;p58"/>
            <p:cNvCxnSpPr/>
            <p:nvPr/>
          </p:nvCxnSpPr>
          <p:spPr>
            <a:xfrm>
              <a:off x="972873" y="3705672"/>
              <a:ext cx="416700" cy="0"/>
            </a:xfrm>
            <a:prstGeom prst="straightConnector1">
              <a:avLst/>
            </a:prstGeom>
            <a:noFill/>
            <a:ln cap="flat" cmpd="sng" w="292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35" name="Google Shape;735;p58"/>
          <p:cNvGrpSpPr/>
          <p:nvPr/>
        </p:nvGrpSpPr>
        <p:grpSpPr>
          <a:xfrm>
            <a:off x="3608333" y="3467241"/>
            <a:ext cx="474014" cy="300980"/>
            <a:chOff x="972873" y="3511397"/>
            <a:chExt cx="474014" cy="300980"/>
          </a:xfrm>
        </p:grpSpPr>
        <p:cxnSp>
          <p:nvCxnSpPr>
            <p:cNvPr id="736" name="Google Shape;736;p58"/>
            <p:cNvCxnSpPr/>
            <p:nvPr/>
          </p:nvCxnSpPr>
          <p:spPr>
            <a:xfrm>
              <a:off x="972873" y="3627379"/>
              <a:ext cx="416700" cy="0"/>
            </a:xfrm>
            <a:prstGeom prst="straightConnector1">
              <a:avLst/>
            </a:prstGeom>
            <a:noFill/>
            <a:ln cap="flat" cmpd="sng" w="292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7" name="Google Shape;737;p58"/>
            <p:cNvCxnSpPr/>
            <p:nvPr/>
          </p:nvCxnSpPr>
          <p:spPr>
            <a:xfrm rot="10800000">
              <a:off x="1277987" y="3511397"/>
              <a:ext cx="168900" cy="168900"/>
            </a:xfrm>
            <a:prstGeom prst="straightConnector1">
              <a:avLst/>
            </a:prstGeom>
            <a:noFill/>
            <a:ln cap="flat" cmpd="sng" w="292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" name="Google Shape;738;p58"/>
            <p:cNvCxnSpPr/>
            <p:nvPr/>
          </p:nvCxnSpPr>
          <p:spPr>
            <a:xfrm flipH="1" rot="10800000">
              <a:off x="1293512" y="3662377"/>
              <a:ext cx="150000" cy="150000"/>
            </a:xfrm>
            <a:prstGeom prst="straightConnector1">
              <a:avLst/>
            </a:prstGeom>
            <a:noFill/>
            <a:ln cap="flat" cmpd="sng" w="292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9" name="Google Shape;739;p58"/>
            <p:cNvCxnSpPr/>
            <p:nvPr/>
          </p:nvCxnSpPr>
          <p:spPr>
            <a:xfrm>
              <a:off x="972873" y="3705672"/>
              <a:ext cx="416700" cy="0"/>
            </a:xfrm>
            <a:prstGeom prst="straightConnector1">
              <a:avLst/>
            </a:prstGeom>
            <a:noFill/>
            <a:ln cap="flat" cmpd="sng" w="292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740" name="Google Shape;740;p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8750" y="2810626"/>
            <a:ext cx="3139629" cy="1614225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8"/>
          <p:cNvSpPr txBox="1"/>
          <p:nvPr/>
        </p:nvSpPr>
        <p:spPr>
          <a:xfrm>
            <a:off x="617525" y="4424850"/>
            <a:ext cx="25548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39"/>
              </a:spcBef>
              <a:spcAft>
                <a:spcPts val="0"/>
              </a:spcAft>
              <a:buNone/>
            </a:pPr>
            <a:r>
              <a:rPr i="1" lang="en" sz="84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of AQUABOT Hull A</a:t>
            </a:r>
            <a:r>
              <a:rPr i="1" lang="en" sz="84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pproximated</a:t>
            </a:r>
            <a:r>
              <a:rPr i="1" lang="en" sz="84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Geometry</a:t>
            </a:r>
            <a:endParaRPr i="1" sz="848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7" name="Google Shape;747;p59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Heat Analysis</a:t>
            </a:r>
            <a:endParaRPr/>
          </a:p>
        </p:txBody>
      </p:sp>
      <p:pic>
        <p:nvPicPr>
          <p:cNvPr id="748" name="Google Shape;748;p59"/>
          <p:cNvPicPr preferRelativeResize="0"/>
          <p:nvPr/>
        </p:nvPicPr>
        <p:blipFill rotWithShape="1">
          <a:blip r:embed="rId3">
            <a:alphaModFix/>
          </a:blip>
          <a:srcRect b="21569" l="0" r="0" t="61692"/>
          <a:stretch/>
        </p:blipFill>
        <p:spPr>
          <a:xfrm>
            <a:off x="629734" y="3792093"/>
            <a:ext cx="2248390" cy="374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59"/>
          <p:cNvPicPr preferRelativeResize="0"/>
          <p:nvPr/>
        </p:nvPicPr>
        <p:blipFill rotWithShape="1">
          <a:blip r:embed="rId3">
            <a:alphaModFix/>
          </a:blip>
          <a:srcRect b="4779" l="0" r="44469" t="82007"/>
          <a:stretch/>
        </p:blipFill>
        <p:spPr>
          <a:xfrm>
            <a:off x="629734" y="4292244"/>
            <a:ext cx="1353647" cy="320557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59"/>
          <p:cNvSpPr txBox="1"/>
          <p:nvPr/>
        </p:nvSpPr>
        <p:spPr>
          <a:xfrm>
            <a:off x="217319" y="3420569"/>
            <a:ext cx="2977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39"/>
              </a:spcBef>
              <a:spcAft>
                <a:spcPts val="0"/>
              </a:spcAft>
              <a:buNone/>
            </a:pPr>
            <a:r>
              <a:rPr i="1" lang="en" sz="84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 with Heat Transfer Parameters and Calculated Values</a:t>
            </a:r>
            <a:endParaRPr i="1" sz="848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59"/>
          <p:cNvSpPr txBox="1"/>
          <p:nvPr/>
        </p:nvSpPr>
        <p:spPr>
          <a:xfrm>
            <a:off x="-47775" y="3340959"/>
            <a:ext cx="728400" cy="15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0525" lIns="80525" spcFirstLastPara="1" rIns="80525" wrap="square" tIns="805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82"/>
              </a:spcBef>
              <a:spcAft>
                <a:spcPts val="0"/>
              </a:spcAft>
              <a:buNone/>
            </a:pPr>
            <a:r>
              <a:rPr lang="en" sz="881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 sz="8810"/>
          </a:p>
        </p:txBody>
      </p:sp>
      <p:grpSp>
        <p:nvGrpSpPr>
          <p:cNvPr id="752" name="Google Shape;752;p59"/>
          <p:cNvGrpSpPr/>
          <p:nvPr/>
        </p:nvGrpSpPr>
        <p:grpSpPr>
          <a:xfrm>
            <a:off x="4935925" y="1338627"/>
            <a:ext cx="3913135" cy="530979"/>
            <a:chOff x="5878311" y="3428996"/>
            <a:chExt cx="3208014" cy="435300"/>
          </a:xfrm>
        </p:grpSpPr>
        <p:pic>
          <p:nvPicPr>
            <p:cNvPr id="753" name="Google Shape;753;p59"/>
            <p:cNvPicPr preferRelativeResize="0"/>
            <p:nvPr/>
          </p:nvPicPr>
          <p:blipFill rotWithShape="1">
            <a:blip r:embed="rId4">
              <a:alphaModFix/>
            </a:blip>
            <a:srcRect b="8881" l="20192" r="43660" t="97527"/>
            <a:stretch/>
          </p:blipFill>
          <p:spPr>
            <a:xfrm flipH="1" rot="10800000">
              <a:off x="5878350" y="3442676"/>
              <a:ext cx="3207975" cy="4079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4" name="Google Shape;754;p59"/>
            <p:cNvSpPr/>
            <p:nvPr/>
          </p:nvSpPr>
          <p:spPr>
            <a:xfrm>
              <a:off x="5878311" y="3428996"/>
              <a:ext cx="3207900" cy="435300"/>
            </a:xfrm>
            <a:prstGeom prst="rect">
              <a:avLst/>
            </a:prstGeom>
            <a:noFill/>
            <a:ln cap="flat" cmpd="sng" w="929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11525" lIns="111525" spcFirstLastPara="1" rIns="111525" wrap="square" tIns="1115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8"/>
            </a:p>
          </p:txBody>
        </p:sp>
      </p:grpSp>
      <p:sp>
        <p:nvSpPr>
          <p:cNvPr id="755" name="Google Shape;755;p59"/>
          <p:cNvSpPr txBox="1"/>
          <p:nvPr/>
        </p:nvSpPr>
        <p:spPr>
          <a:xfrm>
            <a:off x="3224524" y="2082454"/>
            <a:ext cx="5534100" cy="15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convection coefficient dominates behavior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 testing with cooling fan is required for more accurate estimation of internal flow speed 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final temperature is towards high end of electronics operating threshold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6" name="Google Shape;756;p59"/>
          <p:cNvSpPr txBox="1"/>
          <p:nvPr/>
        </p:nvSpPr>
        <p:spPr>
          <a:xfrm>
            <a:off x="3062742" y="1120384"/>
            <a:ext cx="22827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Conservative Estimate:</a:t>
            </a:r>
            <a:endParaRPr/>
          </a:p>
        </p:txBody>
      </p:sp>
      <p:pic>
        <p:nvPicPr>
          <p:cNvPr id="757" name="Google Shape;757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325" y="411350"/>
            <a:ext cx="2792500" cy="3066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3" name="Google Shape;763;p60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GUI and Ground Station</a:t>
            </a: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Data Expectations</a:t>
            </a:r>
            <a:endParaRPr/>
          </a:p>
        </p:txBody>
      </p:sp>
      <p:pic>
        <p:nvPicPr>
          <p:cNvPr id="764" name="Google Shape;76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471" y="1325850"/>
            <a:ext cx="4389777" cy="224515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60"/>
          <p:cNvSpPr txBox="1"/>
          <p:nvPr/>
        </p:nvSpPr>
        <p:spPr>
          <a:xfrm>
            <a:off x="68600" y="583350"/>
            <a:ext cx="4389900" cy="3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Data</a:t>
            </a: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data syncs every 10 seconds (minimizes bandwidth used for data transmission)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Temperature and GPS data integrated to create GEO-overlay for data visualization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CSV file viewable to show location-based data for temperature, pH, and salinity.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Saved onboard and on ground station GUI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Data:</a:t>
            </a:r>
            <a:endParaRPr b="1" sz="2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Saved onboard and on ground station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Livestream on GUI dashboard, with saved footage accessible 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1"/>
          <p:cNvSpPr txBox="1"/>
          <p:nvPr/>
        </p:nvSpPr>
        <p:spPr>
          <a:xfrm>
            <a:off x="2152350" y="1969050"/>
            <a:ext cx="48393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Verification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71" name="Google Shape;771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2"/>
          <p:cNvSpPr txBox="1"/>
          <p:nvPr>
            <p:ph idx="4294967295" type="title"/>
          </p:nvPr>
        </p:nvSpPr>
        <p:spPr>
          <a:xfrm>
            <a:off x="970475" y="200525"/>
            <a:ext cx="66327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Verification Overview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777" name="Google Shape;777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8" name="Google Shape;778;p62"/>
          <p:cNvSpPr/>
          <p:nvPr/>
        </p:nvSpPr>
        <p:spPr>
          <a:xfrm>
            <a:off x="352250" y="963850"/>
            <a:ext cx="2512500" cy="3375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Step 1: Verify Individual Function of All Electronics: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286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Starlink✅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286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ESP32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286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Jetson Nano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286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Sensors ☑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286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IMX219 (Camera)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286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Motors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2286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-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Servos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9" name="Google Shape;779;p62"/>
          <p:cNvSpPr/>
          <p:nvPr/>
        </p:nvSpPr>
        <p:spPr>
          <a:xfrm>
            <a:off x="3315750" y="963850"/>
            <a:ext cx="2512500" cy="3375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2: Verify Individual Function of All Electronics Inside Hull &amp; Hull Qualities: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5.1.3 Stability: Each drone shall self-right and maintain operational orientation.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5.3.2 Waterproofing: Each drone shall meet IP68 ingress protection standards. Components shall be tested in 1.5 m depths to ensure compliance.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0" name="Google Shape;780;p62"/>
          <p:cNvSpPr/>
          <p:nvPr/>
        </p:nvSpPr>
        <p:spPr>
          <a:xfrm>
            <a:off x="6279250" y="964400"/>
            <a:ext cx="2512500" cy="3375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Step 3: Verify Swarm Capabilities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5.1.2 Swarm Control: All drones shall self-right and enter operational state in 60s.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5.4.1 Autonomy &amp; Control: Each drone shall support autonomous navigation and remote operator control.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5.1.4 Speed: Each drone shall sustain a threshold speed of 2.5 kts in calm water conditions, with an objective speed of 5 kts.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81" name="Google Shape;781;p62"/>
          <p:cNvSpPr txBox="1"/>
          <p:nvPr/>
        </p:nvSpPr>
        <p:spPr>
          <a:xfrm>
            <a:off x="352250" y="43496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✅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Fully Verified, ☑ = Partially Verified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7" name="Google Shape;787;p63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Detailed Verification Plan</a:t>
            </a:r>
            <a:endParaRPr/>
          </a:p>
        </p:txBody>
      </p:sp>
      <p:sp>
        <p:nvSpPr>
          <p:cNvPr id="788" name="Google Shape;788;p63"/>
          <p:cNvSpPr txBox="1"/>
          <p:nvPr/>
        </p:nvSpPr>
        <p:spPr>
          <a:xfrm>
            <a:off x="387050" y="531000"/>
            <a:ext cx="8205600" cy="3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5.4.2 Verification Procedure: Mesh Network Relay Test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Verify that the ESP-NOW Managed Flooding Mesh successfully routes telemetry from a "Follower" drone to the "Leader" drone via an intermediate "Relay" drone when a direct link is unavailable.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Verified: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5.4.2 Inter-Drone Communication (Multi-hop capability).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 Criteria: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Leader receives telemetry packets from Follower with a latency of &lt; 200 ms despite no direct Line-of-Sight (LOS).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789" name="Google Shape;789;p63"/>
          <p:cNvGraphicFramePr/>
          <p:nvPr/>
        </p:nvGraphicFramePr>
        <p:xfrm>
          <a:off x="422950" y="1999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{9E53EF30-7D4B-4DB2-9377-FE4B760E88BB}</a:tableStyleId>
              </a:tblPr>
              <a:tblGrid>
                <a:gridCol w="390625"/>
                <a:gridCol w="3676275"/>
                <a:gridCol w="3484050"/>
                <a:gridCol w="582850"/>
              </a:tblGrid>
              <a:tr h="34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Step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Action</a:t>
                      </a:r>
                      <a:endParaRPr sz="11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Expected Result</a:t>
                      </a:r>
                      <a:endParaRPr sz="1100">
                        <a:solidFill>
                          <a:srgbClr val="FFFFF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Pass/Fail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35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Power on all 3 nodes (Leader, Relay, Follower) in close proximity (1m).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Leader Serial Monitor shows telemetry from "Follower" (Direct Link). RSSI &gt; -50 dBm.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76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Move "Follower" node to a distance of 100m OR place inside a metal RF shield, leaving only the "Relay" node in range.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 link is broken. Leader temporarily stops receiving Follower data.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35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3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Position "Relay" node at the midpoint (150m) between Leader and shielded Follower.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Mesh Logic activates. Leader resumes receiving telemetry from Follower.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4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Inspect the received packet header on the Leader.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Packet shows Hop_Count &gt;= 1 (indicating it passed through a relay).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34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5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Measure Latency (Time Sent vs. Time Received).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Latency remains &lt; 200 ms for the hopped packet.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5" name="Google Shape;795;p64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Detailed Verification Plan</a:t>
            </a:r>
            <a:endParaRPr/>
          </a:p>
        </p:txBody>
      </p:sp>
      <p:sp>
        <p:nvSpPr>
          <p:cNvPr id="796" name="Google Shape;796;p64"/>
          <p:cNvSpPr txBox="1"/>
          <p:nvPr/>
        </p:nvSpPr>
        <p:spPr>
          <a:xfrm>
            <a:off x="387050" y="531000"/>
            <a:ext cx="8205600" cy="3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5.1.6 Verification Procedure: Data Collection Test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Verify that all temperature, salinity, and pH data collected is reliably saved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onboard and transmitted to ground station, as well as camera footage being at 1080p, 30 fps.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Verified: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5.1.6 Data Collection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 Criteria: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 data collected is accurate and adequately displayed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797" name="Google Shape;797;p64"/>
          <p:cNvGraphicFramePr/>
          <p:nvPr/>
        </p:nvGraphicFramePr>
        <p:xfrm>
          <a:off x="422950" y="1847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{9E53EF30-7D4B-4DB2-9377-FE4B760E88BB}</a:tableStyleId>
              </a:tblPr>
              <a:tblGrid>
                <a:gridCol w="404325"/>
                <a:gridCol w="3662575"/>
                <a:gridCol w="3484050"/>
                <a:gridCol w="582850"/>
              </a:tblGrid>
              <a:tr h="34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Step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Action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Pass/Fail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35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all three sensors in a liquid of known qualities. (Not transmitted via Starlink)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collected matches known values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Retake data with transmission to GUI via Starlink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GUI data matches known values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466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3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Connect camera to GUI and onboard storage, inspect saved data.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Saved data matches and is accessible via GUI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35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4</a:t>
                      </a:r>
                      <a:endParaRPr/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View stored data on ESP32 via connection to monitor and stored data on GUI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Stored data demonstrates equivalent values per timestamp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5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and modify GUI for usability and interpretation of data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GEO-overlay accurately displays data in a user-friendly manner, all data is easily accessible. Camera live stream and review is functional.</a:t>
                      </a:r>
                      <a:endParaRPr sz="11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3" name="Google Shape;803;p65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Detailed Verification Plan</a:t>
            </a:r>
            <a:endParaRPr/>
          </a:p>
        </p:txBody>
      </p:sp>
      <p:sp>
        <p:nvSpPr>
          <p:cNvPr id="804" name="Google Shape;804;p65"/>
          <p:cNvSpPr txBox="1"/>
          <p:nvPr/>
        </p:nvSpPr>
        <p:spPr>
          <a:xfrm>
            <a:off x="387050" y="405825"/>
            <a:ext cx="8205600" cy="38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</a:t>
            </a: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Verification Procedure: Swarm Control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communicate position data and maintain formation within the specified timing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constraints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(&lt;1s latency &amp; &gt;= 1Hz update)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 Verified: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5.4.6 Swarm Control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 Criteria: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swarm shall maintain coordinated network behavior through a leader-follower model executed via Jetson Mission Computer and MQTT topics. Each drone shall publish and subscribe to swarm state messages at ≥ 1 Hz with &lt; 1 s latency.</a:t>
            </a: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805" name="Google Shape;805;p65"/>
          <p:cNvGraphicFramePr/>
          <p:nvPr/>
        </p:nvGraphicFramePr>
        <p:xfrm>
          <a:off x="422950" y="18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{9E53EF30-7D4B-4DB2-9377-FE4B760E88BB}</a:tableStyleId>
              </a:tblPr>
              <a:tblGrid>
                <a:gridCol w="390625"/>
                <a:gridCol w="3676275"/>
                <a:gridCol w="3484050"/>
                <a:gridCol w="582850"/>
              </a:tblGrid>
              <a:tr h="34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Step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Action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</a:rPr>
                        <a:t>Pass/Fail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35685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56854"/>
                    </a:solidFill>
                  </a:tcPr>
                </a:tc>
              </a:tr>
              <a:tr h="35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1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Initialize Swarm Network: </a:t>
                      </a:r>
                      <a:r>
                        <a:rPr lang="en" sz="10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Each drone connects to the MQTT broker, and verifies communication with the Jetson Nano.</a:t>
                      </a:r>
                      <a:endParaRPr sz="10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Ground station receives communication from both Drone IDs via MQTT; Link Quality &gt; 50%</a:t>
                      </a:r>
                      <a:endParaRPr sz="9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2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Establish Leader-Follower Roles: </a:t>
                      </a:r>
                      <a:r>
                        <a:rPr lang="en" sz="10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 leader drone publishes its state and navigation cues, while follower drones sync.</a:t>
                      </a:r>
                      <a:endParaRPr sz="10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Follower drones successfully identify the Leader ID, switch to </a:t>
                      </a:r>
                      <a:r>
                        <a:rPr i="1"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following</a:t>
                      </a: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state, and begin mirroring the Leader’s heading and velocity in 1s or less.</a:t>
                      </a:r>
                      <a:endParaRPr sz="9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559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3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Exchange Swarm State Messages: All drones publish and subscribe to swarm state topics at ≥1 Hz, ensuring message latency stays under 1 s.</a:t>
                      </a:r>
                      <a:endParaRPr sz="10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Telemetry logs confirm that packets form every Drone ID appear in the swarm/state topic at intervals of &lt;= 1s (&gt;= 1Hz). Timestamp shows the delay between </a:t>
                      </a:r>
                      <a:r>
                        <a:rPr i="1"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sent</a:t>
                      </a: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</a:t>
                      </a:r>
                      <a:r>
                        <a:rPr i="1"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received</a:t>
                      </a: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time is consistently less than 1s.</a:t>
                      </a:r>
                      <a:endParaRPr sz="9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56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4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Coordinate Navigation: Using GPS data, each drone adjusts its path to maintain formation and avoid collisions while following trajectory.</a:t>
                      </a:r>
                      <a:endParaRPr sz="10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Follower drones autonomously </a:t>
                      </a: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adjust</a:t>
                      </a: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motor thrust/yaw to maintain target separation distance from the Leader. Visual observation and GPS tracks confirm drones move in parallel paths </a:t>
                      </a:r>
                      <a:r>
                        <a:rPr b="1"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without</a:t>
                      </a: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colliding.</a:t>
                      </a:r>
                      <a:endParaRPr sz="9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F8F9"/>
                    </a:solidFill>
                  </a:tcPr>
                </a:tc>
              </a:tr>
              <a:tr h="3432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1F1F1F"/>
                          </a:solidFill>
                        </a:rPr>
                        <a:t>5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Collect Data: Each drone gathers environmental data and publishes it to the swarm network for processing.</a:t>
                      </a:r>
                      <a:endParaRPr sz="10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" sz="900">
                          <a:solidFill>
                            <a:srgbClr val="1F1F1F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Ground station compiles a unified dataset containing sensor readings from all distinct Drone IDs. The aggregated file shows no data gaps larger than 3 seconds and timestamps are synchronized</a:t>
                      </a:r>
                      <a:endParaRPr sz="900">
                        <a:solidFill>
                          <a:srgbClr val="1F1F1F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☐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19050" marB="19050" marR="18275" marL="18275" anchor="ctr">
                    <a:lnL cap="flat" cmpd="sng" w="69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F6F8F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284E3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66"/>
          <p:cNvSpPr txBox="1"/>
          <p:nvPr/>
        </p:nvSpPr>
        <p:spPr>
          <a:xfrm>
            <a:off x="2152350" y="1969050"/>
            <a:ext cx="48393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Risk Analysis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1" name="Google Shape;811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7"/>
          <p:cNvSpPr txBox="1"/>
          <p:nvPr>
            <p:ph idx="4294967295" type="title"/>
          </p:nvPr>
        </p:nvSpPr>
        <p:spPr>
          <a:xfrm>
            <a:off x="1358875" y="390775"/>
            <a:ext cx="66327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Risk Analysis 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17" name="Google Shape;817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818" name="Google Shape;818;p67"/>
          <p:cNvGraphicFramePr/>
          <p:nvPr/>
        </p:nvGraphicFramePr>
        <p:xfrm>
          <a:off x="219835" y="9329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{A511FDA9-33DF-425A-A21E-DB2D3CB7132A}</a:tableStyleId>
              </a:tblPr>
              <a:tblGrid>
                <a:gridCol w="515650"/>
                <a:gridCol w="382850"/>
                <a:gridCol w="494425"/>
                <a:gridCol w="515050"/>
                <a:gridCol w="531300"/>
                <a:gridCol w="484500"/>
                <a:gridCol w="519050"/>
              </a:tblGrid>
              <a:tr h="311275">
                <a:tc rowSpan="5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Impact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808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R002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R003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R001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9092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2780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R004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R005</a:t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280775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163575"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100"/>
                    </a:p>
                  </a:txBody>
                  <a:tcPr marT="9525" marB="45725" marR="9525" marL="95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6300">
                <a:tc gridSpan="2" vMerge="1"/>
                <a:tc hMerge="1" vMerge="1"/>
                <a:tc gridSpan="5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Likelihood</a:t>
                      </a:r>
                      <a:endParaRPr sz="1100"/>
                    </a:p>
                  </a:txBody>
                  <a:tcPr marT="9525" marB="45725" marR="9525" marL="9525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819" name="Google Shape;819;p67"/>
          <p:cNvGraphicFramePr/>
          <p:nvPr/>
        </p:nvGraphicFramePr>
        <p:xfrm>
          <a:off x="1500940" y="29632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{A511FDA9-33DF-425A-A21E-DB2D3CB7132A}</a:tableStyleId>
              </a:tblPr>
              <a:tblGrid>
                <a:gridCol w="1080850"/>
                <a:gridCol w="1080850"/>
              </a:tblGrid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Impact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Likelihood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7F7F7F"/>
                    </a:solidFill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5 - Catastrophic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5 - Near Certainty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4 - Major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4 - Highly Likely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3 - Moderate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3 - Likely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24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2 - Minor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2 - Somewhat Likely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17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1 - Insignificant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/>
                        <a:t>1 - Not Likely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0" name="Google Shape;820;p67"/>
          <p:cNvGraphicFramePr/>
          <p:nvPr/>
        </p:nvGraphicFramePr>
        <p:xfrm>
          <a:off x="219832" y="29632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{A511FDA9-33DF-425A-A21E-DB2D3CB7132A}</a:tableStyleId>
              </a:tblPr>
              <a:tblGrid>
                <a:gridCol w="382900"/>
                <a:gridCol w="744175"/>
              </a:tblGrid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>
                          <a:solidFill>
                            <a:srgbClr val="000000"/>
                          </a:solidFill>
                        </a:rPr>
                        <a:t>High Risk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Moderate Risk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D8D8D8"/>
                    </a:solidFill>
                  </a:tcPr>
                </a:tc>
              </a:tr>
              <a:tr h="446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Low Risk</a:t>
                      </a:r>
                      <a:endParaRPr sz="1200"/>
                    </a:p>
                  </a:txBody>
                  <a:tcPr marT="45725" marB="45725" marR="91450" marL="9145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1" name="Google Shape;821;p67"/>
          <p:cNvGraphicFramePr/>
          <p:nvPr/>
        </p:nvGraphicFramePr>
        <p:xfrm>
          <a:off x="3881236" y="119637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{A511FDA9-33DF-425A-A21E-DB2D3CB7132A}</a:tableStyleId>
              </a:tblPr>
              <a:tblGrid>
                <a:gridCol w="645475"/>
                <a:gridCol w="3346250"/>
                <a:gridCol w="919500"/>
              </a:tblGrid>
              <a:tr h="3266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/>
                    </a:p>
                  </a:txBody>
                  <a:tcPr marT="9525" marB="45725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Risk Description</a:t>
                      </a:r>
                      <a:endParaRPr/>
                    </a:p>
                  </a:txBody>
                  <a:tcPr marT="9525" marB="45725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Severity</a:t>
                      </a:r>
                      <a:endParaRPr b="1"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(L x I)</a:t>
                      </a:r>
                      <a:endParaRPr/>
                    </a:p>
                  </a:txBody>
                  <a:tcPr marT="9525" marB="45725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R001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Integrating all software components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16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  <a:tr h="45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R002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Hull fragility due to modification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20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R003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Lack of software knowledge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426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R004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Assessing capabilities of smaller drones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</a:tr>
              <a:tr h="4545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R005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"/>
                        <a:t>Modifying </a:t>
                      </a:r>
                      <a:r>
                        <a:rPr lang="en"/>
                        <a:t>pre-manufactured</a:t>
                      </a:r>
                      <a:r>
                        <a:rPr lang="en"/>
                        <a:t> drones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9525" marB="45725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68"/>
          <p:cNvSpPr txBox="1"/>
          <p:nvPr>
            <p:ph idx="4294967295" type="title"/>
          </p:nvPr>
        </p:nvSpPr>
        <p:spPr>
          <a:xfrm>
            <a:off x="1358875" y="390775"/>
            <a:ext cx="66327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Risk Analysis: Mitigation Plan 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7" name="Google Shape;827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8" name="Google Shape;828;p68"/>
          <p:cNvSpPr txBox="1"/>
          <p:nvPr/>
        </p:nvSpPr>
        <p:spPr>
          <a:xfrm>
            <a:off x="207400" y="907700"/>
            <a:ext cx="87654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R001 (high): Integrating all software components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Consult with experts and use university resources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 out where problems lie early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Plenty of tests to ensure successful results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lphaLcPeriod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Correct input-output mapping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R002 (medium): Hull fragility due to modification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Talk to Eddie’s Marine Equipment to learn correct modification methods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Investigate alternative mounting solutions (no hull modification)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 isolated hull testing post-modifications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R003 (medium): Lack of software knowledge (we don’t know what we don’t know)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of AI as a guide to find surface level flaws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AutoNum type="arabicPeriod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Consult with experts and use university resources to further improve/ final check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69"/>
          <p:cNvSpPr txBox="1"/>
          <p:nvPr>
            <p:ph idx="4294967295" type="title"/>
          </p:nvPr>
        </p:nvSpPr>
        <p:spPr>
          <a:xfrm>
            <a:off x="1585200" y="1834200"/>
            <a:ext cx="5973600" cy="14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Project Status &amp; Plan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34" name="Google Shape;834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0"/>
          <p:cNvSpPr txBox="1"/>
          <p:nvPr>
            <p:ph idx="4294967295" type="title"/>
          </p:nvPr>
        </p:nvSpPr>
        <p:spPr>
          <a:xfrm>
            <a:off x="371850" y="2"/>
            <a:ext cx="8400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PERT Chart</a:t>
            </a:r>
            <a:endParaRPr i="0" sz="24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0" name="Google Shape;840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41" name="Google Shape;841;p70" title="CDR PERT Chart (1).jpeg"/>
          <p:cNvPicPr preferRelativeResize="0"/>
          <p:nvPr/>
        </p:nvPicPr>
        <p:blipFill rotWithShape="1">
          <a:blip r:embed="rId3">
            <a:alphaModFix/>
          </a:blip>
          <a:srcRect b="2486" l="0" r="0" t="2638"/>
          <a:stretch/>
        </p:blipFill>
        <p:spPr>
          <a:xfrm>
            <a:off x="137550" y="449550"/>
            <a:ext cx="8868900" cy="3975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1"/>
          <p:cNvSpPr txBox="1"/>
          <p:nvPr>
            <p:ph idx="4294967295" type="title"/>
          </p:nvPr>
        </p:nvSpPr>
        <p:spPr>
          <a:xfrm>
            <a:off x="49225" y="1940554"/>
            <a:ext cx="91440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Critical Design Element 1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7" name="Google Shape;847;p7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2"/>
          <p:cNvSpPr/>
          <p:nvPr/>
        </p:nvSpPr>
        <p:spPr>
          <a:xfrm>
            <a:off x="4609958" y="2895550"/>
            <a:ext cx="3849900" cy="14967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72"/>
          <p:cNvSpPr/>
          <p:nvPr/>
        </p:nvSpPr>
        <p:spPr>
          <a:xfrm>
            <a:off x="4617962" y="1230650"/>
            <a:ext cx="3834000" cy="1638600"/>
          </a:xfrm>
          <a:prstGeom prst="rect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72"/>
          <p:cNvSpPr txBox="1"/>
          <p:nvPr/>
        </p:nvSpPr>
        <p:spPr>
          <a:xfrm>
            <a:off x="684150" y="124736"/>
            <a:ext cx="77757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Critical Design Element (CDE-1)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55" name="Google Shape;855;p72"/>
          <p:cNvSpPr txBox="1"/>
          <p:nvPr/>
        </p:nvSpPr>
        <p:spPr>
          <a:xfrm>
            <a:off x="684150" y="598250"/>
            <a:ext cx="7775700" cy="528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83"/>
              <a:buNone/>
            </a:pPr>
            <a:r>
              <a:rPr lang="en" sz="1505">
                <a:latin typeface="Times"/>
                <a:ea typeface="Times"/>
                <a:cs typeface="Times"/>
                <a:sym typeface="Times"/>
              </a:rPr>
              <a:t>CDE1 demonstrates reliable two-way data communication between AQUABOT and the ground GUI via Starlink/Wi-Fi, enabling both real-time data transmission and remote command</a:t>
            </a:r>
            <a:r>
              <a:rPr lang="en" sz="1252">
                <a:latin typeface="Times"/>
                <a:ea typeface="Times"/>
                <a:cs typeface="Times"/>
                <a:sym typeface="Times"/>
              </a:rPr>
              <a:t>.</a:t>
            </a:r>
            <a:endParaRPr sz="1252">
              <a:solidFill>
                <a:srgbClr val="595959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56" name="Google Shape;85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0925" y="1273887"/>
            <a:ext cx="3720526" cy="1542672"/>
          </a:xfrm>
          <a:prstGeom prst="rect">
            <a:avLst/>
          </a:prstGeom>
          <a:noFill/>
          <a:ln>
            <a:noFill/>
          </a:ln>
          <a:effectLst>
            <a:outerShdw blurRad="51467" rotWithShape="0" algn="bl" dir="5400000" dist="17156">
              <a:srgbClr val="000000">
                <a:alpha val="50000"/>
              </a:srgbClr>
            </a:outerShdw>
          </a:effectLst>
        </p:spPr>
      </p:pic>
      <p:sp>
        <p:nvSpPr>
          <p:cNvPr id="857" name="Google Shape;857;p7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8" name="Google Shape;858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0925" y="2957221"/>
            <a:ext cx="3720522" cy="1395199"/>
          </a:xfrm>
          <a:prstGeom prst="rect">
            <a:avLst/>
          </a:prstGeom>
          <a:noFill/>
          <a:ln>
            <a:noFill/>
          </a:ln>
        </p:spPr>
      </p:pic>
      <p:sp>
        <p:nvSpPr>
          <p:cNvPr id="859" name="Google Shape;859;p72"/>
          <p:cNvSpPr/>
          <p:nvPr/>
        </p:nvSpPr>
        <p:spPr>
          <a:xfrm>
            <a:off x="4008800" y="2159163"/>
            <a:ext cx="362700" cy="119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72"/>
          <p:cNvSpPr txBox="1"/>
          <p:nvPr/>
        </p:nvSpPr>
        <p:spPr>
          <a:xfrm>
            <a:off x="684150" y="1243275"/>
            <a:ext cx="3025200" cy="3118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✅ </a:t>
            </a:r>
            <a:r>
              <a:rPr b="1" lang="en" sz="1100">
                <a:solidFill>
                  <a:schemeClr val="lt1"/>
                </a:solidFill>
              </a:rPr>
              <a:t>CDE1 Verified</a:t>
            </a:r>
            <a:r>
              <a:rPr lang="en" sz="1100">
                <a:solidFill>
                  <a:schemeClr val="lt1"/>
                </a:solidFill>
              </a:rPr>
              <a:t>: Demonstrated reliable two-way data communication via Starlink uplink and GUI dashboard.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Replaced GoPro Hero 7 Black with IMX219</a:t>
            </a:r>
            <a:endParaRPr sz="1100">
              <a:solidFill>
                <a:schemeClr val="lt1"/>
              </a:solidFill>
            </a:endParaRPr>
          </a:p>
          <a:p>
            <a:pPr indent="-29845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Lower power</a:t>
            </a:r>
            <a:endParaRPr sz="1100">
              <a:solidFill>
                <a:schemeClr val="lt1"/>
              </a:solidFill>
            </a:endParaRPr>
          </a:p>
          <a:p>
            <a:pPr indent="-29845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Lower latency</a:t>
            </a:r>
            <a:endParaRPr sz="1100">
              <a:solidFill>
                <a:schemeClr val="lt1"/>
              </a:solidFill>
            </a:endParaRPr>
          </a:p>
          <a:p>
            <a:pPr indent="-29845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CSI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en" sz="1100">
                <a:solidFill>
                  <a:schemeClr val="lt1"/>
                </a:solidFill>
              </a:rPr>
              <a:t>Removed Geo Overlay, will be integrated later due to time constraints</a:t>
            </a:r>
            <a:endParaRPr sz="1100">
              <a:solidFill>
                <a:schemeClr val="lt1"/>
              </a:solidFill>
            </a:endParaRPr>
          </a:p>
          <a:p>
            <a:pPr indent="-29845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" sz="1100">
                <a:solidFill>
                  <a:schemeClr val="lt1"/>
                </a:solidFill>
              </a:rPr>
              <a:t>Didn’t affect CDE1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861" name="Google Shape;861;p72"/>
          <p:cNvSpPr txBox="1"/>
          <p:nvPr/>
        </p:nvSpPr>
        <p:spPr>
          <a:xfrm>
            <a:off x="3869888" y="1584438"/>
            <a:ext cx="640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PDR</a:t>
            </a:r>
            <a:endParaRPr b="1" sz="1000">
              <a:solidFill>
                <a:schemeClr val="lt1"/>
              </a:solidFill>
            </a:endParaRPr>
          </a:p>
        </p:txBody>
      </p:sp>
      <p:sp>
        <p:nvSpPr>
          <p:cNvPr id="862" name="Google Shape;862;p72"/>
          <p:cNvSpPr txBox="1"/>
          <p:nvPr/>
        </p:nvSpPr>
        <p:spPr>
          <a:xfrm>
            <a:off x="3869888" y="3492021"/>
            <a:ext cx="6405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CDR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7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8" name="Google Shape;868;p73"/>
          <p:cNvSpPr txBox="1"/>
          <p:nvPr/>
        </p:nvSpPr>
        <p:spPr>
          <a:xfrm>
            <a:off x="577200" y="54400"/>
            <a:ext cx="7989600" cy="11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Video Bandwidth for AquaBot Live Stream </a:t>
            </a:r>
            <a:endParaRPr b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(1080p H.264 WebRTC)</a:t>
            </a:r>
            <a:endParaRPr b="1" sz="2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9" name="Google Shape;869;p73"/>
          <p:cNvSpPr txBox="1"/>
          <p:nvPr/>
        </p:nvSpPr>
        <p:spPr>
          <a:xfrm>
            <a:off x="126875" y="863300"/>
            <a:ext cx="2172900" cy="2163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Video (Uncompressed) Bandwidth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start with the raw camera output:</a:t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bitrate =</a:t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1920x1080×30fps×24 bits = </a:t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1,492,992,000 bits/sec ≈</a:t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1.49 Gbps uncompressed</a:t>
            </a:r>
            <a:endParaRPr b="1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73"/>
          <p:cNvSpPr txBox="1"/>
          <p:nvPr/>
        </p:nvSpPr>
        <p:spPr>
          <a:xfrm>
            <a:off x="2774688" y="863300"/>
            <a:ext cx="3000000" cy="2347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Camera Resolution &amp; Encoding</a:t>
            </a:r>
            <a:endParaRPr b="1"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21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Sensor: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IMX219 (Raspberry Pi v2 camera)</a:t>
            </a:r>
            <a:b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Resolution: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1920×1080 @ 30 FPS</a:t>
            </a:r>
            <a:b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Codec: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H.264 (NVIDIA hardware encoder)</a:t>
            </a:r>
            <a:b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1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b="1"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Protocol: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WebRTC (real-time, low-latency)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73"/>
          <p:cNvSpPr txBox="1"/>
          <p:nvPr/>
        </p:nvSpPr>
        <p:spPr>
          <a:xfrm>
            <a:off x="79125" y="3210500"/>
            <a:ext cx="48984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Equation used to Estimate bandwidth for 1080p H.264 WebRTC :</a:t>
            </a:r>
            <a:endParaRPr b="1" sz="10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Bitrate=bpp⋅Resolution(W)⋅Resolution(H)⋅fps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Bitrate=Bitrate⋅(1+Overhead)⋅α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*Overhead</a:t>
            </a: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protocol + header overhead (≈ 0.10)  </a:t>
            </a:r>
            <a:endParaRPr i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r>
              <a:rPr b="1"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i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safety margin (≈ 0.85 for adaptive streaming)</a:t>
            </a:r>
            <a:endParaRPr b="1" i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300"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872" name="Google Shape;872;p73"/>
          <p:cNvSpPr txBox="1"/>
          <p:nvPr/>
        </p:nvSpPr>
        <p:spPr>
          <a:xfrm>
            <a:off x="6249625" y="863300"/>
            <a:ext cx="2767500" cy="2091300"/>
          </a:xfrm>
          <a:prstGeom prst="rect">
            <a:avLst/>
          </a:prstGeom>
          <a:solidFill>
            <a:srgbClr val="D9EAD3"/>
          </a:solidFill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bandwidth for AquaBot </a:t>
            </a:r>
            <a:endParaRPr b="1"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real testing in the ocean</a:t>
            </a: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" sz="11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Scenario		Expected</a:t>
            </a:r>
            <a:endParaRPr b="1" sz="11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Calm Ocean		2.3 Mbps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 waves	3.5 Mbps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Char char="●"/>
            </a:pPr>
            <a:r>
              <a:rPr b="1" lang="en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motion		5.8 Mbps</a:t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i="1" lang="en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 Plus 0.25 Mbps for control + telemetry</a:t>
            </a:r>
            <a:endParaRPr b="1" i="1"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3" name="Google Shape;873;p73"/>
          <p:cNvSpPr/>
          <p:nvPr/>
        </p:nvSpPr>
        <p:spPr>
          <a:xfrm>
            <a:off x="2375775" y="1809350"/>
            <a:ext cx="305100" cy="20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73"/>
          <p:cNvSpPr/>
          <p:nvPr/>
        </p:nvSpPr>
        <p:spPr>
          <a:xfrm>
            <a:off x="5859613" y="1870850"/>
            <a:ext cx="305100" cy="20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73"/>
          <p:cNvSpPr txBox="1"/>
          <p:nvPr/>
        </p:nvSpPr>
        <p:spPr>
          <a:xfrm>
            <a:off x="5029075" y="3542175"/>
            <a:ext cx="4193700" cy="10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validated H.264 encoding practice for 1080p30 video across varying motion complexity: </a:t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Calm ocean (low motion): bpp ∈ [0.03, 0.05]</a:t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 waves (medium motion): bpp ∈ [0.05, 0.08]</a:t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Times New Roman"/>
              <a:buChar char="●"/>
            </a:pPr>
            <a:r>
              <a:rPr b="1" lang="en" sz="9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motion (high motion): bpp ∈ [0.08, 0.12] </a:t>
            </a:r>
            <a:endParaRPr b="1" sz="9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6" name="Google Shape;876;p73"/>
          <p:cNvSpPr txBox="1"/>
          <p:nvPr/>
        </p:nvSpPr>
        <p:spPr>
          <a:xfrm>
            <a:off x="6211972" y="3117150"/>
            <a:ext cx="2842800" cy="3762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Max Expected Bandwidth ≈ 6 Mbps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74"/>
          <p:cNvSpPr/>
          <p:nvPr/>
        </p:nvSpPr>
        <p:spPr>
          <a:xfrm>
            <a:off x="6968925" y="4150100"/>
            <a:ext cx="1728600" cy="5292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7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3" name="Google Shape;883;p74"/>
          <p:cNvSpPr txBox="1"/>
          <p:nvPr/>
        </p:nvSpPr>
        <p:spPr>
          <a:xfrm>
            <a:off x="0" y="0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Starlink Analysis </a:t>
            </a:r>
            <a:endParaRPr/>
          </a:p>
        </p:txBody>
      </p:sp>
      <p:pic>
        <p:nvPicPr>
          <p:cNvPr id="884" name="Google Shape;88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125" y="1694388"/>
            <a:ext cx="808825" cy="1754724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4"/>
          <p:cNvSpPr txBox="1"/>
          <p:nvPr/>
        </p:nvSpPr>
        <p:spPr>
          <a:xfrm>
            <a:off x="1229550" y="2665300"/>
            <a:ext cx="7442100" cy="16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Speed test from Starlink App 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tested in a neighborhood with lots of Wi‑Fi and signals, so it’s a worst‑case scenario.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 on the ocean there are no houses or obstacles, so interference is much lower.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in deployment will be stronger than what we measured here. 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Maritime Service - Open Ocean/Stronger signal and 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consistent throughput. 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Worst case scenario</a:t>
            </a:r>
            <a:r>
              <a:rPr b="1" lang="en">
                <a:solidFill>
                  <a:schemeClr val="lt1"/>
                </a:solidFill>
              </a:rPr>
              <a:t>:    		Uplink:10 Mbps </a:t>
            </a:r>
            <a:endParaRPr b="1">
              <a:solidFill>
                <a:schemeClr val="lt1"/>
              </a:solidFill>
            </a:endParaRPr>
          </a:p>
          <a:p>
            <a:pPr indent="45720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Downlink: 55 Mbps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86" name="Google Shape;886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8438" y="683400"/>
            <a:ext cx="2950806" cy="1829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0731" y="683400"/>
            <a:ext cx="2944474" cy="182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4"/>
          <p:cNvSpPr txBox="1"/>
          <p:nvPr/>
        </p:nvSpPr>
        <p:spPr>
          <a:xfrm>
            <a:off x="7024086" y="4220656"/>
            <a:ext cx="17286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6 Mbps &lt; 10 Mbps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4" name="Google Shape;894;p75"/>
          <p:cNvSpPr txBox="1"/>
          <p:nvPr/>
        </p:nvSpPr>
        <p:spPr>
          <a:xfrm>
            <a:off x="259699" y="234100"/>
            <a:ext cx="8297100" cy="8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Verification Setup: Starlink + GUI Streaming Test</a:t>
            </a:r>
            <a:endParaRPr sz="2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95" name="Google Shape;89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86" y="1491625"/>
            <a:ext cx="1559284" cy="1710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6" name="Google Shape;896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6851" y="1360713"/>
            <a:ext cx="2359307" cy="1710225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97" name="Google Shape;897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59488" y="1535185"/>
            <a:ext cx="2807999" cy="340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8800" y="1929845"/>
            <a:ext cx="2459825" cy="1138951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5"/>
          <p:cNvSpPr txBox="1"/>
          <p:nvPr/>
        </p:nvSpPr>
        <p:spPr>
          <a:xfrm>
            <a:off x="152279" y="859725"/>
            <a:ext cx="22269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Jetson auto boots when 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connected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power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0" name="Google Shape;900;p75"/>
          <p:cNvSpPr txBox="1"/>
          <p:nvPr/>
        </p:nvSpPr>
        <p:spPr>
          <a:xfrm>
            <a:off x="259688" y="3213925"/>
            <a:ext cx="4110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5</a:t>
            </a:r>
            <a:r>
              <a:rPr lang="en" sz="1300">
                <a:solidFill>
                  <a:schemeClr val="lt1"/>
                </a:solidFill>
              </a:rPr>
              <a:t>.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901" name="Google Shape;901;p75"/>
          <p:cNvSpPr txBox="1"/>
          <p:nvPr/>
        </p:nvSpPr>
        <p:spPr>
          <a:xfrm>
            <a:off x="5702720" y="868991"/>
            <a:ext cx="27081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signaling_server.py &amp; app.py on termina</a:t>
            </a:r>
            <a:r>
              <a:rPr lang="en" sz="11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2" name="Google Shape;902;p75"/>
          <p:cNvSpPr txBox="1"/>
          <p:nvPr/>
        </p:nvSpPr>
        <p:spPr>
          <a:xfrm>
            <a:off x="2852992" y="879650"/>
            <a:ext cx="2555700" cy="3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Place Starlink under hull top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3" name="Google Shape;903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529" y="3590278"/>
            <a:ext cx="2226907" cy="11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5"/>
          <p:cNvSpPr txBox="1"/>
          <p:nvPr/>
        </p:nvSpPr>
        <p:spPr>
          <a:xfrm>
            <a:off x="3290525" y="3234191"/>
            <a:ext cx="52662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Verification checklist :  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Recording triggered and saved locally on Jetson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Zoom commands 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received</a:t>
            </a: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executed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Iperf Test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Times New Roman"/>
              <a:buChar char="●"/>
            </a:pPr>
            <a:r>
              <a:rPr lang="en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 commands updated in real time</a:t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5" name="Google Shape;905;p75"/>
          <p:cNvSpPr txBox="1"/>
          <p:nvPr/>
        </p:nvSpPr>
        <p:spPr>
          <a:xfrm>
            <a:off x="482525" y="3242104"/>
            <a:ext cx="2808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Go to </a:t>
            </a:r>
            <a:r>
              <a:rPr lang="en" sz="1100" u="sng">
                <a:solidFill>
                  <a:schemeClr val="hlink"/>
                </a:solidFill>
                <a:hlinkClick r:id="rId8"/>
              </a:rPr>
              <a:t>http://192.168.1.189:5000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76"/>
          <p:cNvSpPr txBox="1"/>
          <p:nvPr>
            <p:ph idx="4294967295" type="title"/>
          </p:nvPr>
        </p:nvSpPr>
        <p:spPr>
          <a:xfrm>
            <a:off x="1255650" y="200525"/>
            <a:ext cx="6632700" cy="5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Live GUI Demo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11" name="Google Shape;911;p7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2" name="Google Shape;912;p76" title="Test 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575" y="1021325"/>
            <a:ext cx="6189327" cy="3460574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6"/>
          <p:cNvSpPr txBox="1"/>
          <p:nvPr/>
        </p:nvSpPr>
        <p:spPr>
          <a:xfrm>
            <a:off x="6778775" y="1021325"/>
            <a:ext cx="1891500" cy="3460500"/>
          </a:xfrm>
          <a:prstGeom prst="rect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Specs:</a:t>
            </a:r>
            <a:endParaRPr b="1" sz="12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sz="12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 Bandwidth and video latency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Iperf / Network Testing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Start recording/ stop recording  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Half geo overlay (placeholder) / half video streaming. 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data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conducted Nov 30, 2025 — Starlink + Jetson Orin Nano + Flask GUI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7"/>
          <p:cNvSpPr/>
          <p:nvPr/>
        </p:nvSpPr>
        <p:spPr>
          <a:xfrm>
            <a:off x="233700" y="891475"/>
            <a:ext cx="3100200" cy="37524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77"/>
          <p:cNvSpPr/>
          <p:nvPr/>
        </p:nvSpPr>
        <p:spPr>
          <a:xfrm>
            <a:off x="5509800" y="810750"/>
            <a:ext cx="3193800" cy="37524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1" name="Google Shape;921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949" y="1659017"/>
            <a:ext cx="1494338" cy="2331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3186" y="2485046"/>
            <a:ext cx="1802575" cy="678991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77"/>
          <p:cNvSpPr txBox="1"/>
          <p:nvPr/>
        </p:nvSpPr>
        <p:spPr>
          <a:xfrm>
            <a:off x="1651700" y="164250"/>
            <a:ext cx="5744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Verification</a:t>
            </a:r>
            <a:endParaRPr/>
          </a:p>
        </p:txBody>
      </p:sp>
      <p:sp>
        <p:nvSpPr>
          <p:cNvPr id="924" name="Google Shape;924;p77"/>
          <p:cNvSpPr txBox="1"/>
          <p:nvPr/>
        </p:nvSpPr>
        <p:spPr>
          <a:xfrm>
            <a:off x="3555450" y="949925"/>
            <a:ext cx="1732800" cy="34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Demonstrates: 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Two-way communication 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Recording 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en" sz="1200">
                <a:solidFill>
                  <a:schemeClr val="lt1"/>
                </a:solidFill>
              </a:rPr>
              <a:t>Saved Video files at 1080p @ 30fps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From GUI: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Video Bandwidth: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1-2 Mbps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Video Latency: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 &gt;20 ms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Jeston Orin Nano: 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Storage 256GB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925" name="Google Shape;925;p77"/>
          <p:cNvSpPr txBox="1"/>
          <p:nvPr/>
        </p:nvSpPr>
        <p:spPr>
          <a:xfrm>
            <a:off x="1005972" y="522475"/>
            <a:ext cx="16023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On GUI/ </a:t>
            </a:r>
            <a:r>
              <a:rPr b="1" lang="en">
                <a:solidFill>
                  <a:schemeClr val="lt1"/>
                </a:solidFill>
              </a:rPr>
              <a:t>Laptop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 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926" name="Google Shape;926;p77"/>
          <p:cNvSpPr txBox="1"/>
          <p:nvPr/>
        </p:nvSpPr>
        <p:spPr>
          <a:xfrm>
            <a:off x="5874025" y="475775"/>
            <a:ext cx="2682600" cy="5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On Jetson Orin nano Monitor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927" name="Google Shape;927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1854" y="3655887"/>
            <a:ext cx="249073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77" title="IMG_1518.MOV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80106" y="949925"/>
            <a:ext cx="2238487" cy="135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7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45528" y="3077799"/>
            <a:ext cx="1802575" cy="564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7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09604" y="1291577"/>
            <a:ext cx="2238500" cy="179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7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09600" y="1112157"/>
            <a:ext cx="2238500" cy="194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7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792249" y="4134440"/>
            <a:ext cx="1732800" cy="20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7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18050" y="3359195"/>
            <a:ext cx="1256150" cy="17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4" name="Google Shape;934;p77"/>
          <p:cNvCxnSpPr>
            <a:stCxn id="933" idx="0"/>
          </p:cNvCxnSpPr>
          <p:nvPr/>
        </p:nvCxnSpPr>
        <p:spPr>
          <a:xfrm flipH="1" rot="10800000">
            <a:off x="6546125" y="3077795"/>
            <a:ext cx="906000" cy="28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5" name="Google Shape;935;p77"/>
          <p:cNvCxnSpPr>
            <a:stCxn id="932" idx="0"/>
          </p:cNvCxnSpPr>
          <p:nvPr/>
        </p:nvCxnSpPr>
        <p:spPr>
          <a:xfrm rot="10800000">
            <a:off x="7106649" y="3833840"/>
            <a:ext cx="552000" cy="3006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6" name="Google Shape;936;p77"/>
          <p:cNvCxnSpPr>
            <a:stCxn id="930" idx="2"/>
          </p:cNvCxnSpPr>
          <p:nvPr/>
        </p:nvCxnSpPr>
        <p:spPr>
          <a:xfrm flipH="1">
            <a:off x="843654" y="1471328"/>
            <a:ext cx="1285200" cy="420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7" name="Google Shape;937;p77"/>
          <p:cNvCxnSpPr>
            <a:stCxn id="930" idx="2"/>
          </p:cNvCxnSpPr>
          <p:nvPr/>
        </p:nvCxnSpPr>
        <p:spPr>
          <a:xfrm flipH="1">
            <a:off x="750054" y="1471328"/>
            <a:ext cx="1378800" cy="23532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77"/>
          <p:cNvCxnSpPr>
            <a:stCxn id="929" idx="0"/>
          </p:cNvCxnSpPr>
          <p:nvPr/>
        </p:nvCxnSpPr>
        <p:spPr>
          <a:xfrm rot="10800000">
            <a:off x="1092815" y="2890899"/>
            <a:ext cx="1254000" cy="186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4" name="Google Shape;944;p78"/>
          <p:cNvSpPr txBox="1"/>
          <p:nvPr/>
        </p:nvSpPr>
        <p:spPr>
          <a:xfrm>
            <a:off x="2149350" y="73309"/>
            <a:ext cx="48453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</a:rPr>
              <a:t>GUI Software Architecture</a:t>
            </a:r>
            <a:endParaRPr b="1" sz="2200">
              <a:solidFill>
                <a:schemeClr val="lt1"/>
              </a:solidFill>
            </a:endParaRPr>
          </a:p>
        </p:txBody>
      </p:sp>
      <p:pic>
        <p:nvPicPr>
          <p:cNvPr id="945" name="Google Shape;945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958" y="749015"/>
            <a:ext cx="5696975" cy="3642325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6" name="Google Shape;946;p78"/>
          <p:cNvSpPr txBox="1"/>
          <p:nvPr/>
        </p:nvSpPr>
        <p:spPr>
          <a:xfrm>
            <a:off x="6000050" y="722567"/>
            <a:ext cx="3062100" cy="36903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lt1"/>
                </a:solidFill>
              </a:rPr>
              <a:t>Backend Scripts: </a:t>
            </a:r>
            <a:endParaRPr b="1" sz="1300" u="sng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webrtc_jetson.py - Camera capture + Media Engine + Signaling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record_start.sh/ record_stop.sh - Local video recording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autostart.sh - Launches Jetson service automatically on boot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 u="sng">
                <a:solidFill>
                  <a:schemeClr val="lt1"/>
                </a:solidFill>
              </a:rPr>
              <a:t>Frontend Scripts: </a:t>
            </a:r>
            <a:endParaRPr b="1" sz="1300" u="sng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s</a:t>
            </a:r>
            <a:r>
              <a:rPr lang="en" sz="1300">
                <a:solidFill>
                  <a:schemeClr val="lt1"/>
                </a:solidFill>
              </a:rPr>
              <a:t>ignaling_server.py - </a:t>
            </a:r>
            <a:r>
              <a:rPr lang="en" sz="1300">
                <a:solidFill>
                  <a:schemeClr val="lt1"/>
                </a:solidFill>
              </a:rPr>
              <a:t>Initial</a:t>
            </a:r>
            <a:r>
              <a:rPr lang="en" sz="1300">
                <a:solidFill>
                  <a:schemeClr val="lt1"/>
                </a:solidFill>
              </a:rPr>
              <a:t> handshake + commands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app.py - Flask server + display logic 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n" sz="1300">
                <a:solidFill>
                  <a:schemeClr val="lt1"/>
                </a:solidFill>
              </a:rPr>
              <a:t>Index.html -GUI layout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lang="en" sz="1300">
                <a:solidFill>
                  <a:schemeClr val="lt1"/>
                </a:solidFill>
              </a:rPr>
              <a:t>webrtc.js - WebRTC Client (video stream + operator commands) </a:t>
            </a:r>
            <a:endParaRPr sz="1300">
              <a:solidFill>
                <a:schemeClr val="lt1"/>
              </a:solidFill>
            </a:endParaRPr>
          </a:p>
        </p:txBody>
      </p:sp>
      <p:cxnSp>
        <p:nvCxnSpPr>
          <p:cNvPr id="947" name="Google Shape;947;p78"/>
          <p:cNvCxnSpPr/>
          <p:nvPr/>
        </p:nvCxnSpPr>
        <p:spPr>
          <a:xfrm flipH="1" rot="10800000">
            <a:off x="4059350" y="3893971"/>
            <a:ext cx="197700" cy="69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" name="Google Shape;948;p78"/>
          <p:cNvCxnSpPr/>
          <p:nvPr/>
        </p:nvCxnSpPr>
        <p:spPr>
          <a:xfrm>
            <a:off x="1896234" y="3190175"/>
            <a:ext cx="663600" cy="3300"/>
          </a:xfrm>
          <a:prstGeom prst="straightConnector1">
            <a:avLst/>
          </a:prstGeom>
          <a:noFill/>
          <a:ln cap="flat" cmpd="sng" w="76200">
            <a:solidFill>
              <a:srgbClr val="FEFEF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9" name="Google Shape;949;p78"/>
          <p:cNvCxnSpPr/>
          <p:nvPr/>
        </p:nvCxnSpPr>
        <p:spPr>
          <a:xfrm>
            <a:off x="1758650" y="3193375"/>
            <a:ext cx="117900" cy="0"/>
          </a:xfrm>
          <a:prstGeom prst="straightConnector1">
            <a:avLst/>
          </a:prstGeom>
          <a:noFill/>
          <a:ln cap="flat" cmpd="sng" w="114300">
            <a:solidFill>
              <a:srgbClr val="C5D8E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9"/>
          <p:cNvSpPr txBox="1"/>
          <p:nvPr/>
        </p:nvSpPr>
        <p:spPr>
          <a:xfrm>
            <a:off x="322550" y="226775"/>
            <a:ext cx="8630100" cy="679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CDE 1 Results</a:t>
            </a:r>
            <a:endParaRPr b="1" sz="3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5" name="Google Shape;955;p7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6" name="Google Shape;956;p79"/>
          <p:cNvSpPr txBox="1"/>
          <p:nvPr/>
        </p:nvSpPr>
        <p:spPr>
          <a:xfrm>
            <a:off x="626550" y="859725"/>
            <a:ext cx="7890900" cy="3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"/>
              <a:buChar char="●"/>
            </a:pPr>
            <a:r>
              <a:rPr b="1"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5.4.4 Satellite Uplink: Each AQUABOT drone shall independently transmit live and stored data to a remote ground station via its onboard Starlink.</a:t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"/>
              <a:buChar char="●"/>
            </a:pPr>
            <a:r>
              <a:rPr b="1"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5.1.6 Data Collection: Each AQUABOT drone shall measure temperature, salinity, pH,  and capture visual imagery at a minimum of 1080p resolution, 30 fps.</a:t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"/>
              <a:buChar char="○"/>
            </a:pPr>
            <a:r>
              <a:rPr b="1"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Verified</a:t>
            </a:r>
            <a:r>
              <a:rPr b="1"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: IMX219 camera streaming at 1080p/30fps</a:t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"/>
              <a:buChar char="●"/>
            </a:pPr>
            <a:r>
              <a:rPr b="1"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5.4.5 Display: The display shall show half the display with Geo-overlay and the other half will display live-streaming.</a:t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"/>
              <a:buChar char="○"/>
            </a:pPr>
            <a:r>
              <a:rPr b="1"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Verified: GUI layout splits display as required/ half live video streaming. </a:t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5.4.1 Autonomy &amp; Control: Each AQUABOT drone shall support both autonomous navigation and remote operator control via a satellite-based waypoint system.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○"/>
            </a:pP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Verified: Remote control via GUI confirmed.</a:t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File:Checkmark.svg - Wikimedia Commons" id="957" name="Google Shape;95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59" y="911760"/>
            <a:ext cx="442921" cy="3935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Eo circle yellow checkmark.svg - Wikimedia Commons" id="958" name="Google Shape;95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459" y="1786137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Checkmark.svg - Wikimedia Commons" id="959" name="Google Shape;95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8916" y="4430503"/>
            <a:ext cx="311276" cy="276594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79"/>
          <p:cNvSpPr txBox="1"/>
          <p:nvPr/>
        </p:nvSpPr>
        <p:spPr>
          <a:xfrm>
            <a:off x="5440200" y="4461850"/>
            <a:ext cx="83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Verified</a:t>
            </a:r>
            <a:endParaRPr b="1" sz="1000">
              <a:solidFill>
                <a:schemeClr val="lt1"/>
              </a:solidFill>
            </a:endParaRPr>
          </a:p>
        </p:txBody>
      </p:sp>
      <p:pic>
        <p:nvPicPr>
          <p:cNvPr descr="File:Eo circle yellow checkmark.svg - Wikimedia Commons" id="961" name="Google Shape;961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8405" y="4430480"/>
            <a:ext cx="311276" cy="3112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Eo circle yellow checkmark.svg - Wikimedia Commons" id="962" name="Google Shape;962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459" y="3859877"/>
            <a:ext cx="3936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le:Eo circle yellow checkmark.svg - Wikimedia Commons" id="963" name="Google Shape;96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447" y="2826662"/>
            <a:ext cx="393600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79"/>
          <p:cNvSpPr txBox="1"/>
          <p:nvPr/>
        </p:nvSpPr>
        <p:spPr>
          <a:xfrm>
            <a:off x="6975075" y="4461850"/>
            <a:ext cx="1624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</a:rPr>
              <a:t>Partially Verified</a:t>
            </a:r>
            <a:endParaRPr b="1"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8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0" name="Google Shape;970;p80"/>
          <p:cNvSpPr txBox="1"/>
          <p:nvPr/>
        </p:nvSpPr>
        <p:spPr>
          <a:xfrm>
            <a:off x="1498575" y="185025"/>
            <a:ext cx="6546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CDE1: Risk and Complexity + Next Steps</a:t>
            </a:r>
            <a:endParaRPr b="1" sz="2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1" name="Google Shape;971;p80"/>
          <p:cNvSpPr txBox="1"/>
          <p:nvPr/>
        </p:nvSpPr>
        <p:spPr>
          <a:xfrm>
            <a:off x="3303275" y="1113360"/>
            <a:ext cx="2945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Risk: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2" name="Google Shape;972;p80"/>
          <p:cNvSpPr txBox="1"/>
          <p:nvPr/>
        </p:nvSpPr>
        <p:spPr>
          <a:xfrm>
            <a:off x="309525" y="1506951"/>
            <a:ext cx="2297100" cy="2740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Complexities:</a:t>
            </a:r>
            <a:endParaRPr sz="18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Two-network WebRTC</a:t>
            </a:r>
            <a:b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ICE/NAT traversal</a:t>
            </a:r>
            <a:b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Starlink routing fluctuations</a:t>
            </a:r>
            <a:b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data flows (video + telemetry + commands)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73" name="Google Shape;973;p80"/>
          <p:cNvGraphicFramePr/>
          <p:nvPr/>
        </p:nvGraphicFramePr>
        <p:xfrm>
          <a:off x="2856650" y="1506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{9E53EF30-7D4B-4DB2-9377-FE4B760E88BB}</a:tableStyleId>
              </a:tblPr>
              <a:tblGrid>
                <a:gridCol w="953975"/>
                <a:gridCol w="900100"/>
                <a:gridCol w="853950"/>
                <a:gridCol w="1130925"/>
              </a:tblGrid>
              <a:tr h="245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Risk</a:t>
                      </a:r>
                      <a:endParaRPr b="1"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Cause</a:t>
                      </a:r>
                      <a:endParaRPr b="1"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Impact</a:t>
                      </a:r>
                      <a:endParaRPr b="1"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Mitigation</a:t>
                      </a:r>
                      <a:endParaRPr b="1"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8D8D8"/>
                    </a:solidFill>
                  </a:tcPr>
                </a:tc>
              </a:tr>
              <a:tr h="542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WebRTC fails across two networks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NAT/ICE candidate rejection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Loss of remote command/video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 TURN/STUN server, test different relay configs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43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Starlink connection interruptions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Satellite acquisition / weather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Increased latency, packet loss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 buffering, dynamic bitrate (WebRTC)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3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Bandwidth variability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Starlink uplink fluctuations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Lower video quality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bitrate + video fallback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43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Sensor + video concurrency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 data channels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CPU/Network load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Prioritize RTP stream, stagger telemetry</a:t>
                      </a:r>
                      <a:endParaRPr b="1" sz="1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</a:tbl>
          </a:graphicData>
        </a:graphic>
      </p:graphicFrame>
      <p:sp>
        <p:nvSpPr>
          <p:cNvPr id="974" name="Google Shape;974;p80"/>
          <p:cNvSpPr txBox="1"/>
          <p:nvPr/>
        </p:nvSpPr>
        <p:spPr>
          <a:xfrm>
            <a:off x="6945625" y="1421925"/>
            <a:ext cx="1888800" cy="2953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</a:t>
            </a:r>
            <a:r>
              <a:rPr lang="en" sz="18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endParaRPr sz="18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TURN server addition</a:t>
            </a:r>
            <a:b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Remote testing</a:t>
            </a:r>
            <a:b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Geo-overlay</a:t>
            </a:r>
            <a:b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sensor integration</a:t>
            </a:r>
            <a:b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imes New Roman"/>
              <a:buChar char="●"/>
            </a:pPr>
            <a:r>
              <a:rPr lang="en" sz="1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CDE-2 prep</a:t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*High Risk </a:t>
            </a:r>
            <a:endParaRPr b="1" sz="1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5" name="Google Shape;975;p80"/>
          <p:cNvSpPr txBox="1"/>
          <p:nvPr/>
        </p:nvSpPr>
        <p:spPr>
          <a:xfrm>
            <a:off x="293550" y="744825"/>
            <a:ext cx="8556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</a:rPr>
              <a:t>CDE-1 validated reliable two-way communication on Starlink; next phases extend to multi-network.</a:t>
            </a:r>
            <a:endParaRPr sz="1600">
              <a:solidFill>
                <a:schemeClr val="lt1"/>
              </a:solidFill>
            </a:endParaRPr>
          </a:p>
        </p:txBody>
      </p:sp>
      <p:sp>
        <p:nvSpPr>
          <p:cNvPr id="976" name="Google Shape;976;p80"/>
          <p:cNvSpPr/>
          <p:nvPr/>
        </p:nvSpPr>
        <p:spPr>
          <a:xfrm>
            <a:off x="2912475" y="1910177"/>
            <a:ext cx="3718500" cy="820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80"/>
          <p:cNvSpPr/>
          <p:nvPr/>
        </p:nvSpPr>
        <p:spPr>
          <a:xfrm>
            <a:off x="6945624" y="4513175"/>
            <a:ext cx="885000" cy="236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81"/>
          <p:cNvSpPr txBox="1"/>
          <p:nvPr>
            <p:ph idx="4294967295" type="title"/>
          </p:nvPr>
        </p:nvSpPr>
        <p:spPr>
          <a:xfrm>
            <a:off x="49225" y="1940554"/>
            <a:ext cx="9144000" cy="8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Critical Design Element 2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3" name="Google Shape;983;p8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2"/>
          <p:cNvSpPr txBox="1"/>
          <p:nvPr/>
        </p:nvSpPr>
        <p:spPr>
          <a:xfrm>
            <a:off x="684150" y="166300"/>
            <a:ext cx="77757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Critical Design Element (CDE-2)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89" name="Google Shape;989;p8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0" name="Google Shape;990;p82"/>
          <p:cNvSpPr txBox="1"/>
          <p:nvPr/>
        </p:nvSpPr>
        <p:spPr>
          <a:xfrm>
            <a:off x="494150" y="798400"/>
            <a:ext cx="5115300" cy="3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from CDE-1 two-way communication: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Integrates system into hull with waterproofing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Verifies system functionality within hull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Transmits all sensor data in 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camera live stream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Steps: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Finalize mount prototypes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Waterproofing of camera and sensor 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Safely connect and organize electronics within drones (ESP32, Jetson Nano, Starlink)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●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of GUI 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1" name="Google Shape;991;p82"/>
          <p:cNvSpPr txBox="1"/>
          <p:nvPr/>
        </p:nvSpPr>
        <p:spPr>
          <a:xfrm>
            <a:off x="5818025" y="1420475"/>
            <a:ext cx="2953500" cy="1852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5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Objective:</a:t>
            </a:r>
            <a:endParaRPr b="1" sz="1605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5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CDE-2 will demonstrate sensor and camera connectivity to the ground station GUI, while being integrated into the drone hull itself. </a:t>
            </a:r>
            <a:endParaRPr sz="15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3"/>
          <p:cNvSpPr txBox="1"/>
          <p:nvPr/>
        </p:nvSpPr>
        <p:spPr>
          <a:xfrm>
            <a:off x="0" y="214675"/>
            <a:ext cx="914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Sensor and Camera Mounts</a:t>
            </a:r>
            <a:endParaRPr/>
          </a:p>
        </p:txBody>
      </p:sp>
      <p:sp>
        <p:nvSpPr>
          <p:cNvPr id="997" name="Google Shape;997;p83"/>
          <p:cNvSpPr txBox="1"/>
          <p:nvPr/>
        </p:nvSpPr>
        <p:spPr>
          <a:xfrm>
            <a:off x="73150" y="2441825"/>
            <a:ext cx="44439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Mount: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mount with hole for wires to 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internal ESP32 in hull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Recesses to fit temperature, salinity, and pH sensors, with space for wire storage in back.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 can be 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modified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fit onto RC boats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printed with silicone coating and o-rings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Room for additional sensors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8" name="Google Shape;998;p83"/>
          <p:cNvPicPr preferRelativeResize="0"/>
          <p:nvPr/>
        </p:nvPicPr>
        <p:blipFill rotWithShape="1">
          <a:blip r:embed="rId3">
            <a:alphaModFix/>
          </a:blip>
          <a:srcRect b="0" l="4416" r="2422" t="0"/>
          <a:stretch/>
        </p:blipFill>
        <p:spPr>
          <a:xfrm>
            <a:off x="73150" y="875600"/>
            <a:ext cx="2633475" cy="15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0000" y="875600"/>
            <a:ext cx="2170733" cy="15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83"/>
          <p:cNvPicPr preferRelativeResize="0"/>
          <p:nvPr/>
        </p:nvPicPr>
        <p:blipFill rotWithShape="1">
          <a:blip r:embed="rId5">
            <a:alphaModFix/>
          </a:blip>
          <a:srcRect b="0" l="7934" r="6662" t="0"/>
          <a:stretch/>
        </p:blipFill>
        <p:spPr>
          <a:xfrm>
            <a:off x="4818900" y="875600"/>
            <a:ext cx="2071100" cy="15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83"/>
          <p:cNvSpPr txBox="1"/>
          <p:nvPr/>
        </p:nvSpPr>
        <p:spPr>
          <a:xfrm>
            <a:off x="4818900" y="2441825"/>
            <a:ext cx="42417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IMX219z </a:t>
            </a: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Mount: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Holds camera in place above drone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Slit allows for wiring to occur within the drone.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Char char="-"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3D printed with silicone coating and transparent material to protect camera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2" name="Google Shape;1002;p8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03" name="Google Shape;1003;p83"/>
          <p:cNvPicPr preferRelativeResize="0"/>
          <p:nvPr/>
        </p:nvPicPr>
        <p:blipFill rotWithShape="1">
          <a:blip r:embed="rId6">
            <a:alphaModFix/>
          </a:blip>
          <a:srcRect b="0" l="0" r="4589" t="0"/>
          <a:stretch/>
        </p:blipFill>
        <p:spPr>
          <a:xfrm>
            <a:off x="2706625" y="875600"/>
            <a:ext cx="2075853" cy="156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84"/>
          <p:cNvSpPr/>
          <p:nvPr/>
        </p:nvSpPr>
        <p:spPr>
          <a:xfrm>
            <a:off x="4979825" y="3377525"/>
            <a:ext cx="3977100" cy="688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84"/>
          <p:cNvSpPr txBox="1"/>
          <p:nvPr/>
        </p:nvSpPr>
        <p:spPr>
          <a:xfrm>
            <a:off x="781075" y="349761"/>
            <a:ext cx="77757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Critical Design Element (CDE-2)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10" name="Google Shape;1010;p8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1" name="Google Shape;101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9726" y="1359100"/>
            <a:ext cx="3977189" cy="203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84"/>
          <p:cNvSpPr txBox="1"/>
          <p:nvPr/>
        </p:nvSpPr>
        <p:spPr>
          <a:xfrm>
            <a:off x="68575" y="3537700"/>
            <a:ext cx="451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camera mount above, sensors mounted below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13" name="Google Shape;1013;p84"/>
          <p:cNvCxnSpPr/>
          <p:nvPr/>
        </p:nvCxnSpPr>
        <p:spPr>
          <a:xfrm>
            <a:off x="4798575" y="2466025"/>
            <a:ext cx="2402400" cy="834000"/>
          </a:xfrm>
          <a:prstGeom prst="bentConnector3">
            <a:avLst>
              <a:gd fmla="val 69384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14" name="Google Shape;101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1225" y="3524975"/>
            <a:ext cx="1739873" cy="3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84"/>
          <p:cNvPicPr preferRelativeResize="0"/>
          <p:nvPr/>
        </p:nvPicPr>
        <p:blipFill rotWithShape="1">
          <a:blip r:embed="rId5">
            <a:alphaModFix/>
          </a:blip>
          <a:srcRect b="0" l="0" r="0" t="5177"/>
          <a:stretch/>
        </p:blipFill>
        <p:spPr>
          <a:xfrm>
            <a:off x="7119500" y="3524963"/>
            <a:ext cx="1498750" cy="35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5975" y="1096477"/>
            <a:ext cx="4400801" cy="2326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7" name="Google Shape;1017;p84"/>
          <p:cNvCxnSpPr>
            <a:endCxn id="1015" idx="0"/>
          </p:cNvCxnSpPr>
          <p:nvPr/>
        </p:nvCxnSpPr>
        <p:spPr>
          <a:xfrm>
            <a:off x="7188775" y="3301763"/>
            <a:ext cx="680100" cy="223200"/>
          </a:xfrm>
          <a:prstGeom prst="bentConnector2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18" name="Google Shape;1018;p84"/>
          <p:cNvCxnSpPr/>
          <p:nvPr/>
        </p:nvCxnSpPr>
        <p:spPr>
          <a:xfrm>
            <a:off x="3941075" y="1792225"/>
            <a:ext cx="2793300" cy="673800"/>
          </a:xfrm>
          <a:prstGeom prst="bentConnector3">
            <a:avLst>
              <a:gd fmla="val 29953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19" name="Google Shape;1019;p84"/>
          <p:cNvCxnSpPr/>
          <p:nvPr/>
        </p:nvCxnSpPr>
        <p:spPr>
          <a:xfrm>
            <a:off x="2336300" y="2889500"/>
            <a:ext cx="3497700" cy="13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0" name="Google Shape;1020;p84"/>
          <p:cNvCxnSpPr/>
          <p:nvPr/>
        </p:nvCxnSpPr>
        <p:spPr>
          <a:xfrm>
            <a:off x="5353800" y="2903225"/>
            <a:ext cx="0" cy="63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85"/>
          <p:cNvSpPr/>
          <p:nvPr/>
        </p:nvSpPr>
        <p:spPr>
          <a:xfrm>
            <a:off x="207400" y="972600"/>
            <a:ext cx="6012900" cy="1954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85"/>
          <p:cNvSpPr txBox="1"/>
          <p:nvPr/>
        </p:nvSpPr>
        <p:spPr>
          <a:xfrm>
            <a:off x="684150" y="166300"/>
            <a:ext cx="77757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Critical Design Element (CDE-2) Verification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7" name="Google Shape;1027;p8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8" name="Google Shape;1028;p85"/>
          <p:cNvSpPr txBox="1"/>
          <p:nvPr/>
        </p:nvSpPr>
        <p:spPr>
          <a:xfrm>
            <a:off x="6436225" y="907700"/>
            <a:ext cx="2443800" cy="3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needed: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Temp, pH, and salinity sensors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IMX219 Camera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Jetson Orin Nano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Starlink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Ground station monitor and keyboard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Hull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Times New Roman"/>
              <a:buChar char="-"/>
            </a:pPr>
            <a:r>
              <a:rPr lang="en" sz="1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Mounts and mounting materials</a:t>
            </a:r>
            <a:endParaRPr sz="1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p85"/>
          <p:cNvSpPr txBox="1"/>
          <p:nvPr/>
        </p:nvSpPr>
        <p:spPr>
          <a:xfrm>
            <a:off x="207400" y="907700"/>
            <a:ext cx="6012900" cy="3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Procedure: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AutoNum type="arabicPeriod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Place hull into pool of water of known temperature, salinity, and pH. Ensure sensors, camera, ESP32, Jetson Nano, and Starlink are all powered on and connected to ground station.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AutoNum type="arabicPeriod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ground station, ensure that sensor data is updating every 10 seconds, and camera is streaming at 30 fps and 1080p.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AutoNum type="arabicPeriod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sensor data to known data </a:t>
            </a: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values for water.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Risks: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Waterproofing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Sensitivity, longevity of sensor run time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Times New Roman"/>
              <a:buChar char="-"/>
            </a:pPr>
            <a:r>
              <a:rPr lang="en" sz="1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Heat from drone affecting sensor values</a:t>
            </a:r>
            <a:endParaRPr sz="17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0" name="Google Shape;1030;p85"/>
          <p:cNvSpPr/>
          <p:nvPr/>
        </p:nvSpPr>
        <p:spPr>
          <a:xfrm>
            <a:off x="207400" y="3024975"/>
            <a:ext cx="6012900" cy="1286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85"/>
          <p:cNvSpPr/>
          <p:nvPr/>
        </p:nvSpPr>
        <p:spPr>
          <a:xfrm>
            <a:off x="6436225" y="972600"/>
            <a:ext cx="2525400" cy="3338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8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7" name="Google Shape;1037;p86"/>
          <p:cNvSpPr txBox="1"/>
          <p:nvPr/>
        </p:nvSpPr>
        <p:spPr>
          <a:xfrm>
            <a:off x="1255650" y="287205"/>
            <a:ext cx="66327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Requirements Verification</a:t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8" name="Google Shape;1038;p86"/>
          <p:cNvSpPr txBox="1"/>
          <p:nvPr/>
        </p:nvSpPr>
        <p:spPr>
          <a:xfrm>
            <a:off x="552150" y="962825"/>
            <a:ext cx="8039700" cy="2542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"/>
              <a:buChar char="●"/>
            </a:pPr>
            <a:r>
              <a:rPr b="1" lang="en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5.1.6 Data Collection:</a:t>
            </a:r>
            <a:r>
              <a:rPr b="1"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" sz="13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Each AQUABOT drone shall measure temperature, salinity, pH,  and capture visual imagery at a minimum of 1080p resolution, 30 fps</a:t>
            </a:r>
            <a:r>
              <a:rPr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. </a:t>
            </a:r>
            <a:endParaRPr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"/>
              <a:buChar char="○"/>
            </a:pPr>
            <a:r>
              <a:rPr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Sensor + camera integration</a:t>
            </a:r>
            <a:endParaRPr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"/>
              <a:buChar char="●"/>
            </a:pPr>
            <a:r>
              <a:rPr b="1" lang="en" sz="1200" u="sng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5.4.5 Display:</a:t>
            </a:r>
            <a:r>
              <a:rPr b="1"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The display shall show half the display with Geo-overlay and the other half will display live-streaming.</a:t>
            </a:r>
            <a:endParaRPr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"/>
              <a:buChar char="○"/>
            </a:pPr>
            <a:r>
              <a:rPr lang="en" sz="1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Confirms usable internal volume for all subsystems</a:t>
            </a:r>
            <a:endParaRPr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b="1" lang="en" sz="12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5.2.4 Payload Mounts: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hull shall provide standardized, sealed mounts for Starlink terminal, battery, and sensor payload.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standardized sealed mounts in practice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●"/>
            </a:pPr>
            <a:r>
              <a:rPr b="1" lang="en" sz="1200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5.3.2 Waterproofing:</a:t>
            </a:r>
            <a:r>
              <a:rPr b="1"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aquatic AQUABOT drone shall meet IP68 ingress protection standards IAW IEC 60529:1989 + AMD1:1999 CSV. Waterproof components shall be tested in 1.5 m depths to ensure compliance.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Times New Roman"/>
              <a:buChar char="○"/>
            </a:pPr>
            <a:r>
              <a:rPr lang="en"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Verifies waterproofing during integration sensor/camera operation</a:t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39" name="Google Shape;103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491" y="1054141"/>
            <a:ext cx="40075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0" name="Google Shape;1040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491" y="1991102"/>
            <a:ext cx="40075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1" name="Google Shape;1041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491" y="2614452"/>
            <a:ext cx="40075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491" y="1544946"/>
            <a:ext cx="400758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416" y="3796423"/>
            <a:ext cx="400758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86"/>
          <p:cNvSpPr txBox="1"/>
          <p:nvPr/>
        </p:nvSpPr>
        <p:spPr>
          <a:xfrm>
            <a:off x="4029888" y="3816374"/>
            <a:ext cx="1547700" cy="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Verify with CDE2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7"/>
          <p:cNvSpPr txBox="1"/>
          <p:nvPr/>
        </p:nvSpPr>
        <p:spPr>
          <a:xfrm>
            <a:off x="779100" y="1831925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Cost Analysis and Deliverables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0" name="Google Shape;1050;p8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88"/>
          <p:cNvSpPr txBox="1"/>
          <p:nvPr>
            <p:ph idx="4294967295" type="title"/>
          </p:nvPr>
        </p:nvSpPr>
        <p:spPr>
          <a:xfrm>
            <a:off x="371850" y="2"/>
            <a:ext cx="8400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Bill of Materials</a:t>
            </a:r>
            <a:endParaRPr i="0" sz="24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56" name="Google Shape;1056;p8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7" name="Google Shape;1057;p88"/>
          <p:cNvSpPr txBox="1"/>
          <p:nvPr/>
        </p:nvSpPr>
        <p:spPr>
          <a:xfrm>
            <a:off x="3960278" y="3378250"/>
            <a:ext cx="30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* 	Printed or Machined Part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M	Also includes monthly subscription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058" name="Google Shape;105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850" y="517425"/>
            <a:ext cx="3402524" cy="4232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89"/>
          <p:cNvSpPr txBox="1"/>
          <p:nvPr>
            <p:ph idx="4294967295" type="title"/>
          </p:nvPr>
        </p:nvSpPr>
        <p:spPr>
          <a:xfrm>
            <a:off x="371850" y="2"/>
            <a:ext cx="8400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b="1" lang="en" sz="3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Cost Analysis</a:t>
            </a:r>
            <a:endParaRPr i="0" sz="24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64" name="Google Shape;1064;p8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5" name="Google Shape;1065;p89"/>
          <p:cNvSpPr txBox="1"/>
          <p:nvPr/>
        </p:nvSpPr>
        <p:spPr>
          <a:xfrm>
            <a:off x="281753" y="3918575"/>
            <a:ext cx="30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* 	Printed or Machined Part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M	Also includes monthly subscription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066" name="Google Shape;1066;p89"/>
          <p:cNvSpPr txBox="1"/>
          <p:nvPr/>
        </p:nvSpPr>
        <p:spPr>
          <a:xfrm>
            <a:off x="3784700" y="996450"/>
            <a:ext cx="5073900" cy="3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Highest costs: 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Hull 	($850)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Starlink 	($500)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Battery	($360 *on sale)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range or speed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every drone needs a Starlink or Jetson Nano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Based on BW, likely </a:t>
            </a:r>
            <a:r>
              <a:rPr lang="en" sz="18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⅓</a:t>
            </a:r>
            <a:endParaRPr sz="18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Average cost to $2000 per drone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7" name="Google Shape;106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50" y="468975"/>
            <a:ext cx="2773199" cy="344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90"/>
          <p:cNvSpPr txBox="1"/>
          <p:nvPr>
            <p:ph idx="4294967295" type="title"/>
          </p:nvPr>
        </p:nvSpPr>
        <p:spPr>
          <a:xfrm>
            <a:off x="371850" y="2"/>
            <a:ext cx="8400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Cost Analysis</a:t>
            </a:r>
            <a:endParaRPr i="0" sz="24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73" name="Google Shape;1073;p9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4" name="Google Shape;1074;p90"/>
          <p:cNvSpPr txBox="1"/>
          <p:nvPr/>
        </p:nvSpPr>
        <p:spPr>
          <a:xfrm>
            <a:off x="3784700" y="996450"/>
            <a:ext cx="5073900" cy="3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Cost (tax + shipping): 	$2700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Will go to one complete drone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 Cost: 				$1300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$800 for: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Updates to 2025 Hull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Additional Materials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○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$500 for: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■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unforeseen costs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Shipping, tariffs, etc.</a:t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5" name="Google Shape;1075;p90"/>
          <p:cNvSpPr txBox="1"/>
          <p:nvPr/>
        </p:nvSpPr>
        <p:spPr>
          <a:xfrm>
            <a:off x="281753" y="3918575"/>
            <a:ext cx="30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* 	Printed or Machined Part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</a:rPr>
              <a:t>M	Also includes monthly subscription</a:t>
            </a:r>
            <a:endParaRPr sz="1200">
              <a:solidFill>
                <a:schemeClr val="lt1"/>
              </a:solidFill>
            </a:endParaRPr>
          </a:p>
        </p:txBody>
      </p:sp>
      <p:pic>
        <p:nvPicPr>
          <p:cNvPr id="1076" name="Google Shape;1076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50" y="468975"/>
            <a:ext cx="2773199" cy="344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91"/>
          <p:cNvSpPr txBox="1"/>
          <p:nvPr>
            <p:ph idx="4294967295" type="ctrTitle"/>
          </p:nvPr>
        </p:nvSpPr>
        <p:spPr>
          <a:xfrm>
            <a:off x="2590788" y="-85300"/>
            <a:ext cx="39624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Deliverables</a:t>
            </a:r>
            <a:endParaRPr i="0" sz="30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082" name="Google Shape;1082;p91"/>
          <p:cNvGraphicFramePr/>
          <p:nvPr/>
        </p:nvGraphicFramePr>
        <p:xfrm>
          <a:off x="870200" y="486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{B67F7228-FE1D-4FF7-A4CC-F1EDBB1678EC}</a:tableStyleId>
              </a:tblPr>
              <a:tblGrid>
                <a:gridCol w="2501075"/>
                <a:gridCol w="1094875"/>
                <a:gridCol w="422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Deliverable</a:t>
                      </a:r>
                      <a:endParaRPr b="1" sz="1600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Date</a:t>
                      </a:r>
                      <a:endParaRPr b="1" sz="1600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00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Description</a:t>
                      </a:r>
                      <a:endParaRPr b="1" sz="1600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Programmed Cameras and GUI</a:t>
                      </a:r>
                      <a:endParaRPr b="1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12/9/2025</a:t>
                      </a:r>
                      <a:endParaRPr b="1"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Camera connected and linked to GUI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539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Programmed Sensor Suite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12/9/2025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Sensors and GPS integrated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B539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Materials CAD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12/9/2025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CAD for all major systems complete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solidFill>
                      <a:srgbClr val="0B539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Mounted Cameras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1/2/2026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Equipped with both storage and streaming abilities.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Communication Module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1/22/2026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Starlink integrated with all components &amp; GS.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Propulsion System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2/5/2026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Functional propulsion system w/ motor control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Operational Ground Station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2/19/2026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GUI and backend for live data transmission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Functional Hull Prototype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3/5/2026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Hull integrated with all components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Manual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4/14/2026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Includes documentation and user guides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Project Final Report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5/5/2026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Includes summary, system specs, and results</a:t>
                      </a:r>
                      <a:endParaRPr>
                        <a:solidFill>
                          <a:schemeClr val="lt1"/>
                        </a:solidFill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45700" marB="45700" marR="91425" marL="91425"/>
                </a:tc>
              </a:tr>
            </a:tbl>
          </a:graphicData>
        </a:graphic>
      </p:graphicFrame>
      <p:sp>
        <p:nvSpPr>
          <p:cNvPr id="1083" name="Google Shape;1083;p9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92"/>
          <p:cNvSpPr txBox="1"/>
          <p:nvPr/>
        </p:nvSpPr>
        <p:spPr>
          <a:xfrm>
            <a:off x="779100" y="1831925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Summary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89" name="Google Shape;1089;p9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93"/>
          <p:cNvSpPr txBox="1"/>
          <p:nvPr>
            <p:ph idx="4294967295" type="ctrTitle"/>
          </p:nvPr>
        </p:nvSpPr>
        <p:spPr>
          <a:xfrm>
            <a:off x="2590788" y="0"/>
            <a:ext cx="3962400" cy="4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Summary</a:t>
            </a:r>
            <a:endParaRPr i="0" sz="30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95" name="Google Shape;1095;p9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6" name="Google Shape;1096;p93"/>
          <p:cNvSpPr txBox="1"/>
          <p:nvPr/>
        </p:nvSpPr>
        <p:spPr>
          <a:xfrm>
            <a:off x="426750" y="650575"/>
            <a:ext cx="82905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Key </a:t>
            </a: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Features of Our System:</a:t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"/>
              <a:buChar char="-"/>
            </a:pP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Integrated sensor suite (pH, salinity, temperature, 1080p camera).</a:t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"/>
              <a:buChar char="-"/>
            </a:pP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Starlink-based communication for live video and data transmission.</a:t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"/>
              <a:buChar char="-"/>
            </a:pP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Ground station with sensor data and camera livestream, as well as navigational control</a:t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"/>
              <a:buChar char="-"/>
            </a:pP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Reusable, impact-resistant hull.</a:t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"/>
              <a:buChar char="-"/>
            </a:pP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Swarm deployment and short-term ocean monitoring capability.</a:t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Critical Design Element (CDE-2):</a:t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Demonstrates data accuracy and live data display while sensors and camera are integrated into the hull. </a:t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Next Steps:</a:t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Finalize prototypes, begin hull fabrication and verification of performance requirements.</a:t>
            </a:r>
            <a:endParaRPr sz="16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94"/>
          <p:cNvSpPr txBox="1"/>
          <p:nvPr>
            <p:ph type="title"/>
          </p:nvPr>
        </p:nvSpPr>
        <p:spPr>
          <a:xfrm>
            <a:off x="628650" y="2121948"/>
            <a:ext cx="7886700" cy="99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1575" lIns="41575" spcFirstLastPara="1" rIns="41575" wrap="square" tIns="415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">
                <a:latin typeface="Times"/>
                <a:ea typeface="Times"/>
                <a:cs typeface="Times"/>
                <a:sym typeface="Times"/>
              </a:rPr>
              <a:t>Questions &amp; Discussion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2" name="Google Shape;1102;p9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95"/>
          <p:cNvSpPr txBox="1"/>
          <p:nvPr/>
        </p:nvSpPr>
        <p:spPr>
          <a:xfrm>
            <a:off x="696900" y="1995025"/>
            <a:ext cx="7750200" cy="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Appendix</a:t>
            </a:r>
            <a:endParaRPr b="1" sz="48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08" name="Google Shape;1108;p9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96"/>
          <p:cNvSpPr txBox="1"/>
          <p:nvPr>
            <p:ph idx="4294967295" type="title"/>
          </p:nvPr>
        </p:nvSpPr>
        <p:spPr>
          <a:xfrm>
            <a:off x="371850" y="10"/>
            <a:ext cx="8400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Appendix</a:t>
            </a:r>
            <a:endParaRPr i="0" sz="24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14" name="Google Shape;1114;p9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5" name="Google Shape;1115;p96"/>
          <p:cNvSpPr txBox="1"/>
          <p:nvPr/>
        </p:nvSpPr>
        <p:spPr>
          <a:xfrm>
            <a:off x="3083254" y="4110074"/>
            <a:ext cx="2977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39"/>
              </a:spcBef>
              <a:spcAft>
                <a:spcPts val="0"/>
              </a:spcAft>
              <a:buNone/>
            </a:pPr>
            <a:r>
              <a:rPr i="1" lang="en" sz="84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Parts and  Drawings List</a:t>
            </a:r>
            <a:endParaRPr i="1" sz="848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6" name="Google Shape;1116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2775" y="659635"/>
            <a:ext cx="2778454" cy="3306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97"/>
          <p:cNvSpPr txBox="1"/>
          <p:nvPr>
            <p:ph idx="4294967295" type="title"/>
          </p:nvPr>
        </p:nvSpPr>
        <p:spPr>
          <a:xfrm>
            <a:off x="371850" y="10"/>
            <a:ext cx="8400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Appendix</a:t>
            </a:r>
            <a:endParaRPr i="0" sz="24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22" name="Google Shape;1122;p9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3" name="Google Shape;112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4538" y="573000"/>
            <a:ext cx="5514926" cy="35764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97"/>
          <p:cNvSpPr txBox="1"/>
          <p:nvPr/>
        </p:nvSpPr>
        <p:spPr>
          <a:xfrm>
            <a:off x="3083254" y="4110074"/>
            <a:ext cx="2977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39"/>
              </a:spcBef>
              <a:spcAft>
                <a:spcPts val="0"/>
              </a:spcAft>
              <a:buNone/>
            </a:pPr>
            <a:r>
              <a:rPr i="1" lang="en" sz="84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24V Battery Drawing</a:t>
            </a:r>
            <a:endParaRPr i="1" sz="848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172F">
            <a:alpha val="89940"/>
          </a:srgbClr>
        </a:solidFill>
      </p:bgPr>
    </p:bg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98"/>
          <p:cNvSpPr txBox="1"/>
          <p:nvPr>
            <p:ph idx="4294967295" type="title"/>
          </p:nvPr>
        </p:nvSpPr>
        <p:spPr>
          <a:xfrm>
            <a:off x="371850" y="10"/>
            <a:ext cx="84003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6350">
            <a:noAutofit/>
          </a:bodyPr>
          <a:lstStyle/>
          <a:p>
            <a:pPr indent="0" lvl="0" marL="0" marR="0" rtl="0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lang="en" sz="3000">
                <a:solidFill>
                  <a:srgbClr val="FFFFFF"/>
                </a:solidFill>
                <a:latin typeface="Times"/>
                <a:ea typeface="Times"/>
                <a:cs typeface="Times"/>
                <a:sym typeface="Times"/>
              </a:rPr>
              <a:t>Appendix</a:t>
            </a:r>
            <a:endParaRPr i="0" sz="2400" u="none" cap="none" strike="noStrike">
              <a:solidFill>
                <a:srgbClr val="FFFFFF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30" name="Google Shape;1130;p9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1" name="Google Shape;1131;p98"/>
          <p:cNvSpPr txBox="1"/>
          <p:nvPr/>
        </p:nvSpPr>
        <p:spPr>
          <a:xfrm>
            <a:off x="3083254" y="4110074"/>
            <a:ext cx="2977500" cy="3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6925" lIns="96925" spcFirstLastPara="1" rIns="96925" wrap="square" tIns="969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339"/>
              </a:spcBef>
              <a:spcAft>
                <a:spcPts val="0"/>
              </a:spcAft>
              <a:buNone/>
            </a:pPr>
            <a:r>
              <a:rPr i="1" lang="en" sz="848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Mount Drawing</a:t>
            </a:r>
            <a:endParaRPr i="1" sz="848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2" name="Google Shape;1132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1975" y="573000"/>
            <a:ext cx="5607250" cy="361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