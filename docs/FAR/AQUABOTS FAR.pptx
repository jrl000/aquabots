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Playfair Display"/>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EF35261-E8B5-419E-839D-F0FCB15417EF}">
  <a:tblStyle styleId="{2EF35261-E8B5-419E-839D-F0FCB15417E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8A23E93-88C5-4DEB-83CE-8D11F667290B}"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PlayfairDisplay-bold.fntdata"/><Relationship Id="rId21" Type="http://schemas.openxmlformats.org/officeDocument/2006/relationships/slide" Target="slides/slide16.xml"/><Relationship Id="rId43" Type="http://schemas.openxmlformats.org/officeDocument/2006/relationships/font" Target="fonts/PlayfairDisplay-regular.fntdata"/><Relationship Id="rId24" Type="http://schemas.openxmlformats.org/officeDocument/2006/relationships/slide" Target="slides/slide19.xml"/><Relationship Id="rId46" Type="http://schemas.openxmlformats.org/officeDocument/2006/relationships/font" Target="fonts/PlayfairDisplay-boldItalic.fntdata"/><Relationship Id="rId23" Type="http://schemas.openxmlformats.org/officeDocument/2006/relationships/slide" Target="slides/slide18.xml"/><Relationship Id="rId45" Type="http://schemas.openxmlformats.org/officeDocument/2006/relationships/font" Target="fonts/PlayfairDisplay-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49c5a3120_1_3:notes"/>
          <p:cNvSpPr/>
          <p:nvPr>
            <p:ph idx="2" type="sldImg"/>
          </p:nvPr>
        </p:nvSpPr>
        <p:spPr>
          <a:xfrm>
            <a:off x="2143305" y="685415"/>
            <a:ext cx="2572500" cy="3429600"/>
          </a:xfrm>
          <a:custGeom>
            <a:rect b="b" l="l" r="r" t="t"/>
            <a:pathLst>
              <a:path extrusionOk="0" h="120000" w="120000">
                <a:moveTo>
                  <a:pt x="0" y="0"/>
                </a:moveTo>
                <a:lnTo>
                  <a:pt x="120000" y="0"/>
                </a:lnTo>
                <a:lnTo>
                  <a:pt x="120000" y="120000"/>
                </a:lnTo>
                <a:lnTo>
                  <a:pt x="0" y="120000"/>
                </a:lnTo>
                <a:close/>
              </a:path>
            </a:pathLst>
          </a:custGeom>
          <a:noFill/>
          <a:ln cap="flat" cmpd="sng" w="4725">
            <a:solidFill>
              <a:srgbClr val="000000"/>
            </a:solidFill>
            <a:prstDash val="solid"/>
            <a:round/>
            <a:headEnd len="sm" w="sm" type="none"/>
            <a:tailEnd len="sm" w="sm" type="none"/>
          </a:ln>
        </p:spPr>
      </p:sp>
      <p:sp>
        <p:nvSpPr>
          <p:cNvPr id="76" name="Google Shape;76;g3949c5a3120_1_3:notes"/>
          <p:cNvSpPr txBox="1"/>
          <p:nvPr>
            <p:ph idx="1" type="body"/>
          </p:nvPr>
        </p:nvSpPr>
        <p:spPr>
          <a:xfrm>
            <a:off x="685800" y="4343400"/>
            <a:ext cx="5486400" cy="4114800"/>
          </a:xfrm>
          <a:prstGeom prst="rect">
            <a:avLst/>
          </a:prstGeom>
          <a:noFill/>
          <a:ln>
            <a:noFill/>
          </a:ln>
        </p:spPr>
        <p:txBody>
          <a:bodyPr anchorCtr="0" anchor="t" bIns="107525" lIns="107525" spcFirstLastPara="1" rIns="107525" wrap="square" tIns="107525">
            <a:noAutofit/>
          </a:bodyPr>
          <a:lstStyle/>
          <a:p>
            <a:pPr indent="0" lvl="0" marL="0" rtl="0" algn="l">
              <a:lnSpc>
                <a:spcPct val="100000"/>
              </a:lnSpc>
              <a:spcBef>
                <a:spcPts val="0"/>
              </a:spcBef>
              <a:spcAft>
                <a:spcPts val="0"/>
              </a:spcAft>
              <a:buSzPts val="13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47e4820f3_1_5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947e4820f3_1_5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rgbClr val="000000"/>
              </a:buClr>
              <a:buSzPts val="1100"/>
              <a:buFont typeface="Arial"/>
              <a:buNone/>
            </a:pPr>
            <a:r>
              <a:rPr lang="en"/>
              <a:t>Jamie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99e7c6a378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399e7c6a378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58bd2fa9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58bd2fa9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d624c8a72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8d624c8a72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9e7c6a378_0_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99e7c6a378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228600" marR="0" rtl="0" algn="l">
              <a:lnSpc>
                <a:spcPct val="100000"/>
              </a:lnSpc>
              <a:spcBef>
                <a:spcPts val="0"/>
              </a:spcBef>
              <a:spcAft>
                <a:spcPts val="0"/>
              </a:spcAft>
              <a:buClr>
                <a:srgbClr val="000000"/>
              </a:buClr>
              <a:buSzPts val="1100"/>
              <a:buFont typeface="Arial"/>
              <a:buNone/>
            </a:pPr>
            <a:r>
              <a:rPr lang="en"/>
              <a:t>Jamie</a:t>
            </a:r>
            <a:endParaRPr/>
          </a:p>
          <a:p>
            <a:pPr indent="0" lvl="0" marL="2286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929ca9f9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c929ca9f9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9e7c6a378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99e7c6a378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lang="en"/>
              <a:t>Jamie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b336c3c3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b336c3c3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Robert (Include photo of CAD)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e4f0f8e5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de4f0f8e5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 - addition of pixhawks, include photo of pixhawk, and integration between ESC/Motor/Prop and ESP32.</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e252002c3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e252002c3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Mayra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de4f0f8e5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de4f0f8e5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Kama (ISR CAD left → New CAD right)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db8267328_0_5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38db8267328_0_5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8b336c3c3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8b336c3c3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John &amp; Robert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e4f0f8e5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e4f0f8e5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John &amp; Robert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e4f0f8e5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e4f0f8e5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John &amp; Robert - add requirements and fill</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e4f0f8e5a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e4f0f8e5a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Alex</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66758fa6bb0e9b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66758fa6bb0e9b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Kama:</a:t>
            </a:r>
            <a:endParaRPr/>
          </a:p>
          <a:p>
            <a:pPr indent="-298450" lvl="0" marL="457200" rtl="0" algn="l">
              <a:spcBef>
                <a:spcPts val="0"/>
              </a:spcBef>
              <a:spcAft>
                <a:spcPts val="0"/>
              </a:spcAft>
              <a:buSzPts val="1100"/>
              <a:buChar char="●"/>
            </a:pPr>
            <a:r>
              <a:rPr lang="en"/>
              <a:t>On left, comparison of COB to COM</a:t>
            </a:r>
            <a:endParaRPr/>
          </a:p>
          <a:p>
            <a:pPr indent="-298450" lvl="0" marL="457200" rtl="0" algn="l">
              <a:spcBef>
                <a:spcPts val="0"/>
              </a:spcBef>
              <a:spcAft>
                <a:spcPts val="0"/>
              </a:spcAft>
              <a:buSzPts val="1100"/>
              <a:buChar char="●"/>
            </a:pPr>
            <a:r>
              <a:rPr lang="en"/>
              <a:t>It can be seen that COM is below the COM, suggesting self-righting capabilities after modifications</a:t>
            </a:r>
            <a:endParaRPr/>
          </a:p>
          <a:p>
            <a:pPr indent="-298450" lvl="0" marL="457200" rtl="0" algn="l">
              <a:spcBef>
                <a:spcPts val="0"/>
              </a:spcBef>
              <a:spcAft>
                <a:spcPts val="0"/>
              </a:spcAft>
              <a:buSzPts val="1100"/>
              <a:buChar char="●"/>
            </a:pPr>
            <a:r>
              <a:rPr lang="en"/>
              <a:t>Initial self-righting tests were passed very convincingly</a:t>
            </a:r>
            <a:endParaRPr/>
          </a:p>
          <a:p>
            <a:pPr indent="-298450" lvl="0" marL="457200" rtl="0" algn="l">
              <a:spcBef>
                <a:spcPts val="0"/>
              </a:spcBef>
              <a:spcAft>
                <a:spcPts val="0"/>
              </a:spcAft>
              <a:buSzPts val="1100"/>
              <a:buChar char="●"/>
            </a:pPr>
            <a:r>
              <a:rPr lang="en"/>
              <a:t>Also, there’s a small offset along the transverse axis which will be reflected by a slight change in pitch when sitting in the water</a:t>
            </a:r>
            <a:endParaRPr/>
          </a:p>
          <a:p>
            <a:pPr indent="-298450" lvl="0" marL="457200" rtl="0" algn="l">
              <a:spcBef>
                <a:spcPts val="0"/>
              </a:spcBef>
              <a:spcAft>
                <a:spcPts val="0"/>
              </a:spcAft>
              <a:buSzPts val="1100"/>
              <a:buChar char="●"/>
            </a:pPr>
            <a:r>
              <a:rPr lang="en"/>
              <a:t>The offset in the longitudinal direction is negligible, meaning that no roll is expected due to added mass</a:t>
            </a:r>
            <a:endParaRPr/>
          </a:p>
          <a:p>
            <a:pPr indent="-298450" lvl="0" marL="457200" rtl="0" algn="l">
              <a:spcBef>
                <a:spcPts val="0"/>
              </a:spcBef>
              <a:spcAft>
                <a:spcPts val="0"/>
              </a:spcAft>
              <a:buSzPts val="1100"/>
              <a:buChar char="●"/>
            </a:pPr>
            <a:r>
              <a:rPr lang="en"/>
              <a:t>Initial waterproof testing was also done with kimwipes, which was completely successful when:</a:t>
            </a:r>
            <a:endParaRPr/>
          </a:p>
          <a:p>
            <a:pPr indent="-298450" lvl="1" marL="914400" rtl="0" algn="l">
              <a:spcBef>
                <a:spcPts val="0"/>
              </a:spcBef>
              <a:spcAft>
                <a:spcPts val="0"/>
              </a:spcAft>
              <a:buSzPts val="1100"/>
              <a:buChar char="○"/>
            </a:pPr>
            <a:r>
              <a:rPr lang="en"/>
              <a:t>Turning propeller shaft</a:t>
            </a:r>
            <a:endParaRPr/>
          </a:p>
          <a:p>
            <a:pPr indent="-298450" lvl="1" marL="914400" rtl="0" algn="l">
              <a:spcBef>
                <a:spcPts val="0"/>
              </a:spcBef>
              <a:spcAft>
                <a:spcPts val="0"/>
              </a:spcAft>
              <a:buSzPts val="1100"/>
              <a:buChar char="○"/>
            </a:pPr>
            <a:r>
              <a:rPr lang="en"/>
              <a:t>Flipping</a:t>
            </a:r>
            <a:endParaRPr/>
          </a:p>
          <a:p>
            <a:pPr indent="-298450" lvl="1" marL="914400" rtl="0" algn="l">
              <a:spcBef>
                <a:spcPts val="0"/>
              </a:spcBef>
              <a:spcAft>
                <a:spcPts val="0"/>
              </a:spcAft>
              <a:buSzPts val="1100"/>
              <a:buChar char="○"/>
            </a:pPr>
            <a:r>
              <a:rPr lang="en"/>
              <a:t>Holding underwater at different orientations</a:t>
            </a:r>
            <a:endParaRPr/>
          </a:p>
          <a:p>
            <a:pPr indent="-298450" lvl="0" marL="457200" rtl="0" algn="l">
              <a:spcBef>
                <a:spcPts val="0"/>
              </a:spcBef>
              <a:spcAft>
                <a:spcPts val="0"/>
              </a:spcAft>
              <a:buSzPts val="1100"/>
              <a:buChar char="●"/>
            </a:pPr>
            <a:r>
              <a:rPr lang="en"/>
              <a:t>For extra waterproofing safety, several precautions have been taken (ordering upgraded washers, waterproof sealant, and a bilge pump)</a:t>
            </a:r>
            <a:endParaRPr/>
          </a:p>
          <a:p>
            <a:pPr indent="-298450" lvl="0" marL="457200" rtl="0" algn="l">
              <a:spcBef>
                <a:spcPts val="0"/>
              </a:spcBef>
              <a:spcAft>
                <a:spcPts val="0"/>
              </a:spcAft>
              <a:buSzPts val="1100"/>
              <a:buChar char="●"/>
            </a:pPr>
            <a:r>
              <a:rPr lang="en"/>
              <a:t>After all of the components are integrated by March 23, final testing for both waterproofing and self-righting will be conducted soon after</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de502313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de502313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a46660a72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ca46660a7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Mayra - Add video with Eddy, Summarize results in bullet points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5881ae83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d5881ae83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de4f0f8e5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de4f0f8e5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Mayra - Add in other </a:t>
            </a:r>
            <a:r>
              <a:rPr lang="en"/>
              <a:t>requirements</a:t>
            </a:r>
            <a:r>
              <a:rPr lang="en"/>
              <a:t> that have been fully/partially verified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c09163feb9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c09163feb9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John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e4f0f8e5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de4f0f8e5a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John - Update from ISR</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c929ca9f96_0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3c929ca9f96_0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Jamie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de4f0f8e5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de4f0f8e5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Jamie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3deda4d5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a3deda4d5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Jamie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e4f0f8e5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de4f0f8e5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Jamie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db8267328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38db8267328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e4f0f8e5a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3de4f0f8e5a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Kama</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99e7c6a378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399e7c6a378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8db8267328_0_5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38db8267328_0_5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Robert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d4d97e527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3d4d97e527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rPr lang="en"/>
              <a:t>Jamie</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947e4820f3_1_7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g3947e4820f3_1_7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Jamie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8d624c8a72_0_2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38d624c8a72_0_2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rPr lang="en"/>
              <a:t>Jamie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9b880e518d_4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9b880e518d_4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9a3e898778_3_262:notes"/>
          <p:cNvSpPr txBox="1"/>
          <p:nvPr>
            <p:ph idx="1" type="body"/>
          </p:nvPr>
        </p:nvSpPr>
        <p:spPr>
          <a:xfrm>
            <a:off x="685800" y="4400550"/>
            <a:ext cx="5486400" cy="3600600"/>
          </a:xfrm>
          <a:prstGeom prst="rect">
            <a:avLst/>
          </a:prstGeom>
          <a:noFill/>
          <a:ln>
            <a:noFill/>
          </a:ln>
        </p:spPr>
        <p:txBody>
          <a:bodyPr anchorCtr="0" anchor="t" bIns="107525" lIns="107525" spcFirstLastPara="1" rIns="107525" wrap="square" tIns="107525">
            <a:noAutofit/>
          </a:bodyPr>
          <a:lstStyle/>
          <a:p>
            <a:pPr indent="0" lvl="0" marL="0" rtl="0" algn="l">
              <a:lnSpc>
                <a:spcPct val="100000"/>
              </a:lnSpc>
              <a:spcBef>
                <a:spcPts val="0"/>
              </a:spcBef>
              <a:spcAft>
                <a:spcPts val="0"/>
              </a:spcAft>
              <a:buSzPts val="1300"/>
              <a:buNone/>
            </a:pPr>
            <a:r>
              <a:rPr lang="en"/>
              <a:t>17</a:t>
            </a:r>
            <a:endParaRPr/>
          </a:p>
        </p:txBody>
      </p:sp>
      <p:sp>
        <p:nvSpPr>
          <p:cNvPr id="350" name="Google Shape;350;g39a3e898778_3_262:notes"/>
          <p:cNvSpPr/>
          <p:nvPr>
            <p:ph idx="2" type="sldImg"/>
          </p:nvPr>
        </p:nvSpPr>
        <p:spPr>
          <a:xfrm>
            <a:off x="2271659" y="1143642"/>
            <a:ext cx="2314800" cy="3085500"/>
          </a:xfrm>
          <a:custGeom>
            <a:rect b="b" l="l" r="r" t="t"/>
            <a:pathLst>
              <a:path extrusionOk="0" h="120000" w="120000">
                <a:moveTo>
                  <a:pt x="0" y="0"/>
                </a:moveTo>
                <a:lnTo>
                  <a:pt x="120000" y="0"/>
                </a:lnTo>
                <a:lnTo>
                  <a:pt x="120000" y="120000"/>
                </a:lnTo>
                <a:lnTo>
                  <a:pt x="0" y="120000"/>
                </a:lnTo>
                <a:close/>
              </a:path>
            </a:pathLst>
          </a:custGeom>
          <a:noFill/>
          <a:ln cap="flat" cmpd="sng" w="47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Times New Roman"/>
              <a:buNone/>
              <a:defRPr sz="2800">
                <a:latin typeface="Times New Roman"/>
                <a:ea typeface="Times New Roman"/>
                <a:cs typeface="Times New Roman"/>
                <a:sym typeface="Times New Roman"/>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Section Title - No Subtitle" showMasterSp="0">
  <p:cSld name="Blank">
    <p:bg>
      <p:bgPr>
        <a:solidFill>
          <a:srgbClr val="0C343D"/>
        </a:solidFill>
      </p:bgPr>
    </p:bg>
    <p:spTree>
      <p:nvGrpSpPr>
        <p:cNvPr id="50" name="Shape 50"/>
        <p:cNvGrpSpPr/>
        <p:nvPr/>
      </p:nvGrpSpPr>
      <p:grpSpPr>
        <a:xfrm>
          <a:off x="0" y="0"/>
          <a:ext cx="0" cy="0"/>
          <a:chOff x="0" y="0"/>
          <a:chExt cx="0" cy="0"/>
        </a:xfrm>
      </p:grpSpPr>
      <p:sp>
        <p:nvSpPr>
          <p:cNvPr id="51" name="Google Shape;51;p13"/>
          <p:cNvSpPr/>
          <p:nvPr/>
        </p:nvSpPr>
        <p:spPr>
          <a:xfrm>
            <a:off x="4357552" y="2912073"/>
            <a:ext cx="429054" cy="0"/>
          </a:xfrm>
          <a:custGeom>
            <a:rect b="b" l="l" r="r" t="t"/>
            <a:pathLst>
              <a:path extrusionOk="0" h="120000" w="942975">
                <a:moveTo>
                  <a:pt x="0" y="0"/>
                </a:moveTo>
                <a:lnTo>
                  <a:pt x="942379" y="0"/>
                </a:lnTo>
              </a:path>
            </a:pathLst>
          </a:custGeom>
          <a:noFill/>
          <a:ln cap="flat" cmpd="sng" w="34650">
            <a:solidFill>
              <a:srgbClr val="BD203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pic>
        <p:nvPicPr>
          <p:cNvPr id="52" name="Google Shape;52;p13"/>
          <p:cNvPicPr preferRelativeResize="0"/>
          <p:nvPr/>
        </p:nvPicPr>
        <p:blipFill rotWithShape="1">
          <a:blip r:embed="rId2">
            <a:alphaModFix/>
          </a:blip>
          <a:srcRect b="0" l="0" r="0" t="0"/>
          <a:stretch/>
        </p:blipFill>
        <p:spPr>
          <a:xfrm>
            <a:off x="6345482" y="4225822"/>
            <a:ext cx="2169721" cy="511726"/>
          </a:xfrm>
          <a:prstGeom prst="rect">
            <a:avLst/>
          </a:prstGeom>
          <a:noFill/>
          <a:ln>
            <a:noFill/>
          </a:ln>
        </p:spPr>
      </p:pic>
      <p:sp>
        <p:nvSpPr>
          <p:cNvPr id="53" name="Google Shape;53;p13"/>
          <p:cNvSpPr/>
          <p:nvPr/>
        </p:nvSpPr>
        <p:spPr>
          <a:xfrm>
            <a:off x="0" y="45"/>
            <a:ext cx="317100" cy="5143500"/>
          </a:xfrm>
          <a:prstGeom prst="rect">
            <a:avLst/>
          </a:prstGeom>
          <a:solidFill>
            <a:schemeClr val="dk2"/>
          </a:solidFill>
          <a:ln>
            <a:noFill/>
          </a:ln>
        </p:spPr>
        <p:txBody>
          <a:bodyPr anchorCtr="0" anchor="ctr" bIns="41575" lIns="41575" spcFirstLastPara="1" rIns="41575" wrap="square" tIns="4157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54" name="Google Shape;54;p13"/>
          <p:cNvSpPr/>
          <p:nvPr/>
        </p:nvSpPr>
        <p:spPr>
          <a:xfrm>
            <a:off x="223073" y="0"/>
            <a:ext cx="34800" cy="5143500"/>
          </a:xfrm>
          <a:prstGeom prst="rect">
            <a:avLst/>
          </a:prstGeom>
          <a:solidFill>
            <a:schemeClr val="lt1"/>
          </a:solidFill>
          <a:ln>
            <a:noFill/>
          </a:ln>
        </p:spPr>
        <p:txBody>
          <a:bodyPr anchorCtr="0" anchor="ctr" bIns="41575" lIns="41575" spcFirstLastPara="1" rIns="41575" wrap="square" tIns="41575">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55" name="Google Shape;55;p13"/>
          <p:cNvSpPr txBox="1"/>
          <p:nvPr>
            <p:ph type="title"/>
          </p:nvPr>
        </p:nvSpPr>
        <p:spPr>
          <a:xfrm>
            <a:off x="628676" y="1975381"/>
            <a:ext cx="7886700" cy="739200"/>
          </a:xfrm>
          <a:prstGeom prst="rect">
            <a:avLst/>
          </a:prstGeom>
          <a:noFill/>
          <a:ln>
            <a:noFill/>
          </a:ln>
        </p:spPr>
        <p:txBody>
          <a:bodyPr anchorCtr="0" anchor="t" bIns="41575" lIns="41575" spcFirstLastPara="1" rIns="41575" wrap="square" tIns="41575">
            <a:noAutofit/>
          </a:bodyPr>
          <a:lstStyle>
            <a:lvl1pPr lvl="0"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2pPr>
            <a:lvl3pPr lvl="2"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3pPr>
            <a:lvl4pPr lvl="3"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4pPr>
            <a:lvl5pPr lvl="4"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5pPr>
            <a:lvl6pPr lvl="5"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6pPr>
            <a:lvl7pPr lvl="6"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7pPr>
            <a:lvl8pPr lvl="7"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8pPr>
            <a:lvl9pPr lvl="8"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9pPr>
          </a:lstStyle>
          <a:p/>
        </p:txBody>
      </p:sp>
      <p:sp>
        <p:nvSpPr>
          <p:cNvPr id="56" name="Google Shape;56;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57" name="Shape 57"/>
        <p:cNvGrpSpPr/>
        <p:nvPr/>
      </p:nvGrpSpPr>
      <p:grpSpPr>
        <a:xfrm>
          <a:off x="0" y="0"/>
          <a:ext cx="0" cy="0"/>
          <a:chOff x="0" y="0"/>
          <a:chExt cx="0" cy="0"/>
        </a:xfrm>
      </p:grpSpPr>
      <p:pic>
        <p:nvPicPr>
          <p:cNvPr id="58" name="Google Shape;58;p14"/>
          <p:cNvPicPr preferRelativeResize="0"/>
          <p:nvPr/>
        </p:nvPicPr>
        <p:blipFill rotWithShape="1">
          <a:blip r:embed="rId2">
            <a:alphaModFix/>
          </a:blip>
          <a:srcRect b="0" l="0" r="0" t="0"/>
          <a:stretch/>
        </p:blipFill>
        <p:spPr>
          <a:xfrm>
            <a:off x="4305158" y="4444583"/>
            <a:ext cx="533682" cy="500533"/>
          </a:xfrm>
          <a:prstGeom prst="rect">
            <a:avLst/>
          </a:prstGeom>
          <a:noFill/>
          <a:ln>
            <a:noFill/>
          </a:ln>
        </p:spPr>
      </p:pic>
      <p:sp>
        <p:nvSpPr>
          <p:cNvPr id="59" name="Google Shape;59;p14"/>
          <p:cNvSpPr/>
          <p:nvPr/>
        </p:nvSpPr>
        <p:spPr>
          <a:xfrm>
            <a:off x="-5" y="4804350"/>
            <a:ext cx="4154400" cy="45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 name="Google Shape;60;p14"/>
          <p:cNvSpPr/>
          <p:nvPr/>
        </p:nvSpPr>
        <p:spPr>
          <a:xfrm>
            <a:off x="4968545" y="4804350"/>
            <a:ext cx="4154400" cy="45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 name="Google Shape;61;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7">
    <p:spTree>
      <p:nvGrpSpPr>
        <p:cNvPr id="62" name="Shape 62"/>
        <p:cNvGrpSpPr/>
        <p:nvPr/>
      </p:nvGrpSpPr>
      <p:grpSpPr>
        <a:xfrm>
          <a:off x="0" y="0"/>
          <a:ext cx="0" cy="0"/>
          <a:chOff x="0" y="0"/>
          <a:chExt cx="0" cy="0"/>
        </a:xfrm>
      </p:grpSpPr>
      <p:pic>
        <p:nvPicPr>
          <p:cNvPr id="63" name="Google Shape;63;p15"/>
          <p:cNvPicPr preferRelativeResize="0"/>
          <p:nvPr/>
        </p:nvPicPr>
        <p:blipFill rotWithShape="1">
          <a:blip r:embed="rId2">
            <a:alphaModFix/>
          </a:blip>
          <a:srcRect b="0" l="0" r="0" t="0"/>
          <a:stretch/>
        </p:blipFill>
        <p:spPr>
          <a:xfrm>
            <a:off x="4305158" y="4444583"/>
            <a:ext cx="533682" cy="500533"/>
          </a:xfrm>
          <a:prstGeom prst="rect">
            <a:avLst/>
          </a:prstGeom>
          <a:noFill/>
          <a:ln>
            <a:noFill/>
          </a:ln>
        </p:spPr>
      </p:pic>
      <p:sp>
        <p:nvSpPr>
          <p:cNvPr id="64" name="Google Shape;64;p15"/>
          <p:cNvSpPr/>
          <p:nvPr/>
        </p:nvSpPr>
        <p:spPr>
          <a:xfrm>
            <a:off x="-5" y="4804350"/>
            <a:ext cx="4154400" cy="45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 name="Google Shape;65;p15"/>
          <p:cNvSpPr/>
          <p:nvPr/>
        </p:nvSpPr>
        <p:spPr>
          <a:xfrm>
            <a:off x="4968545" y="4804350"/>
            <a:ext cx="4154400" cy="45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6" name="Google Shape;66;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CUSTOM_1">
    <p:spTree>
      <p:nvGrpSpPr>
        <p:cNvPr id="67" name="Shape 67"/>
        <p:cNvGrpSpPr/>
        <p:nvPr/>
      </p:nvGrpSpPr>
      <p:grpSpPr>
        <a:xfrm>
          <a:off x="0" y="0"/>
          <a:ext cx="0" cy="0"/>
          <a:chOff x="0" y="0"/>
          <a:chExt cx="0" cy="0"/>
        </a:xfrm>
      </p:grpSpPr>
      <p:pic>
        <p:nvPicPr>
          <p:cNvPr id="68" name="Google Shape;68;p16"/>
          <p:cNvPicPr preferRelativeResize="0"/>
          <p:nvPr/>
        </p:nvPicPr>
        <p:blipFill rotWithShape="1">
          <a:blip r:embed="rId2">
            <a:alphaModFix amt="70000"/>
          </a:blip>
          <a:srcRect b="0" l="0" r="0" t="0"/>
          <a:stretch/>
        </p:blipFill>
        <p:spPr>
          <a:xfrm>
            <a:off x="-3555174" y="-2077542"/>
            <a:ext cx="7790113" cy="7790119"/>
          </a:xfrm>
          <a:prstGeom prst="rect">
            <a:avLst/>
          </a:prstGeom>
          <a:noFill/>
          <a:ln>
            <a:noFill/>
          </a:ln>
        </p:spPr>
      </p:pic>
      <p:pic>
        <p:nvPicPr>
          <p:cNvPr id="69" name="Google Shape;69;p16"/>
          <p:cNvPicPr preferRelativeResize="0"/>
          <p:nvPr/>
        </p:nvPicPr>
        <p:blipFill rotWithShape="1">
          <a:blip r:embed="rId3">
            <a:alphaModFix amt="70000"/>
          </a:blip>
          <a:srcRect b="0" l="0" r="0" t="0"/>
          <a:stretch/>
        </p:blipFill>
        <p:spPr>
          <a:xfrm>
            <a:off x="3193482" y="-2508771"/>
            <a:ext cx="8325150" cy="8325150"/>
          </a:xfrm>
          <a:prstGeom prst="rect">
            <a:avLst/>
          </a:prstGeom>
          <a:noFill/>
          <a:ln>
            <a:noFill/>
          </a:ln>
        </p:spPr>
      </p:pic>
      <p:sp>
        <p:nvSpPr>
          <p:cNvPr id="70" name="Google Shape;70;p16"/>
          <p:cNvSpPr/>
          <p:nvPr/>
        </p:nvSpPr>
        <p:spPr>
          <a:xfrm>
            <a:off x="4357552" y="2912073"/>
            <a:ext cx="429054" cy="0"/>
          </a:xfrm>
          <a:custGeom>
            <a:rect b="b" l="l" r="r" t="t"/>
            <a:pathLst>
              <a:path extrusionOk="0" h="120000" w="942975">
                <a:moveTo>
                  <a:pt x="0" y="0"/>
                </a:moveTo>
                <a:lnTo>
                  <a:pt x="942379" y="0"/>
                </a:lnTo>
              </a:path>
            </a:pathLst>
          </a:custGeom>
          <a:noFill/>
          <a:ln cap="flat" cmpd="sng" w="34650">
            <a:solidFill>
              <a:srgbClr val="BD2036"/>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pic>
        <p:nvPicPr>
          <p:cNvPr id="71" name="Google Shape;71;p16"/>
          <p:cNvPicPr preferRelativeResize="0"/>
          <p:nvPr/>
        </p:nvPicPr>
        <p:blipFill rotWithShape="1">
          <a:blip r:embed="rId4">
            <a:alphaModFix/>
          </a:blip>
          <a:srcRect b="0" l="0" r="0" t="0"/>
          <a:stretch/>
        </p:blipFill>
        <p:spPr>
          <a:xfrm>
            <a:off x="6345482" y="4225822"/>
            <a:ext cx="2169721" cy="511726"/>
          </a:xfrm>
          <a:prstGeom prst="rect">
            <a:avLst/>
          </a:prstGeom>
          <a:noFill/>
          <a:ln>
            <a:noFill/>
          </a:ln>
        </p:spPr>
      </p:pic>
      <p:sp>
        <p:nvSpPr>
          <p:cNvPr id="72" name="Google Shape;72;p16"/>
          <p:cNvSpPr txBox="1"/>
          <p:nvPr>
            <p:ph type="title"/>
          </p:nvPr>
        </p:nvSpPr>
        <p:spPr>
          <a:xfrm>
            <a:off x="628676" y="1975381"/>
            <a:ext cx="7886700" cy="739200"/>
          </a:xfrm>
          <a:prstGeom prst="rect">
            <a:avLst/>
          </a:prstGeom>
          <a:noFill/>
          <a:ln>
            <a:noFill/>
          </a:ln>
        </p:spPr>
        <p:txBody>
          <a:bodyPr anchorCtr="0" anchor="t" bIns="41575" lIns="41575" spcFirstLastPara="1" rIns="41575" wrap="square" tIns="41575">
            <a:noAutofit/>
          </a:bodyPr>
          <a:lstStyle>
            <a:lvl1pPr lvl="0"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1pPr>
            <a:lvl2pPr lvl="1"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2pPr>
            <a:lvl3pPr lvl="2"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3pPr>
            <a:lvl4pPr lvl="3"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4pPr>
            <a:lvl5pPr lvl="4"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5pPr>
            <a:lvl6pPr lvl="5"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6pPr>
            <a:lvl7pPr lvl="6"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7pPr>
            <a:lvl8pPr lvl="7"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8pPr>
            <a:lvl9pPr lvl="8" marR="0" algn="ctr">
              <a:lnSpc>
                <a:spcPct val="100000"/>
              </a:lnSpc>
              <a:spcBef>
                <a:spcPts val="0"/>
              </a:spcBef>
              <a:spcAft>
                <a:spcPts val="0"/>
              </a:spcAft>
              <a:buClr>
                <a:srgbClr val="000000"/>
              </a:buClr>
              <a:buSzPts val="4400"/>
              <a:buFont typeface="Arial"/>
              <a:buNone/>
              <a:defRPr b="0" i="0" sz="4400" u="none" cap="none" strike="noStrike">
                <a:solidFill>
                  <a:schemeClr val="dk2"/>
                </a:solidFill>
                <a:latin typeface="Calibri"/>
                <a:ea typeface="Calibri"/>
                <a:cs typeface="Calibri"/>
                <a:sym typeface="Calibri"/>
              </a:defRPr>
            </a:lvl9pPr>
          </a:lstStyle>
          <a:p/>
        </p:txBody>
      </p:sp>
      <p:sp>
        <p:nvSpPr>
          <p:cNvPr id="73" name="Google Shape;73;p16"/>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0172F">
            <a:alpha val="89940"/>
          </a:srgbClr>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chemeClr val="dk1"/>
              </a:buClr>
              <a:buSzPts val="2800"/>
              <a:buFont typeface="Times New Roman"/>
              <a:buNone/>
              <a:defRPr sz="2800">
                <a:solidFill>
                  <a:schemeClr val="dk1"/>
                </a:solidFill>
                <a:latin typeface="Times New Roman"/>
                <a:ea typeface="Times New Roman"/>
                <a:cs typeface="Times New Roman"/>
                <a:sym typeface="Times New Roma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0.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hyperlink" Target="http://100.67.1.2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hyperlink" Target="http://drive.google.com/file/d/1Eiq8S5XXmrSuUg-G0ZGXRnHwR0tOvHUI/view" TargetMode="Externa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hyperlink" Target="http://drive.google.com/file/d/124Nh2tPBcaNU1RTnaNWB_xLQ4SWeDqEb/view" TargetMode="External"/><Relationship Id="rId5" Type="http://schemas.openxmlformats.org/officeDocument/2006/relationships/image" Target="../media/image6.jpg"/><Relationship Id="rId6"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13.png"/><Relationship Id="rId7"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7" name="Shape 77"/>
        <p:cNvGrpSpPr/>
        <p:nvPr/>
      </p:nvGrpSpPr>
      <p:grpSpPr>
        <a:xfrm>
          <a:off x="0" y="0"/>
          <a:ext cx="0" cy="0"/>
          <a:chOff x="0" y="0"/>
          <a:chExt cx="0" cy="0"/>
        </a:xfrm>
      </p:grpSpPr>
      <p:sp>
        <p:nvSpPr>
          <p:cNvPr id="78" name="Google Shape;78;p17"/>
          <p:cNvSpPr/>
          <p:nvPr/>
        </p:nvSpPr>
        <p:spPr>
          <a:xfrm>
            <a:off x="0" y="0"/>
            <a:ext cx="1200" cy="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7"/>
          <p:cNvSpPr txBox="1"/>
          <p:nvPr>
            <p:ph type="title"/>
          </p:nvPr>
        </p:nvSpPr>
        <p:spPr>
          <a:xfrm>
            <a:off x="297700" y="898400"/>
            <a:ext cx="8664600" cy="2206500"/>
          </a:xfrm>
          <a:prstGeom prst="rect">
            <a:avLst/>
          </a:prstGeom>
          <a:noFill/>
          <a:ln>
            <a:noFill/>
          </a:ln>
        </p:spPr>
        <p:txBody>
          <a:bodyPr anchorCtr="0" anchor="t" bIns="41575" lIns="41575" spcFirstLastPara="1" rIns="41575" wrap="square" tIns="41575">
            <a:noAutofit/>
          </a:bodyPr>
          <a:lstStyle/>
          <a:p>
            <a:pPr indent="0" lvl="0" marL="0" rtl="0" algn="ctr">
              <a:lnSpc>
                <a:spcPct val="100000"/>
              </a:lnSpc>
              <a:spcBef>
                <a:spcPts val="0"/>
              </a:spcBef>
              <a:spcAft>
                <a:spcPts val="0"/>
              </a:spcAft>
              <a:buSzPts val="4400"/>
              <a:buNone/>
            </a:pPr>
            <a:r>
              <a:rPr lang="en" sz="5400">
                <a:latin typeface="Times"/>
                <a:ea typeface="Times"/>
                <a:cs typeface="Times"/>
                <a:sym typeface="Times"/>
              </a:rPr>
              <a:t>AQUABOTS Aeropak</a:t>
            </a:r>
            <a:endParaRPr sz="5400">
              <a:latin typeface="Times"/>
              <a:ea typeface="Times"/>
              <a:cs typeface="Times"/>
              <a:sym typeface="Times"/>
            </a:endParaRPr>
          </a:p>
          <a:p>
            <a:pPr indent="0" lvl="0" marL="0" rtl="0" algn="ctr">
              <a:lnSpc>
                <a:spcPct val="100000"/>
              </a:lnSpc>
              <a:spcBef>
                <a:spcPts val="0"/>
              </a:spcBef>
              <a:spcAft>
                <a:spcPts val="0"/>
              </a:spcAft>
              <a:buSzPts val="4400"/>
              <a:buNone/>
            </a:pPr>
            <a:r>
              <a:t/>
            </a:r>
            <a:endParaRPr sz="1900">
              <a:latin typeface="Times"/>
              <a:ea typeface="Times"/>
              <a:cs typeface="Times"/>
              <a:sym typeface="Times"/>
            </a:endParaRPr>
          </a:p>
          <a:p>
            <a:pPr indent="0" lvl="0" marL="0" rtl="0" algn="ctr">
              <a:lnSpc>
                <a:spcPct val="100000"/>
              </a:lnSpc>
              <a:spcBef>
                <a:spcPts val="0"/>
              </a:spcBef>
              <a:spcAft>
                <a:spcPts val="0"/>
              </a:spcAft>
              <a:buSzPts val="4400"/>
              <a:buNone/>
            </a:pPr>
            <a:r>
              <a:rPr lang="en" sz="3800">
                <a:latin typeface="Times"/>
                <a:ea typeface="Times"/>
                <a:cs typeface="Times"/>
                <a:sym typeface="Times"/>
              </a:rPr>
              <a:t>Final Assembly Review</a:t>
            </a:r>
            <a:endParaRPr sz="3800">
              <a:latin typeface="Times"/>
              <a:ea typeface="Times"/>
              <a:cs typeface="Times"/>
              <a:sym typeface="Times"/>
            </a:endParaRPr>
          </a:p>
        </p:txBody>
      </p:sp>
      <p:sp>
        <p:nvSpPr>
          <p:cNvPr id="80" name="Google Shape;80;p17"/>
          <p:cNvSpPr txBox="1"/>
          <p:nvPr/>
        </p:nvSpPr>
        <p:spPr>
          <a:xfrm>
            <a:off x="3532800" y="3316275"/>
            <a:ext cx="2078400" cy="44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Playfair Display"/>
                <a:ea typeface="Playfair Display"/>
                <a:cs typeface="Playfair Display"/>
                <a:sym typeface="Playfair Display"/>
              </a:rPr>
              <a:t>Team 26061</a:t>
            </a:r>
            <a:endParaRPr sz="2000">
              <a:solidFill>
                <a:schemeClr val="dk2"/>
              </a:solidFill>
              <a:latin typeface="Playfair Display"/>
              <a:ea typeface="Playfair Display"/>
              <a:cs typeface="Playfair Display"/>
              <a:sym typeface="Playfair Display"/>
            </a:endParaRPr>
          </a:p>
        </p:txBody>
      </p:sp>
      <p:sp>
        <p:nvSpPr>
          <p:cNvPr id="81" name="Google Shape;81;p17"/>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85" name="Shape 85"/>
        <p:cNvGrpSpPr/>
        <p:nvPr/>
      </p:nvGrpSpPr>
      <p:grpSpPr>
        <a:xfrm>
          <a:off x="0" y="0"/>
          <a:ext cx="0" cy="0"/>
          <a:chOff x="0" y="0"/>
          <a:chExt cx="0" cy="0"/>
        </a:xfrm>
      </p:grpSpPr>
      <p:sp>
        <p:nvSpPr>
          <p:cNvPr id="86" name="Google Shape;86;p18"/>
          <p:cNvSpPr txBox="1"/>
          <p:nvPr/>
        </p:nvSpPr>
        <p:spPr>
          <a:xfrm>
            <a:off x="3435900" y="210008"/>
            <a:ext cx="2272200" cy="525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Overview</a:t>
            </a:r>
            <a:endParaRPr b="1" i="0" sz="3000" u="none" cap="none" strike="noStrike">
              <a:solidFill>
                <a:srgbClr val="FFFFFF"/>
              </a:solidFill>
              <a:latin typeface="Times"/>
              <a:ea typeface="Times"/>
              <a:cs typeface="Times"/>
              <a:sym typeface="Times"/>
            </a:endParaRPr>
          </a:p>
          <a:p>
            <a:pPr indent="0" lvl="0" marL="0" marR="0" rtl="0" algn="l">
              <a:lnSpc>
                <a:spcPct val="75000"/>
              </a:lnSpc>
              <a:spcBef>
                <a:spcPts val="0"/>
              </a:spcBef>
              <a:spcAft>
                <a:spcPts val="0"/>
              </a:spcAft>
              <a:buClr>
                <a:srgbClr val="000000"/>
              </a:buClr>
              <a:buSzPts val="1800"/>
              <a:buFont typeface="Arial"/>
              <a:buNone/>
            </a:pPr>
            <a:r>
              <a:t/>
            </a:r>
            <a:endParaRPr i="0" sz="1800" u="none" cap="none" strike="noStrike">
              <a:solidFill>
                <a:srgbClr val="FFFFFF"/>
              </a:solidFill>
              <a:latin typeface="Times"/>
              <a:ea typeface="Times"/>
              <a:cs typeface="Times"/>
              <a:sym typeface="Times"/>
            </a:endParaRPr>
          </a:p>
        </p:txBody>
      </p:sp>
      <p:sp>
        <p:nvSpPr>
          <p:cNvPr id="87" name="Google Shape;87;p18"/>
          <p:cNvSpPr txBox="1"/>
          <p:nvPr/>
        </p:nvSpPr>
        <p:spPr>
          <a:xfrm>
            <a:off x="1174000" y="742941"/>
            <a:ext cx="3657600" cy="365760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None/>
            </a:pPr>
            <a:r>
              <a:rPr lang="en" sz="1900">
                <a:solidFill>
                  <a:schemeClr val="lt1"/>
                </a:solidFill>
                <a:latin typeface="Times New Roman"/>
                <a:ea typeface="Times New Roman"/>
                <a:cs typeface="Times New Roman"/>
                <a:sym typeface="Times New Roman"/>
              </a:rPr>
              <a:t>1.0 </a:t>
            </a:r>
            <a:r>
              <a:rPr lang="en" sz="1900">
                <a:solidFill>
                  <a:schemeClr val="lt1"/>
                </a:solidFill>
                <a:latin typeface="Times New Roman"/>
                <a:ea typeface="Times New Roman"/>
                <a:cs typeface="Times New Roman"/>
                <a:sym typeface="Times New Roman"/>
              </a:rPr>
              <a:t>Introduction</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None/>
            </a:pPr>
            <a:r>
              <a:rPr lang="en" sz="1900">
                <a:solidFill>
                  <a:schemeClr val="lt1"/>
                </a:solidFill>
                <a:latin typeface="Times New Roman"/>
                <a:ea typeface="Times New Roman"/>
                <a:cs typeface="Times New Roman"/>
                <a:sym typeface="Times New Roman"/>
              </a:rPr>
              <a:t>2.0 Post-ISR Changes </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None/>
            </a:pPr>
            <a:r>
              <a:rPr lang="en" sz="1900">
                <a:solidFill>
                  <a:schemeClr val="lt1"/>
                </a:solidFill>
                <a:latin typeface="Times New Roman"/>
                <a:ea typeface="Times New Roman"/>
                <a:cs typeface="Times New Roman"/>
                <a:sym typeface="Times New Roman"/>
              </a:rPr>
              <a:t>3.0 Verification Results</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None/>
            </a:pPr>
            <a:r>
              <a:rPr lang="en" sz="1900">
                <a:solidFill>
                  <a:schemeClr val="lt1"/>
                </a:solidFill>
                <a:latin typeface="Times New Roman"/>
                <a:ea typeface="Times New Roman"/>
                <a:cs typeface="Times New Roman"/>
                <a:sym typeface="Times New Roman"/>
              </a:rPr>
              <a:t>4.0 Lessons Learned &amp; Next Steps</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None/>
            </a:pPr>
            <a:r>
              <a:rPr lang="en" sz="1900">
                <a:solidFill>
                  <a:schemeClr val="lt1"/>
                </a:solidFill>
                <a:latin typeface="Times New Roman"/>
                <a:ea typeface="Times New Roman"/>
                <a:cs typeface="Times New Roman"/>
                <a:sym typeface="Times New Roman"/>
              </a:rPr>
              <a:t>5.0 Budget</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Clr>
                <a:schemeClr val="dk1"/>
              </a:buClr>
              <a:buSzPts val="1100"/>
              <a:buFont typeface="Arial"/>
              <a:buNone/>
            </a:pPr>
            <a:r>
              <a:rPr lang="en" sz="1900">
                <a:solidFill>
                  <a:schemeClr val="lt1"/>
                </a:solidFill>
                <a:latin typeface="Times New Roman"/>
                <a:ea typeface="Times New Roman"/>
                <a:cs typeface="Times New Roman"/>
                <a:sym typeface="Times New Roman"/>
              </a:rPr>
              <a:t>6.0 Deliverables</a:t>
            </a:r>
            <a:endParaRPr sz="1900">
              <a:solidFill>
                <a:schemeClr val="lt1"/>
              </a:solidFill>
              <a:latin typeface="Times New Roman"/>
              <a:ea typeface="Times New Roman"/>
              <a:cs typeface="Times New Roman"/>
              <a:sym typeface="Times New Roman"/>
            </a:endParaRPr>
          </a:p>
          <a:p>
            <a:pPr indent="0" lvl="0" marL="0" rtl="0" algn="l">
              <a:lnSpc>
                <a:spcPct val="150000"/>
              </a:lnSpc>
              <a:spcBef>
                <a:spcPts val="320"/>
              </a:spcBef>
              <a:spcAft>
                <a:spcPts val="0"/>
              </a:spcAft>
              <a:buNone/>
            </a:pPr>
            <a:r>
              <a:rPr lang="en" sz="1900">
                <a:solidFill>
                  <a:schemeClr val="lt1"/>
                </a:solidFill>
                <a:latin typeface="Times New Roman"/>
                <a:ea typeface="Times New Roman"/>
                <a:cs typeface="Times New Roman"/>
                <a:sym typeface="Times New Roman"/>
              </a:rPr>
              <a:t>7.0 Summary</a:t>
            </a:r>
            <a:endParaRPr sz="1900">
              <a:solidFill>
                <a:schemeClr val="lt1"/>
              </a:solidFill>
              <a:latin typeface="Times New Roman"/>
              <a:ea typeface="Times New Roman"/>
              <a:cs typeface="Times New Roman"/>
              <a:sym typeface="Times New Roman"/>
            </a:endParaRPr>
          </a:p>
          <a:p>
            <a:pPr indent="0" lvl="0" marL="0" rtl="0" algn="l">
              <a:lnSpc>
                <a:spcPct val="115000"/>
              </a:lnSpc>
              <a:spcBef>
                <a:spcPts val="32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88" name="Google Shape;88;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92" name="Shape 92"/>
        <p:cNvGrpSpPr/>
        <p:nvPr/>
      </p:nvGrpSpPr>
      <p:grpSpPr>
        <a:xfrm>
          <a:off x="0" y="0"/>
          <a:ext cx="0" cy="0"/>
          <a:chOff x="0" y="0"/>
          <a:chExt cx="0" cy="0"/>
        </a:xfrm>
      </p:grpSpPr>
      <p:sp>
        <p:nvSpPr>
          <p:cNvPr id="93" name="Google Shape;93;p19"/>
          <p:cNvSpPr txBox="1"/>
          <p:nvPr/>
        </p:nvSpPr>
        <p:spPr>
          <a:xfrm>
            <a:off x="696900" y="1980300"/>
            <a:ext cx="7750200" cy="8265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5000">
                <a:solidFill>
                  <a:srgbClr val="FFFFFF"/>
                </a:solidFill>
                <a:latin typeface="Times"/>
                <a:ea typeface="Times"/>
                <a:cs typeface="Times"/>
                <a:sym typeface="Times"/>
              </a:rPr>
              <a:t>Introduction</a:t>
            </a:r>
            <a:endParaRPr b="1" sz="5000">
              <a:solidFill>
                <a:srgbClr val="FFFFFF"/>
              </a:solidFill>
              <a:latin typeface="Times"/>
              <a:ea typeface="Times"/>
              <a:cs typeface="Times"/>
              <a:sym typeface="Times"/>
            </a:endParaRPr>
          </a:p>
          <a:p>
            <a:pPr indent="0" lvl="0" marL="0" marR="0" rtl="0" algn="l">
              <a:lnSpc>
                <a:spcPct val="75000"/>
              </a:lnSpc>
              <a:spcBef>
                <a:spcPts val="0"/>
              </a:spcBef>
              <a:spcAft>
                <a:spcPts val="0"/>
              </a:spcAft>
              <a:buClr>
                <a:srgbClr val="000000"/>
              </a:buClr>
              <a:buSzPts val="1800"/>
              <a:buFont typeface="Arial"/>
              <a:buNone/>
            </a:pPr>
            <a:r>
              <a:t/>
            </a:r>
            <a:endParaRPr b="1" sz="5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94" name="Google Shape;94;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103" name="Shape 103"/>
        <p:cNvGrpSpPr/>
        <p:nvPr/>
      </p:nvGrpSpPr>
      <p:grpSpPr>
        <a:xfrm>
          <a:off x="0" y="0"/>
          <a:ext cx="0" cy="0"/>
          <a:chOff x="0" y="0"/>
          <a:chExt cx="0" cy="0"/>
        </a:xfrm>
      </p:grpSpPr>
      <p:sp>
        <p:nvSpPr>
          <p:cNvPr id="104" name="Google Shape;104;p21"/>
          <p:cNvSpPr txBox="1"/>
          <p:nvPr/>
        </p:nvSpPr>
        <p:spPr>
          <a:xfrm>
            <a:off x="538200" y="773050"/>
            <a:ext cx="6420300" cy="3613200"/>
          </a:xfrm>
          <a:prstGeom prst="rect">
            <a:avLst/>
          </a:prstGeom>
          <a:noFill/>
          <a:ln>
            <a:noFill/>
          </a:ln>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Clr>
                <a:schemeClr val="lt1"/>
              </a:buClr>
              <a:buSzPts val="1800"/>
              <a:buFont typeface="Times"/>
              <a:buChar char="●"/>
            </a:pPr>
            <a:r>
              <a:rPr lang="en" sz="1800">
                <a:solidFill>
                  <a:schemeClr val="lt1"/>
                </a:solidFill>
                <a:latin typeface="Times"/>
                <a:ea typeface="Times"/>
                <a:cs typeface="Times"/>
                <a:sym typeface="Times"/>
              </a:rPr>
              <a:t>Jamie Ledbetter, Biosystems Engineering – Team Lead</a:t>
            </a:r>
            <a:endParaRPr sz="1800">
              <a:solidFill>
                <a:schemeClr val="lt1"/>
              </a:solidFill>
              <a:latin typeface="Times"/>
              <a:ea typeface="Times"/>
              <a:cs typeface="Times"/>
              <a:sym typeface="Times"/>
            </a:endParaRPr>
          </a:p>
          <a:p>
            <a:pPr indent="-342900" lvl="0" marL="457200" rtl="0" algn="l">
              <a:lnSpc>
                <a:spcPct val="200000"/>
              </a:lnSpc>
              <a:spcBef>
                <a:spcPts val="0"/>
              </a:spcBef>
              <a:spcAft>
                <a:spcPts val="0"/>
              </a:spcAft>
              <a:buClr>
                <a:schemeClr val="lt1"/>
              </a:buClr>
              <a:buSzPts val="1800"/>
              <a:buFont typeface="Times"/>
              <a:buChar char="●"/>
            </a:pPr>
            <a:r>
              <a:rPr lang="en" sz="1800">
                <a:solidFill>
                  <a:schemeClr val="lt1"/>
                </a:solidFill>
                <a:latin typeface="Times"/>
                <a:ea typeface="Times"/>
                <a:cs typeface="Times"/>
                <a:sym typeface="Times"/>
              </a:rPr>
              <a:t>Robert Wilkie, Aerospace Engineering – Procurement Lead</a:t>
            </a:r>
            <a:endParaRPr sz="1800">
              <a:solidFill>
                <a:schemeClr val="lt1"/>
              </a:solidFill>
              <a:latin typeface="Times"/>
              <a:ea typeface="Times"/>
              <a:cs typeface="Times"/>
              <a:sym typeface="Times"/>
            </a:endParaRPr>
          </a:p>
          <a:p>
            <a:pPr indent="-342900" lvl="0" marL="457200" rtl="0" algn="l">
              <a:lnSpc>
                <a:spcPct val="200000"/>
              </a:lnSpc>
              <a:spcBef>
                <a:spcPts val="0"/>
              </a:spcBef>
              <a:spcAft>
                <a:spcPts val="0"/>
              </a:spcAft>
              <a:buClr>
                <a:schemeClr val="lt1"/>
              </a:buClr>
              <a:buSzPts val="1800"/>
              <a:buFont typeface="Times"/>
              <a:buChar char="●"/>
            </a:pPr>
            <a:r>
              <a:rPr lang="en" sz="1800">
                <a:solidFill>
                  <a:schemeClr val="lt1"/>
                </a:solidFill>
                <a:latin typeface="Times"/>
                <a:ea typeface="Times"/>
                <a:cs typeface="Times"/>
                <a:sym typeface="Times"/>
              </a:rPr>
              <a:t>Alex Imrich, Aerospace Engineering</a:t>
            </a:r>
            <a:endParaRPr sz="1800">
              <a:solidFill>
                <a:schemeClr val="lt1"/>
              </a:solidFill>
              <a:latin typeface="Times"/>
              <a:ea typeface="Times"/>
              <a:cs typeface="Times"/>
              <a:sym typeface="Times"/>
            </a:endParaRPr>
          </a:p>
          <a:p>
            <a:pPr indent="-342900" lvl="0" marL="457200" rtl="0" algn="l">
              <a:lnSpc>
                <a:spcPct val="200000"/>
              </a:lnSpc>
              <a:spcBef>
                <a:spcPts val="0"/>
              </a:spcBef>
              <a:spcAft>
                <a:spcPts val="0"/>
              </a:spcAft>
              <a:buClr>
                <a:schemeClr val="lt1"/>
              </a:buClr>
              <a:buSzPts val="1800"/>
              <a:buFont typeface="Times"/>
              <a:buChar char="●"/>
            </a:pPr>
            <a:r>
              <a:rPr lang="en" sz="1800">
                <a:solidFill>
                  <a:schemeClr val="lt1"/>
                </a:solidFill>
                <a:latin typeface="Times"/>
                <a:ea typeface="Times"/>
                <a:cs typeface="Times"/>
                <a:sym typeface="Times"/>
              </a:rPr>
              <a:t>John Lopez, Electrical Engineering </a:t>
            </a:r>
            <a:endParaRPr sz="1800">
              <a:solidFill>
                <a:schemeClr val="lt1"/>
              </a:solidFill>
              <a:latin typeface="Times"/>
              <a:ea typeface="Times"/>
              <a:cs typeface="Times"/>
              <a:sym typeface="Times"/>
            </a:endParaRPr>
          </a:p>
          <a:p>
            <a:pPr indent="-342900" lvl="0" marL="457200" rtl="0" algn="l">
              <a:lnSpc>
                <a:spcPct val="200000"/>
              </a:lnSpc>
              <a:spcBef>
                <a:spcPts val="0"/>
              </a:spcBef>
              <a:spcAft>
                <a:spcPts val="0"/>
              </a:spcAft>
              <a:buClr>
                <a:schemeClr val="lt1"/>
              </a:buClr>
              <a:buSzPts val="1800"/>
              <a:buFont typeface="Times"/>
              <a:buChar char="●"/>
            </a:pPr>
            <a:r>
              <a:rPr lang="en" sz="1800">
                <a:solidFill>
                  <a:schemeClr val="lt1"/>
                </a:solidFill>
                <a:latin typeface="Times"/>
                <a:ea typeface="Times"/>
                <a:cs typeface="Times"/>
                <a:sym typeface="Times"/>
              </a:rPr>
              <a:t>Mayra Mendoza, Optical Engineering</a:t>
            </a:r>
            <a:endParaRPr sz="1800">
              <a:solidFill>
                <a:schemeClr val="lt1"/>
              </a:solidFill>
              <a:latin typeface="Times"/>
              <a:ea typeface="Times"/>
              <a:cs typeface="Times"/>
              <a:sym typeface="Times"/>
            </a:endParaRPr>
          </a:p>
          <a:p>
            <a:pPr indent="-342900" lvl="0" marL="457200" rtl="0" algn="l">
              <a:lnSpc>
                <a:spcPct val="200000"/>
              </a:lnSpc>
              <a:spcBef>
                <a:spcPts val="0"/>
              </a:spcBef>
              <a:spcAft>
                <a:spcPts val="0"/>
              </a:spcAft>
              <a:buClr>
                <a:schemeClr val="lt1"/>
              </a:buClr>
              <a:buSzPts val="1800"/>
              <a:buFont typeface="Times"/>
              <a:buChar char="●"/>
            </a:pPr>
            <a:r>
              <a:rPr lang="en" sz="1800">
                <a:solidFill>
                  <a:schemeClr val="lt1"/>
                </a:solidFill>
                <a:latin typeface="Times"/>
                <a:ea typeface="Times"/>
                <a:cs typeface="Times"/>
                <a:sym typeface="Times"/>
              </a:rPr>
              <a:t>Kama Henriques, Mechanical Engineering</a:t>
            </a:r>
            <a:endParaRPr sz="1800">
              <a:solidFill>
                <a:schemeClr val="lt1"/>
              </a:solidFill>
              <a:latin typeface="Times"/>
              <a:ea typeface="Times"/>
              <a:cs typeface="Times"/>
              <a:sym typeface="Times"/>
            </a:endParaRPr>
          </a:p>
        </p:txBody>
      </p:sp>
      <p:sp>
        <p:nvSpPr>
          <p:cNvPr id="105" name="Google Shape;105;p21"/>
          <p:cNvSpPr txBox="1"/>
          <p:nvPr/>
        </p:nvSpPr>
        <p:spPr>
          <a:xfrm>
            <a:off x="696900" y="123737"/>
            <a:ext cx="77502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3000">
                <a:solidFill>
                  <a:srgbClr val="FFFFFF"/>
                </a:solidFill>
                <a:latin typeface="Times"/>
                <a:ea typeface="Times"/>
                <a:cs typeface="Times"/>
                <a:sym typeface="Times"/>
              </a:rPr>
              <a:t>Our</a:t>
            </a:r>
            <a:r>
              <a:rPr b="1" lang="en" sz="3000">
                <a:solidFill>
                  <a:srgbClr val="FFFFFF"/>
                </a:solidFill>
                <a:latin typeface="Times"/>
                <a:ea typeface="Times"/>
                <a:cs typeface="Times"/>
                <a:sym typeface="Times"/>
              </a:rPr>
              <a:t> Team</a:t>
            </a:r>
            <a:endParaRPr b="1" sz="3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106" name="Google Shape;106;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110" name="Shape 110"/>
        <p:cNvGrpSpPr/>
        <p:nvPr/>
      </p:nvGrpSpPr>
      <p:grpSpPr>
        <a:xfrm>
          <a:off x="0" y="0"/>
          <a:ext cx="0" cy="0"/>
          <a:chOff x="0" y="0"/>
          <a:chExt cx="0" cy="0"/>
        </a:xfrm>
      </p:grpSpPr>
      <p:sp>
        <p:nvSpPr>
          <p:cNvPr id="111" name="Google Shape;111;p22"/>
          <p:cNvSpPr txBox="1"/>
          <p:nvPr/>
        </p:nvSpPr>
        <p:spPr>
          <a:xfrm>
            <a:off x="2743200" y="0"/>
            <a:ext cx="3657600" cy="525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Project Summary</a:t>
            </a:r>
            <a:endParaRPr i="0" sz="1800" u="none" cap="none" strike="noStrike">
              <a:solidFill>
                <a:srgbClr val="FFFFFF"/>
              </a:solidFill>
              <a:latin typeface="Times"/>
              <a:ea typeface="Times"/>
              <a:cs typeface="Times"/>
              <a:sym typeface="Times"/>
            </a:endParaRPr>
          </a:p>
        </p:txBody>
      </p:sp>
      <p:sp>
        <p:nvSpPr>
          <p:cNvPr id="112" name="Google Shape;112;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13" name="Google Shape;113;p22"/>
          <p:cNvSpPr txBox="1"/>
          <p:nvPr/>
        </p:nvSpPr>
        <p:spPr>
          <a:xfrm>
            <a:off x="0" y="455550"/>
            <a:ext cx="4736700" cy="4446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b="1" lang="en" sz="1600">
                <a:solidFill>
                  <a:schemeClr val="lt1"/>
                </a:solidFill>
                <a:latin typeface="Times New Roman"/>
                <a:ea typeface="Times New Roman"/>
                <a:cs typeface="Times New Roman"/>
                <a:sym typeface="Times New Roman"/>
              </a:rPr>
              <a:t>Purpose:</a:t>
            </a:r>
            <a:r>
              <a:rPr lang="en" sz="1600">
                <a:solidFill>
                  <a:schemeClr val="lt1"/>
                </a:solidFill>
                <a:latin typeface="Times New Roman"/>
                <a:ea typeface="Times New Roman"/>
                <a:cs typeface="Times New Roman"/>
                <a:sym typeface="Times New Roman"/>
              </a:rPr>
              <a:t> Rapid, real-time environmental monitoring in marine and coastal environments</a:t>
            </a:r>
            <a:endParaRPr sz="1600">
              <a:solidFill>
                <a:schemeClr val="lt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 sz="1600">
                <a:solidFill>
                  <a:schemeClr val="lt1"/>
                </a:solidFill>
                <a:latin typeface="Times New Roman"/>
                <a:ea typeface="Times New Roman"/>
                <a:cs typeface="Times New Roman"/>
                <a:sym typeface="Times New Roman"/>
              </a:rPr>
              <a:t>Deployment:</a:t>
            </a:r>
            <a:r>
              <a:rPr lang="en" sz="1600">
                <a:solidFill>
                  <a:schemeClr val="lt1"/>
                </a:solidFill>
                <a:latin typeface="Times New Roman"/>
                <a:ea typeface="Times New Roman"/>
                <a:cs typeface="Times New Roman"/>
                <a:sym typeface="Times New Roman"/>
              </a:rPr>
              <a:t> Ocean-deployed drones self-orient within 1 minute and follow remotely set paths</a:t>
            </a:r>
            <a:endParaRPr sz="1600">
              <a:solidFill>
                <a:schemeClr val="lt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 sz="1600">
                <a:solidFill>
                  <a:schemeClr val="lt1"/>
                </a:solidFill>
                <a:latin typeface="Times New Roman"/>
                <a:ea typeface="Times New Roman"/>
                <a:cs typeface="Times New Roman"/>
                <a:sym typeface="Times New Roman"/>
              </a:rPr>
              <a:t>Ground Station:</a:t>
            </a:r>
            <a:endParaRPr b="1" sz="1600">
              <a:solidFill>
                <a:schemeClr val="lt1"/>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Live video stream from main drone</a:t>
            </a:r>
            <a:endParaRPr sz="1600">
              <a:solidFill>
                <a:schemeClr val="lt1"/>
              </a:solidFill>
              <a:latin typeface="Times New Roman"/>
              <a:ea typeface="Times New Roman"/>
              <a:cs typeface="Times New Roman"/>
              <a:sym typeface="Times New Roman"/>
            </a:endParaRPr>
          </a:p>
          <a:p>
            <a:pPr indent="-330200" lvl="0" marL="457200" rtl="0" algn="l">
              <a:lnSpc>
                <a:spcPct val="100000"/>
              </a:lnSpc>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Real-time environmental data from all drones</a:t>
            </a:r>
            <a:endParaRPr sz="1600">
              <a:solidFill>
                <a:schemeClr val="lt1"/>
              </a:solidFill>
              <a:latin typeface="Times New Roman"/>
              <a:ea typeface="Times New Roman"/>
              <a:cs typeface="Times New Roman"/>
              <a:sym typeface="Times New Roman"/>
            </a:endParaRPr>
          </a:p>
          <a:p>
            <a:pPr indent="-330200" lvl="0" marL="457200" rtl="0" algn="l">
              <a:lnSpc>
                <a:spcPct val="100000"/>
              </a:lnSpc>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GEO-overlay for spatial monitoring and mission control</a:t>
            </a:r>
            <a:endParaRPr sz="1600">
              <a:solidFill>
                <a:schemeClr val="lt1"/>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 sz="1600">
                <a:solidFill>
                  <a:schemeClr val="lt1"/>
                </a:solidFill>
                <a:latin typeface="Times New Roman"/>
                <a:ea typeface="Times New Roman"/>
                <a:cs typeface="Times New Roman"/>
                <a:sym typeface="Times New Roman"/>
              </a:rPr>
              <a:t>Hull &amp; Structure:</a:t>
            </a:r>
            <a:endParaRPr b="1" sz="1600">
              <a:solidFill>
                <a:schemeClr val="lt1"/>
              </a:solidFill>
              <a:latin typeface="Times New Roman"/>
              <a:ea typeface="Times New Roman"/>
              <a:cs typeface="Times New Roman"/>
              <a:sym typeface="Times New Roman"/>
            </a:endParaRPr>
          </a:p>
          <a:p>
            <a:pPr indent="-330200" lvl="0" marL="457200" rtl="0" algn="l">
              <a:lnSpc>
                <a:spcPct val="100000"/>
              </a:lnSpc>
              <a:spcBef>
                <a:spcPts val="12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Self-righting, waterproof, impact-resistant design</a:t>
            </a:r>
            <a:endParaRPr sz="1600">
              <a:solidFill>
                <a:schemeClr val="lt1"/>
              </a:solidFill>
              <a:latin typeface="Times New Roman"/>
              <a:ea typeface="Times New Roman"/>
              <a:cs typeface="Times New Roman"/>
              <a:sym typeface="Times New Roman"/>
            </a:endParaRPr>
          </a:p>
          <a:p>
            <a:pPr indent="-330200" lvl="0" marL="457200" rtl="0" algn="l">
              <a:lnSpc>
                <a:spcPct val="100000"/>
              </a:lnSpc>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Fiberglass enclosure protecting internal systems</a:t>
            </a:r>
            <a:endParaRPr sz="1600">
              <a:solidFill>
                <a:schemeClr val="lt1"/>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t/>
            </a:r>
            <a:endParaRPr b="1" sz="1200">
              <a:solidFill>
                <a:schemeClr val="lt1"/>
              </a:solidFill>
              <a:latin typeface="Times New Roman"/>
              <a:ea typeface="Times New Roman"/>
              <a:cs typeface="Times New Roman"/>
              <a:sym typeface="Times New Roman"/>
            </a:endParaRPr>
          </a:p>
        </p:txBody>
      </p:sp>
      <p:sp>
        <p:nvSpPr>
          <p:cNvPr id="114" name="Google Shape;114;p22"/>
          <p:cNvSpPr txBox="1"/>
          <p:nvPr/>
        </p:nvSpPr>
        <p:spPr>
          <a:xfrm>
            <a:off x="4846325" y="455550"/>
            <a:ext cx="4151400" cy="31380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0"/>
              </a:spcAft>
              <a:buNone/>
            </a:pPr>
            <a:r>
              <a:rPr b="1" lang="en" sz="1600">
                <a:solidFill>
                  <a:schemeClr val="lt1"/>
                </a:solidFill>
                <a:latin typeface="Times New Roman"/>
                <a:ea typeface="Times New Roman"/>
                <a:cs typeface="Times New Roman"/>
                <a:sym typeface="Times New Roman"/>
              </a:rPr>
              <a:t>Communication:</a:t>
            </a:r>
            <a:endParaRPr b="1" sz="1600">
              <a:solidFill>
                <a:schemeClr val="lt1"/>
              </a:solidFill>
              <a:latin typeface="Times New Roman"/>
              <a:ea typeface="Times New Roman"/>
              <a:cs typeface="Times New Roman"/>
              <a:sym typeface="Times New Roman"/>
            </a:endParaRPr>
          </a:p>
          <a:p>
            <a:pPr indent="-330200" lvl="0" marL="457200" rtl="0" algn="l">
              <a:spcBef>
                <a:spcPts val="12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Starlink satellite antenna for continuous remote connectivity</a:t>
            </a:r>
            <a:endParaRPr sz="1600">
              <a:solidFill>
                <a:schemeClr val="lt1"/>
              </a:solidFill>
              <a:latin typeface="Times New Roman"/>
              <a:ea typeface="Times New Roman"/>
              <a:cs typeface="Times New Roman"/>
              <a:sym typeface="Times New Roman"/>
            </a:endParaRPr>
          </a:p>
          <a:p>
            <a:pPr indent="0" lvl="0" marL="0" rtl="0" algn="l">
              <a:spcBef>
                <a:spcPts val="1200"/>
              </a:spcBef>
              <a:spcAft>
                <a:spcPts val="0"/>
              </a:spcAft>
              <a:buNone/>
            </a:pPr>
            <a:r>
              <a:rPr b="1" lang="en" sz="1600">
                <a:solidFill>
                  <a:schemeClr val="lt1"/>
                </a:solidFill>
                <a:latin typeface="Times New Roman"/>
                <a:ea typeface="Times New Roman"/>
                <a:cs typeface="Times New Roman"/>
                <a:sym typeface="Times New Roman"/>
              </a:rPr>
              <a:t>Onboard Systems:</a:t>
            </a:r>
            <a:endParaRPr b="1" sz="1600">
              <a:solidFill>
                <a:schemeClr val="lt1"/>
              </a:solidFill>
              <a:latin typeface="Times New Roman"/>
              <a:ea typeface="Times New Roman"/>
              <a:cs typeface="Times New Roman"/>
              <a:sym typeface="Times New Roman"/>
            </a:endParaRPr>
          </a:p>
          <a:p>
            <a:pPr indent="-330200" lvl="0" marL="457200" rtl="0" algn="l">
              <a:spcBef>
                <a:spcPts val="120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Jetson Nano – Controls motors, servos, and live video</a:t>
            </a:r>
            <a:endParaRPr sz="1600">
              <a:solidFill>
                <a:schemeClr val="lt1"/>
              </a:solidFill>
              <a:latin typeface="Times New Roman"/>
              <a:ea typeface="Times New Roman"/>
              <a:cs typeface="Times New Roman"/>
              <a:sym typeface="Times New Roman"/>
            </a:endParaRPr>
          </a:p>
          <a:p>
            <a:pPr indent="-330200" lvl="0" marL="457200" rtl="0" algn="l">
              <a:spcBef>
                <a:spcPts val="0"/>
              </a:spcBef>
              <a:spcAft>
                <a:spcPts val="0"/>
              </a:spcAft>
              <a:buClr>
                <a:schemeClr val="lt1"/>
              </a:buClr>
              <a:buSzPts val="1600"/>
              <a:buFont typeface="Times New Roman"/>
              <a:buChar char="●"/>
            </a:pPr>
            <a:r>
              <a:rPr lang="en" sz="1600">
                <a:solidFill>
                  <a:schemeClr val="lt1"/>
                </a:solidFill>
                <a:latin typeface="Times New Roman"/>
                <a:ea typeface="Times New Roman"/>
                <a:cs typeface="Times New Roman"/>
                <a:sym typeface="Times New Roman"/>
              </a:rPr>
              <a:t>ESP32 – Collects GPS, time, altitude, temperature, pH, and conductivity data</a:t>
            </a:r>
            <a:endParaRPr sz="1600">
              <a:solidFill>
                <a:schemeClr val="lt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b="1" sz="1200">
              <a:solidFill>
                <a:schemeClr val="lt1"/>
              </a:solidFill>
              <a:latin typeface="Times New Roman"/>
              <a:ea typeface="Times New Roman"/>
              <a:cs typeface="Times New Roman"/>
              <a:sym typeface="Times New Roman"/>
            </a:endParaRPr>
          </a:p>
        </p:txBody>
      </p:sp>
      <p:pic>
        <p:nvPicPr>
          <p:cNvPr id="115" name="Google Shape;115;p22"/>
          <p:cNvPicPr preferRelativeResize="0"/>
          <p:nvPr/>
        </p:nvPicPr>
        <p:blipFill rotWithShape="1">
          <a:blip r:embed="rId3">
            <a:alphaModFix/>
          </a:blip>
          <a:srcRect b="11317" l="4034" r="6529" t="17014"/>
          <a:stretch/>
        </p:blipFill>
        <p:spPr>
          <a:xfrm>
            <a:off x="5782361" y="3236025"/>
            <a:ext cx="2279326" cy="1360050"/>
          </a:xfrm>
          <a:prstGeom prst="rect">
            <a:avLst/>
          </a:prstGeom>
          <a:noFill/>
          <a:ln>
            <a:noFill/>
          </a:ln>
        </p:spPr>
      </p:pic>
      <p:sp>
        <p:nvSpPr>
          <p:cNvPr id="116" name="Google Shape;116;p22"/>
          <p:cNvSpPr txBox="1"/>
          <p:nvPr/>
        </p:nvSpPr>
        <p:spPr>
          <a:xfrm>
            <a:off x="6171419" y="4513644"/>
            <a:ext cx="1501200" cy="326400"/>
          </a:xfrm>
          <a:prstGeom prst="rect">
            <a:avLst/>
          </a:prstGeom>
          <a:noFill/>
          <a:ln>
            <a:noFill/>
          </a:ln>
        </p:spPr>
        <p:txBody>
          <a:bodyPr anchorCtr="0" anchor="t" bIns="96925" lIns="96925" spcFirstLastPara="1" rIns="96925" wrap="square" tIns="96925">
            <a:spAutoFit/>
          </a:bodyPr>
          <a:lstStyle/>
          <a:p>
            <a:pPr indent="0" lvl="0" marL="0" rtl="0" algn="l">
              <a:lnSpc>
                <a:spcPct val="115000"/>
              </a:lnSpc>
              <a:spcBef>
                <a:spcPts val="339"/>
              </a:spcBef>
              <a:spcAft>
                <a:spcPts val="0"/>
              </a:spcAft>
              <a:buNone/>
            </a:pPr>
            <a:r>
              <a:rPr i="1" lang="en" sz="848">
                <a:solidFill>
                  <a:srgbClr val="FFFFFF"/>
                </a:solidFill>
                <a:latin typeface="Times New Roman"/>
                <a:ea typeface="Times New Roman"/>
                <a:cs typeface="Times New Roman"/>
                <a:sym typeface="Times New Roman"/>
              </a:rPr>
              <a:t>Image of AQUABOT Hull</a:t>
            </a:r>
            <a:endParaRPr i="1" sz="848">
              <a:solidFill>
                <a:srgbClr val="FFFFFF"/>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120" name="Shape 120"/>
        <p:cNvGrpSpPr/>
        <p:nvPr/>
      </p:nvGrpSpPr>
      <p:grpSpPr>
        <a:xfrm>
          <a:off x="0" y="0"/>
          <a:ext cx="0" cy="0"/>
          <a:chOff x="0" y="0"/>
          <a:chExt cx="0" cy="0"/>
        </a:xfrm>
      </p:grpSpPr>
      <p:sp>
        <p:nvSpPr>
          <p:cNvPr id="121" name="Google Shape;121;p23"/>
          <p:cNvSpPr txBox="1"/>
          <p:nvPr/>
        </p:nvSpPr>
        <p:spPr>
          <a:xfrm>
            <a:off x="696900" y="1993107"/>
            <a:ext cx="7750200" cy="8265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5000">
                <a:solidFill>
                  <a:srgbClr val="FFFFFF"/>
                </a:solidFill>
                <a:latin typeface="Times"/>
                <a:ea typeface="Times"/>
                <a:cs typeface="Times"/>
                <a:sym typeface="Times"/>
              </a:rPr>
              <a:t>Post-ISR Changes</a:t>
            </a:r>
            <a:endParaRPr b="1" sz="5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rPr b="1" lang="en" sz="5000">
                <a:solidFill>
                  <a:srgbClr val="FF0000"/>
                </a:solidFill>
                <a:latin typeface="Times"/>
                <a:ea typeface="Times"/>
                <a:cs typeface="Times"/>
                <a:sym typeface="Times"/>
              </a:rPr>
              <a:t>(1-2 slides each, only include </a:t>
            </a:r>
            <a:r>
              <a:rPr b="1" lang="en" sz="5000">
                <a:solidFill>
                  <a:srgbClr val="FF0000"/>
                </a:solidFill>
                <a:latin typeface="Times"/>
                <a:ea typeface="Times"/>
                <a:cs typeface="Times"/>
                <a:sym typeface="Times"/>
              </a:rPr>
              <a:t>design</a:t>
            </a:r>
            <a:r>
              <a:rPr b="1" lang="en" sz="5000">
                <a:solidFill>
                  <a:srgbClr val="FF0000"/>
                </a:solidFill>
                <a:latin typeface="Times"/>
                <a:ea typeface="Times"/>
                <a:cs typeface="Times"/>
                <a:sym typeface="Times"/>
              </a:rPr>
              <a:t> changes from ISR to NOW)</a:t>
            </a:r>
            <a:endParaRPr b="1" sz="5000">
              <a:solidFill>
                <a:srgbClr val="FF0000"/>
              </a:solidFill>
              <a:latin typeface="Times"/>
              <a:ea typeface="Times"/>
              <a:cs typeface="Times"/>
              <a:sym typeface="Times"/>
            </a:endParaRPr>
          </a:p>
          <a:p>
            <a:pPr indent="0" lvl="0" marL="0" marR="0" rtl="0" algn="l">
              <a:lnSpc>
                <a:spcPct val="75000"/>
              </a:lnSpc>
              <a:spcBef>
                <a:spcPts val="0"/>
              </a:spcBef>
              <a:spcAft>
                <a:spcPts val="0"/>
              </a:spcAft>
              <a:buClr>
                <a:srgbClr val="000000"/>
              </a:buClr>
              <a:buSzPts val="1800"/>
              <a:buFont typeface="Arial"/>
              <a:buNone/>
            </a:pPr>
            <a:r>
              <a:t/>
            </a:r>
            <a:endParaRPr b="1" sz="5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122" name="Google Shape;122;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126" name="Shape 126"/>
        <p:cNvGrpSpPr/>
        <p:nvPr/>
      </p:nvGrpSpPr>
      <p:grpSpPr>
        <a:xfrm>
          <a:off x="0" y="0"/>
          <a:ext cx="0" cy="0"/>
          <a:chOff x="0" y="0"/>
          <a:chExt cx="0" cy="0"/>
        </a:xfrm>
      </p:grpSpPr>
      <p:sp>
        <p:nvSpPr>
          <p:cNvPr id="127" name="Google Shape;127;p24"/>
          <p:cNvSpPr txBox="1"/>
          <p:nvPr/>
        </p:nvSpPr>
        <p:spPr>
          <a:xfrm>
            <a:off x="1787250" y="154725"/>
            <a:ext cx="5569500" cy="5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Post-IS</a:t>
            </a:r>
            <a:r>
              <a:rPr b="1" lang="en" sz="3000">
                <a:solidFill>
                  <a:srgbClr val="FFFFFF"/>
                </a:solidFill>
                <a:latin typeface="Times"/>
                <a:ea typeface="Times"/>
                <a:cs typeface="Times"/>
                <a:sym typeface="Times"/>
              </a:rPr>
              <a:t>R Changes</a:t>
            </a:r>
            <a:endParaRPr i="0" sz="1800" u="none" cap="none" strike="noStrike">
              <a:solidFill>
                <a:srgbClr val="FFFFFF"/>
              </a:solidFill>
              <a:latin typeface="Times"/>
              <a:ea typeface="Times"/>
              <a:cs typeface="Times"/>
              <a:sym typeface="Times"/>
            </a:endParaRPr>
          </a:p>
        </p:txBody>
      </p:sp>
      <p:sp>
        <p:nvSpPr>
          <p:cNvPr id="128" name="Google Shape;128;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29" name="Google Shape;129;p24"/>
          <p:cNvSpPr txBox="1"/>
          <p:nvPr/>
        </p:nvSpPr>
        <p:spPr>
          <a:xfrm>
            <a:off x="488250" y="889673"/>
            <a:ext cx="8167500" cy="32457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32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Added Servo Mount</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Reduction to One Battery</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Pixhawk Integration to RC Boats</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Replaced ESP32 with ESP32-S3</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Tailscale Access</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Modified  Electronics Shelf</a:t>
            </a:r>
            <a:endParaRPr sz="1800">
              <a:solidFill>
                <a:schemeClr val="lt1"/>
              </a:solidFill>
              <a:latin typeface="Times New Roman"/>
              <a:ea typeface="Times New Roman"/>
              <a:cs typeface="Times New Roman"/>
              <a:sym typeface="Times New Roman"/>
            </a:endParaRPr>
          </a:p>
          <a:p>
            <a:pPr indent="-342900" lvl="0" marL="457200" rtl="0" algn="l">
              <a:lnSpc>
                <a:spcPct val="150000"/>
              </a:lnSpc>
              <a:spcBef>
                <a:spcPts val="0"/>
              </a:spcBef>
              <a:spcAft>
                <a:spcPts val="0"/>
              </a:spcAft>
              <a:buClr>
                <a:schemeClr val="lt1"/>
              </a:buClr>
              <a:buSzPts val="1800"/>
              <a:buFont typeface="Times New Roman"/>
              <a:buChar char="●"/>
            </a:pPr>
            <a:r>
              <a:rPr lang="en" sz="1800">
                <a:solidFill>
                  <a:schemeClr val="lt1"/>
                </a:solidFill>
                <a:latin typeface="Times New Roman"/>
                <a:ea typeface="Times New Roman"/>
                <a:cs typeface="Times New Roman"/>
                <a:sym typeface="Times New Roman"/>
              </a:rPr>
              <a:t>Action Items:</a:t>
            </a:r>
            <a:endParaRPr sz="1800">
              <a:solidFill>
                <a:schemeClr val="lt1"/>
              </a:solidFill>
              <a:latin typeface="Times New Roman"/>
              <a:ea typeface="Times New Roman"/>
              <a:cs typeface="Times New Roman"/>
              <a:sym typeface="Times New Roman"/>
            </a:endParaRPr>
          </a:p>
          <a:p>
            <a:pPr indent="-342900" lvl="1" marL="914400" rtl="0" algn="l">
              <a:lnSpc>
                <a:spcPct val="150000"/>
              </a:lnSpc>
              <a:spcBef>
                <a:spcPts val="0"/>
              </a:spcBef>
              <a:spcAft>
                <a:spcPts val="0"/>
              </a:spcAft>
              <a:buClr>
                <a:schemeClr val="lt1"/>
              </a:buClr>
              <a:buSzPts val="1800"/>
              <a:buFont typeface="Times New Roman"/>
              <a:buChar char="○"/>
            </a:pPr>
            <a:r>
              <a:t/>
            </a:r>
            <a:endParaRPr sz="1800">
              <a:solidFill>
                <a:schemeClr val="lt1"/>
              </a:solidFill>
              <a:latin typeface="Times New Roman"/>
              <a:ea typeface="Times New Roman"/>
              <a:cs typeface="Times New Roman"/>
              <a:sym typeface="Times New Roman"/>
            </a:endParaRPr>
          </a:p>
        </p:txBody>
      </p:sp>
      <p:sp>
        <p:nvSpPr>
          <p:cNvPr id="130" name="Google Shape;130;p24"/>
          <p:cNvSpPr/>
          <p:nvPr/>
        </p:nvSpPr>
        <p:spPr>
          <a:xfrm>
            <a:off x="6348475" y="2309100"/>
            <a:ext cx="2208300" cy="525300"/>
          </a:xfrm>
          <a:prstGeom prst="roundRect">
            <a:avLst>
              <a:gd fmla="val 16667" name="adj"/>
            </a:avLst>
          </a:prstGeom>
          <a:solidFill>
            <a:srgbClr val="6FA8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Times New Roman"/>
                <a:ea typeface="Times New Roman"/>
                <a:cs typeface="Times New Roman"/>
                <a:sym typeface="Times New Roman"/>
              </a:rPr>
              <a:t>All Action Items Closed</a:t>
            </a:r>
            <a:endParaRPr>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36" name="Google Shape;136;p25"/>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t/>
            </a:r>
            <a:endParaRPr b="1" sz="3000">
              <a:solidFill>
                <a:schemeClr val="lt1"/>
              </a:solidFill>
              <a:latin typeface="Times New Roman"/>
              <a:ea typeface="Times New Roman"/>
              <a:cs typeface="Times New Roman"/>
              <a:sym typeface="Times New Roman"/>
            </a:endParaRPr>
          </a:p>
        </p:txBody>
      </p:sp>
      <p:sp>
        <p:nvSpPr>
          <p:cNvPr id="137" name="Google Shape;137;p25"/>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Added </a:t>
            </a:r>
            <a:r>
              <a:rPr b="1" lang="en" sz="3000">
                <a:solidFill>
                  <a:schemeClr val="lt1"/>
                </a:solidFill>
                <a:latin typeface="Times New Roman"/>
                <a:ea typeface="Times New Roman"/>
                <a:cs typeface="Times New Roman"/>
                <a:sym typeface="Times New Roman"/>
              </a:rPr>
              <a:t>Servo Mount</a:t>
            </a:r>
            <a:endParaRPr b="1" sz="3000">
              <a:solidFill>
                <a:schemeClr val="lt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43" name="Google Shape;143;p26"/>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t/>
            </a:r>
            <a:endParaRPr b="1" sz="3000">
              <a:solidFill>
                <a:schemeClr val="lt1"/>
              </a:solidFill>
              <a:latin typeface="Times New Roman"/>
              <a:ea typeface="Times New Roman"/>
              <a:cs typeface="Times New Roman"/>
              <a:sym typeface="Times New Roman"/>
            </a:endParaRPr>
          </a:p>
        </p:txBody>
      </p:sp>
      <p:sp>
        <p:nvSpPr>
          <p:cNvPr id="144" name="Google Shape;144;p26"/>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RC Boats</a:t>
            </a:r>
            <a:endParaRPr b="1" sz="3000">
              <a:solidFill>
                <a:schemeClr val="lt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50" name="Google Shape;150;p27"/>
          <p:cNvSpPr txBox="1"/>
          <p:nvPr/>
        </p:nvSpPr>
        <p:spPr>
          <a:xfrm>
            <a:off x="439375" y="961050"/>
            <a:ext cx="7835100" cy="7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Times New Roman"/>
                <a:ea typeface="Times New Roman"/>
                <a:cs typeface="Times New Roman"/>
                <a:sym typeface="Times New Roman"/>
              </a:rPr>
              <a:t>              ISR: 									                 FAR:</a:t>
            </a:r>
            <a:endParaRPr sz="2000">
              <a:solidFill>
                <a:schemeClr val="lt1"/>
              </a:solidFill>
              <a:latin typeface="Times New Roman"/>
              <a:ea typeface="Times New Roman"/>
              <a:cs typeface="Times New Roman"/>
              <a:sym typeface="Times New Roman"/>
            </a:endParaRPr>
          </a:p>
        </p:txBody>
      </p:sp>
      <p:sp>
        <p:nvSpPr>
          <p:cNvPr id="151" name="Google Shape;151;p27"/>
          <p:cNvSpPr txBox="1"/>
          <p:nvPr/>
        </p:nvSpPr>
        <p:spPr>
          <a:xfrm>
            <a:off x="739800" y="241350"/>
            <a:ext cx="7652100" cy="719700"/>
          </a:xfrm>
          <a:prstGeom prst="rect">
            <a:avLst/>
          </a:prstGeom>
          <a:noFill/>
          <a:ln>
            <a:noFill/>
          </a:ln>
        </p:spPr>
        <p:txBody>
          <a:bodyPr anchorCtr="0" anchor="t" bIns="91425" lIns="91425" spcFirstLastPara="1" rIns="91425" wrap="square" tIns="91425">
            <a:normAutofit fontScale="92500"/>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Sensor &amp; Communication Integration (Jetson)</a:t>
            </a:r>
            <a:endParaRPr b="1" sz="3000">
              <a:solidFill>
                <a:schemeClr val="lt1"/>
              </a:solidFill>
              <a:latin typeface="Times New Roman"/>
              <a:ea typeface="Times New Roman"/>
              <a:cs typeface="Times New Roman"/>
              <a:sym typeface="Times New Roman"/>
            </a:endParaRPr>
          </a:p>
        </p:txBody>
      </p:sp>
      <p:pic>
        <p:nvPicPr>
          <p:cNvPr id="152" name="Google Shape;152;p27"/>
          <p:cNvPicPr preferRelativeResize="0"/>
          <p:nvPr/>
        </p:nvPicPr>
        <p:blipFill>
          <a:blip r:embed="rId3">
            <a:alphaModFix/>
          </a:blip>
          <a:stretch>
            <a:fillRect/>
          </a:stretch>
        </p:blipFill>
        <p:spPr>
          <a:xfrm>
            <a:off x="197497" y="1424315"/>
            <a:ext cx="3009900" cy="2999557"/>
          </a:xfrm>
          <a:prstGeom prst="rect">
            <a:avLst/>
          </a:prstGeom>
          <a:noFill/>
          <a:ln>
            <a:noFill/>
          </a:ln>
        </p:spPr>
      </p:pic>
      <p:pic>
        <p:nvPicPr>
          <p:cNvPr id="153" name="Google Shape;153;p27"/>
          <p:cNvPicPr preferRelativeResize="0"/>
          <p:nvPr/>
        </p:nvPicPr>
        <p:blipFill>
          <a:blip r:embed="rId4">
            <a:alphaModFix/>
          </a:blip>
          <a:stretch>
            <a:fillRect/>
          </a:stretch>
        </p:blipFill>
        <p:spPr>
          <a:xfrm>
            <a:off x="5650312" y="1407650"/>
            <a:ext cx="3190875" cy="2895600"/>
          </a:xfrm>
          <a:prstGeom prst="rect">
            <a:avLst/>
          </a:prstGeom>
          <a:noFill/>
          <a:ln>
            <a:noFill/>
          </a:ln>
        </p:spPr>
      </p:pic>
      <p:sp>
        <p:nvSpPr>
          <p:cNvPr id="154" name="Google Shape;154;p27"/>
          <p:cNvSpPr/>
          <p:nvPr/>
        </p:nvSpPr>
        <p:spPr>
          <a:xfrm>
            <a:off x="3546475" y="1213175"/>
            <a:ext cx="1413300" cy="292200"/>
          </a:xfrm>
          <a:prstGeom prst="right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27"/>
          <p:cNvSpPr txBox="1"/>
          <p:nvPr/>
        </p:nvSpPr>
        <p:spPr>
          <a:xfrm>
            <a:off x="3207400" y="1401655"/>
            <a:ext cx="2442900" cy="2895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1"/>
              </a:buClr>
              <a:buSzPts val="1800"/>
              <a:buChar char="●"/>
            </a:pPr>
            <a:r>
              <a:rPr lang="en" sz="1500">
                <a:solidFill>
                  <a:schemeClr val="lt1"/>
                </a:solidFill>
                <a:latin typeface="Times New Roman"/>
                <a:ea typeface="Times New Roman"/>
                <a:cs typeface="Times New Roman"/>
                <a:sym typeface="Times New Roman"/>
              </a:rPr>
              <a:t>Replaced </a:t>
            </a:r>
            <a:r>
              <a:rPr b="1" lang="en" sz="1500">
                <a:solidFill>
                  <a:schemeClr val="lt1"/>
                </a:solidFill>
                <a:latin typeface="Times New Roman"/>
                <a:ea typeface="Times New Roman"/>
                <a:cs typeface="Times New Roman"/>
                <a:sym typeface="Times New Roman"/>
              </a:rPr>
              <a:t>ESP32 → ESP32‑S3</a:t>
            </a:r>
            <a:r>
              <a:rPr lang="en" sz="1500">
                <a:solidFill>
                  <a:schemeClr val="lt1"/>
                </a:solidFill>
                <a:latin typeface="Times New Roman"/>
                <a:ea typeface="Times New Roman"/>
                <a:cs typeface="Times New Roman"/>
                <a:sym typeface="Times New Roman"/>
              </a:rPr>
              <a:t> to support more reliable ESP‑NOW communication for the swarm system</a:t>
            </a:r>
            <a:endParaRPr sz="15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Char char="●"/>
            </a:pPr>
            <a:r>
              <a:rPr lang="en" sz="1500">
                <a:solidFill>
                  <a:schemeClr val="lt1"/>
                </a:solidFill>
                <a:latin typeface="Times New Roman"/>
                <a:ea typeface="Times New Roman"/>
                <a:cs typeface="Times New Roman"/>
                <a:sym typeface="Times New Roman"/>
              </a:rPr>
              <a:t>Added </a:t>
            </a:r>
            <a:r>
              <a:rPr b="1" lang="en" sz="1500">
                <a:solidFill>
                  <a:schemeClr val="lt1"/>
                </a:solidFill>
                <a:latin typeface="Times New Roman"/>
                <a:ea typeface="Times New Roman"/>
                <a:cs typeface="Times New Roman"/>
                <a:sym typeface="Times New Roman"/>
              </a:rPr>
              <a:t>Pixhawk</a:t>
            </a:r>
            <a:r>
              <a:rPr lang="en" sz="1500">
                <a:solidFill>
                  <a:schemeClr val="lt1"/>
                </a:solidFill>
                <a:latin typeface="Times New Roman"/>
                <a:ea typeface="Times New Roman"/>
                <a:cs typeface="Times New Roman"/>
                <a:sym typeface="Times New Roman"/>
              </a:rPr>
              <a:t> to handle motor control, navigation, and sensor timestamping</a:t>
            </a:r>
            <a:endParaRPr sz="1500">
              <a:solidFill>
                <a:schemeClr val="lt1"/>
              </a:solidFill>
              <a:latin typeface="Times New Roman"/>
              <a:ea typeface="Times New Roman"/>
              <a:cs typeface="Times New Roman"/>
              <a:sym typeface="Times New Roman"/>
            </a:endParaRPr>
          </a:p>
          <a:p>
            <a:pPr indent="-342900" lvl="0" marL="457200" rtl="0" algn="l">
              <a:spcBef>
                <a:spcPts val="0"/>
              </a:spcBef>
              <a:spcAft>
                <a:spcPts val="0"/>
              </a:spcAft>
              <a:buClr>
                <a:schemeClr val="lt1"/>
              </a:buClr>
              <a:buSzPts val="1800"/>
              <a:buChar char="●"/>
            </a:pPr>
            <a:r>
              <a:rPr lang="en" sz="1500">
                <a:solidFill>
                  <a:schemeClr val="lt1"/>
                </a:solidFill>
                <a:latin typeface="Times New Roman"/>
                <a:ea typeface="Times New Roman"/>
                <a:cs typeface="Times New Roman"/>
                <a:sym typeface="Times New Roman"/>
              </a:rPr>
              <a:t>Integrated </a:t>
            </a:r>
            <a:r>
              <a:rPr b="1" lang="en" sz="1500">
                <a:solidFill>
                  <a:schemeClr val="lt1"/>
                </a:solidFill>
                <a:latin typeface="Times New Roman"/>
                <a:ea typeface="Times New Roman"/>
                <a:cs typeface="Times New Roman"/>
                <a:sym typeface="Times New Roman"/>
              </a:rPr>
              <a:t>final geo‑overlay sensors</a:t>
            </a:r>
            <a:r>
              <a:rPr lang="en" sz="1500">
                <a:solidFill>
                  <a:schemeClr val="lt1"/>
                </a:solidFill>
                <a:latin typeface="Times New Roman"/>
                <a:ea typeface="Times New Roman"/>
                <a:cs typeface="Times New Roman"/>
                <a:sym typeface="Times New Roman"/>
              </a:rPr>
              <a:t>.</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sp>
        <p:nvSpPr>
          <p:cNvPr id="156" name="Google Shape;156;p27"/>
          <p:cNvSpPr txBox="1"/>
          <p:nvPr/>
        </p:nvSpPr>
        <p:spPr>
          <a:xfrm>
            <a:off x="5594266" y="4374573"/>
            <a:ext cx="3009900" cy="393600"/>
          </a:xfrm>
          <a:prstGeom prst="rect">
            <a:avLst/>
          </a:prstGeom>
          <a:noFill/>
          <a:ln>
            <a:noFill/>
          </a:ln>
        </p:spPr>
        <p:txBody>
          <a:bodyPr anchorCtr="0" anchor="t" bIns="91425" lIns="91425" spcFirstLastPara="1" rIns="91425" wrap="square" tIns="91425">
            <a:normAutofit fontScale="55000" lnSpcReduction="20000"/>
          </a:bodyPr>
          <a:lstStyle/>
          <a:p>
            <a:pPr indent="0" lvl="0" marL="457200" rtl="0" algn="ctr">
              <a:spcBef>
                <a:spcPts val="0"/>
              </a:spcBef>
              <a:spcAft>
                <a:spcPts val="0"/>
              </a:spcAft>
              <a:buNone/>
            </a:pPr>
            <a:r>
              <a:rPr b="1" lang="en" sz="3000">
                <a:solidFill>
                  <a:schemeClr val="lt1"/>
                </a:solidFill>
                <a:latin typeface="Times New Roman"/>
                <a:ea typeface="Times New Roman"/>
                <a:cs typeface="Times New Roman"/>
                <a:sym typeface="Times New Roman"/>
              </a:rPr>
              <a:t>* Main Hull configuration</a:t>
            </a:r>
            <a:endParaRPr b="1" sz="3000">
              <a:solidFill>
                <a:schemeClr val="lt1"/>
              </a:solidFill>
              <a:latin typeface="Times New Roman"/>
              <a:ea typeface="Times New Roman"/>
              <a:cs typeface="Times New Roman"/>
              <a:sym typeface="Times New Roman"/>
            </a:endParaRPr>
          </a:p>
        </p:txBody>
      </p:sp>
      <p:pic>
        <p:nvPicPr>
          <p:cNvPr id="157" name="Google Shape;157;p27"/>
          <p:cNvPicPr preferRelativeResize="0"/>
          <p:nvPr/>
        </p:nvPicPr>
        <p:blipFill>
          <a:blip r:embed="rId5">
            <a:alphaModFix/>
          </a:blip>
          <a:stretch>
            <a:fillRect/>
          </a:stretch>
        </p:blipFill>
        <p:spPr>
          <a:xfrm>
            <a:off x="8091000" y="1424324"/>
            <a:ext cx="1073275" cy="1073250"/>
          </a:xfrm>
          <a:prstGeom prst="rect">
            <a:avLst/>
          </a:prstGeom>
          <a:noFill/>
          <a:ln>
            <a:noFill/>
          </a:ln>
        </p:spPr>
      </p:pic>
      <p:sp>
        <p:nvSpPr>
          <p:cNvPr id="158" name="Google Shape;158;p27"/>
          <p:cNvSpPr txBox="1"/>
          <p:nvPr/>
        </p:nvSpPr>
        <p:spPr>
          <a:xfrm>
            <a:off x="8282338" y="2102250"/>
            <a:ext cx="690600" cy="44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500">
                <a:solidFill>
                  <a:schemeClr val="dk1"/>
                </a:solidFill>
                <a:latin typeface="Times New Roman"/>
                <a:ea typeface="Times New Roman"/>
                <a:cs typeface="Times New Roman"/>
                <a:sym typeface="Times New Roman"/>
              </a:rPr>
              <a:t>gps</a:t>
            </a:r>
            <a:endParaRPr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64" name="Google Shape;164;p28"/>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t/>
            </a:r>
            <a:endParaRPr b="1" sz="3000">
              <a:solidFill>
                <a:schemeClr val="lt1"/>
              </a:solidFill>
              <a:latin typeface="Times New Roman"/>
              <a:ea typeface="Times New Roman"/>
              <a:cs typeface="Times New Roman"/>
              <a:sym typeface="Times New Roman"/>
            </a:endParaRPr>
          </a:p>
        </p:txBody>
      </p:sp>
      <p:sp>
        <p:nvSpPr>
          <p:cNvPr id="165" name="Google Shape;165;p28"/>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Electronics Stack</a:t>
            </a:r>
            <a:endParaRPr b="1" sz="3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169" name="Shape 169"/>
        <p:cNvGrpSpPr/>
        <p:nvPr/>
      </p:nvGrpSpPr>
      <p:grpSpPr>
        <a:xfrm>
          <a:off x="0" y="0"/>
          <a:ext cx="0" cy="0"/>
          <a:chOff x="0" y="0"/>
          <a:chExt cx="0" cy="0"/>
        </a:xfrm>
      </p:grpSpPr>
      <p:sp>
        <p:nvSpPr>
          <p:cNvPr id="170" name="Google Shape;170;p29"/>
          <p:cNvSpPr txBox="1"/>
          <p:nvPr/>
        </p:nvSpPr>
        <p:spPr>
          <a:xfrm>
            <a:off x="696900" y="1980300"/>
            <a:ext cx="7750200" cy="8265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5000">
                <a:solidFill>
                  <a:srgbClr val="FFFFFF"/>
                </a:solidFill>
                <a:latin typeface="Times"/>
                <a:ea typeface="Times"/>
                <a:cs typeface="Times"/>
                <a:sym typeface="Times"/>
              </a:rPr>
              <a:t>Verification Results</a:t>
            </a:r>
            <a:endParaRPr b="1" sz="5000">
              <a:solidFill>
                <a:srgbClr val="FFFFFF"/>
              </a:solidFill>
              <a:latin typeface="Times"/>
              <a:ea typeface="Times"/>
              <a:cs typeface="Times"/>
              <a:sym typeface="Times"/>
            </a:endParaRPr>
          </a:p>
          <a:p>
            <a:pPr indent="0" lvl="0" marL="0" rtl="0" algn="l">
              <a:lnSpc>
                <a:spcPct val="115000"/>
              </a:lnSpc>
              <a:spcBef>
                <a:spcPts val="0"/>
              </a:spcBef>
              <a:spcAft>
                <a:spcPts val="0"/>
              </a:spcAft>
              <a:buClr>
                <a:schemeClr val="dk1"/>
              </a:buClr>
              <a:buSzPts val="1100"/>
              <a:buFont typeface="Arial"/>
              <a:buNone/>
            </a:pPr>
            <a:r>
              <a:rPr lang="en" sz="2400">
                <a:solidFill>
                  <a:srgbClr val="FF0000"/>
                </a:solidFill>
                <a:latin typeface="Times New Roman"/>
                <a:ea typeface="Times New Roman"/>
                <a:cs typeface="Times New Roman"/>
                <a:sym typeface="Times New Roman"/>
              </a:rPr>
              <a:t>Verification for each test should include 2-3 slides:</a:t>
            </a:r>
            <a:endParaRPr sz="2400">
              <a:solidFill>
                <a:srgbClr val="FF0000"/>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FF0000"/>
              </a:buClr>
              <a:buSzPts val="2400"/>
              <a:buFont typeface="Times New Roman"/>
              <a:buChar char="-"/>
            </a:pPr>
            <a:r>
              <a:rPr lang="en" sz="2400">
                <a:solidFill>
                  <a:srgbClr val="FF0000"/>
                </a:solidFill>
                <a:latin typeface="Times New Roman"/>
                <a:ea typeface="Times New Roman"/>
                <a:cs typeface="Times New Roman"/>
                <a:sym typeface="Times New Roman"/>
              </a:rPr>
              <a:t>Test setup (with graphic, if possible)</a:t>
            </a:r>
            <a:endParaRPr sz="2400">
              <a:solidFill>
                <a:srgbClr val="FF0000"/>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FF0000"/>
              </a:buClr>
              <a:buSzPts val="2400"/>
              <a:buFont typeface="Times New Roman"/>
              <a:buChar char="-"/>
            </a:pPr>
            <a:r>
              <a:rPr lang="en" sz="2400">
                <a:solidFill>
                  <a:srgbClr val="FF0000"/>
                </a:solidFill>
                <a:latin typeface="Times New Roman"/>
                <a:ea typeface="Times New Roman"/>
                <a:cs typeface="Times New Roman"/>
                <a:sym typeface="Times New Roman"/>
              </a:rPr>
              <a:t>Requirements verified by the test</a:t>
            </a:r>
            <a:endParaRPr sz="2400">
              <a:solidFill>
                <a:srgbClr val="FF0000"/>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rgbClr val="FF0000"/>
              </a:buClr>
              <a:buSzPts val="2400"/>
              <a:buFont typeface="Times New Roman"/>
              <a:buChar char="-"/>
            </a:pPr>
            <a:r>
              <a:rPr lang="en" sz="2400">
                <a:solidFill>
                  <a:srgbClr val="FF0000"/>
                </a:solidFill>
                <a:latin typeface="Times New Roman"/>
                <a:ea typeface="Times New Roman"/>
                <a:cs typeface="Times New Roman"/>
                <a:sym typeface="Times New Roman"/>
              </a:rPr>
              <a:t>Results (Not needed if testing incomplete at time of FAR)</a:t>
            </a:r>
            <a:endParaRPr sz="2400">
              <a:solidFill>
                <a:srgbClr val="FF0000"/>
              </a:solidFill>
              <a:latin typeface="Times New Roman"/>
              <a:ea typeface="Times New Roman"/>
              <a:cs typeface="Times New Roman"/>
              <a:sym typeface="Times New Roman"/>
            </a:endParaRPr>
          </a:p>
          <a:p>
            <a:pPr indent="0" lvl="0" marL="0" marR="0" rtl="0" algn="ctr">
              <a:lnSpc>
                <a:spcPct val="75000"/>
              </a:lnSpc>
              <a:spcBef>
                <a:spcPts val="0"/>
              </a:spcBef>
              <a:spcAft>
                <a:spcPts val="0"/>
              </a:spcAft>
              <a:buClr>
                <a:srgbClr val="000000"/>
              </a:buClr>
              <a:buSzPts val="1800"/>
              <a:buFont typeface="Arial"/>
              <a:buNone/>
            </a:pPr>
            <a:r>
              <a:t/>
            </a:r>
            <a:endParaRPr b="1" sz="5000">
              <a:solidFill>
                <a:srgbClr val="FFFFFF"/>
              </a:solidFill>
              <a:latin typeface="Times"/>
              <a:ea typeface="Times"/>
              <a:cs typeface="Times"/>
              <a:sym typeface="Times"/>
            </a:endParaRPr>
          </a:p>
          <a:p>
            <a:pPr indent="0" lvl="0" marL="0" marR="0" rtl="0" algn="l">
              <a:lnSpc>
                <a:spcPct val="75000"/>
              </a:lnSpc>
              <a:spcBef>
                <a:spcPts val="0"/>
              </a:spcBef>
              <a:spcAft>
                <a:spcPts val="0"/>
              </a:spcAft>
              <a:buClr>
                <a:srgbClr val="000000"/>
              </a:buClr>
              <a:buSzPts val="1800"/>
              <a:buFont typeface="Arial"/>
              <a:buNone/>
            </a:pPr>
            <a:r>
              <a:t/>
            </a:r>
            <a:endParaRPr b="1" sz="5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171" name="Google Shape;171;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77" name="Google Shape;177;p30"/>
          <p:cNvSpPr txBox="1"/>
          <p:nvPr/>
        </p:nvSpPr>
        <p:spPr>
          <a:xfrm>
            <a:off x="0" y="220525"/>
            <a:ext cx="9105600" cy="71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1018"/>
              <a:buNone/>
            </a:pPr>
            <a:r>
              <a:rPr b="1" lang="en" sz="3600">
                <a:solidFill>
                  <a:schemeClr val="lt1"/>
                </a:solidFill>
                <a:latin typeface="Times New Roman"/>
                <a:ea typeface="Times New Roman"/>
                <a:cs typeface="Times New Roman"/>
                <a:sym typeface="Times New Roman"/>
              </a:rPr>
              <a:t>Off-Water Navigation/Propulsion Test Setup</a:t>
            </a:r>
            <a:endParaRPr b="1" sz="3600">
              <a:solidFill>
                <a:schemeClr val="lt1"/>
              </a:solidFill>
              <a:latin typeface="Times New Roman"/>
              <a:ea typeface="Times New Roman"/>
              <a:cs typeface="Times New Roman"/>
              <a:sym typeface="Times New Roman"/>
            </a:endParaRPr>
          </a:p>
        </p:txBody>
      </p:sp>
      <p:sp>
        <p:nvSpPr>
          <p:cNvPr id="178" name="Google Shape;178;p30"/>
          <p:cNvSpPr txBox="1"/>
          <p:nvPr/>
        </p:nvSpPr>
        <p:spPr>
          <a:xfrm>
            <a:off x="922600" y="1462100"/>
            <a:ext cx="3033600" cy="11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Tested, it runs </a:t>
            </a:r>
            <a:endParaRPr sz="18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84" name="Google Shape;184;p31"/>
          <p:cNvSpPr txBox="1"/>
          <p:nvPr/>
        </p:nvSpPr>
        <p:spPr>
          <a:xfrm>
            <a:off x="1000650" y="262183"/>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Results</a:t>
            </a:r>
            <a:endParaRPr b="1" sz="3000">
              <a:solidFill>
                <a:schemeClr val="l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90" name="Google Shape;190;p32"/>
          <p:cNvSpPr txBox="1"/>
          <p:nvPr/>
        </p:nvSpPr>
        <p:spPr>
          <a:xfrm>
            <a:off x="1000650" y="241358"/>
            <a:ext cx="7142700" cy="7197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b="1" lang="en" sz="3000">
                <a:solidFill>
                  <a:schemeClr val="lt1"/>
                </a:solidFill>
                <a:latin typeface="Times New Roman"/>
                <a:ea typeface="Times New Roman"/>
                <a:cs typeface="Times New Roman"/>
                <a:sym typeface="Times New Roman"/>
              </a:rPr>
              <a:t>Requirements Verified</a:t>
            </a:r>
            <a:endParaRPr b="1" sz="3000">
              <a:solidFill>
                <a:schemeClr val="lt1"/>
              </a:solidFill>
              <a:latin typeface="Times New Roman"/>
              <a:ea typeface="Times New Roman"/>
              <a:cs typeface="Times New Roman"/>
              <a:sym typeface="Times New Roman"/>
            </a:endParaRPr>
          </a:p>
        </p:txBody>
      </p:sp>
      <p:graphicFrame>
        <p:nvGraphicFramePr>
          <p:cNvPr id="191" name="Google Shape;191;p32"/>
          <p:cNvGraphicFramePr/>
          <p:nvPr/>
        </p:nvGraphicFramePr>
        <p:xfrm>
          <a:off x="1055563" y="1096325"/>
          <a:ext cx="3000000" cy="3000000"/>
        </p:xfrm>
        <a:graphic>
          <a:graphicData uri="http://schemas.openxmlformats.org/drawingml/2006/table">
            <a:tbl>
              <a:tblPr>
                <a:noFill/>
                <a:tableStyleId>{2EF35261-E8B5-419E-839D-F0FCB15417EF}</a:tableStyleId>
              </a:tblPr>
              <a:tblGrid>
                <a:gridCol w="2389300"/>
                <a:gridCol w="1934275"/>
                <a:gridCol w="2709300"/>
              </a:tblGrid>
              <a:tr h="381000">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Requirement</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Status</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Remaining Action</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r>
              <a:tr h="381000">
                <a:tc>
                  <a:txBody>
                    <a:bodyPr/>
                    <a:lstStyle/>
                    <a:p>
                      <a:pPr indent="0" lvl="0" marL="457200" rtl="0" algn="l">
                        <a:spcBef>
                          <a:spcPts val="0"/>
                        </a:spcBef>
                        <a:spcAft>
                          <a:spcPts val="0"/>
                        </a:spcAft>
                        <a:buNone/>
                      </a:pPr>
                      <a:r>
                        <a:rPr lang="en" sz="1600">
                          <a:solidFill>
                            <a:schemeClr val="lt1"/>
                          </a:solidFill>
                          <a:latin typeface="Times New Roman"/>
                          <a:ea typeface="Times New Roman"/>
                          <a:cs typeface="Times New Roman"/>
                          <a:sym typeface="Times New Roman"/>
                        </a:rPr>
                        <a:t>4.1.3  Stability </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rgbClr val="00FF00"/>
                          </a:solidFill>
                          <a:latin typeface="Times New Roman"/>
                          <a:ea typeface="Times New Roman"/>
                          <a:cs typeface="Times New Roman"/>
                          <a:sym typeface="Times New Roman"/>
                        </a:rPr>
                        <a:t>Pass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457200" rtl="0" algn="l">
                        <a:spcBef>
                          <a:spcPts val="0"/>
                        </a:spcBef>
                        <a:spcAft>
                          <a:spcPts val="0"/>
                        </a:spcAft>
                        <a:buNone/>
                      </a:pPr>
                      <a:r>
                        <a:rPr lang="en" sz="1600">
                          <a:solidFill>
                            <a:schemeClr val="lt1"/>
                          </a:solidFill>
                          <a:latin typeface="Times New Roman"/>
                          <a:ea typeface="Times New Roman"/>
                          <a:cs typeface="Times New Roman"/>
                          <a:sym typeface="Times New Roman"/>
                        </a:rPr>
                        <a:t>4.1.4  Speed</a:t>
                      </a:r>
                      <a:endParaRPr sz="16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r>
                        <a:rPr lang="en" sz="1600">
                          <a:solidFill>
                            <a:schemeClr val="lt1"/>
                          </a:solidFill>
                          <a:latin typeface="Times New Roman"/>
                          <a:ea typeface="Times New Roman"/>
                          <a:cs typeface="Times New Roman"/>
                          <a:sym typeface="Times New Roman"/>
                        </a:rPr>
                        <a:t> </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l">
                        <a:spcBef>
                          <a:spcPts val="0"/>
                        </a:spcBef>
                        <a:spcAft>
                          <a:spcPts val="0"/>
                        </a:spcAft>
                        <a:buNone/>
                      </a:pPr>
                      <a:r>
                        <a:t/>
                      </a:r>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FFB300"/>
                          </a:solidFill>
                          <a:latin typeface="Times New Roman"/>
                          <a:ea typeface="Times New Roman"/>
                          <a:cs typeface="Times New Roman"/>
                          <a:sym typeface="Times New Roman"/>
                        </a:rPr>
                        <a:t>Partial Pass</a:t>
                      </a:r>
                      <a:endParaRPr sz="1600">
                        <a:solidFill>
                          <a:srgbClr val="00FF00"/>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197" name="Google Shape;197;p33"/>
          <p:cNvSpPr txBox="1"/>
          <p:nvPr/>
        </p:nvSpPr>
        <p:spPr>
          <a:xfrm>
            <a:off x="0" y="220525"/>
            <a:ext cx="9105600" cy="71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SzPts val="1018"/>
              <a:buNone/>
            </a:pPr>
            <a:r>
              <a:rPr b="1" lang="en" sz="3600">
                <a:solidFill>
                  <a:schemeClr val="lt1"/>
                </a:solidFill>
                <a:latin typeface="Times New Roman"/>
                <a:ea typeface="Times New Roman"/>
                <a:cs typeface="Times New Roman"/>
                <a:sym typeface="Times New Roman"/>
              </a:rPr>
              <a:t>RC Boat Test Setup</a:t>
            </a:r>
            <a:endParaRPr b="1" sz="36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03" name="Google Shape;203;p34"/>
          <p:cNvSpPr txBox="1"/>
          <p:nvPr/>
        </p:nvSpPr>
        <p:spPr>
          <a:xfrm>
            <a:off x="199300" y="625"/>
            <a:ext cx="8742000" cy="998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3000">
                <a:solidFill>
                  <a:schemeClr val="lt1"/>
                </a:solidFill>
                <a:latin typeface="Times"/>
                <a:ea typeface="Times"/>
                <a:cs typeface="Times"/>
                <a:sym typeface="Times"/>
              </a:rPr>
              <a:t>Self-Righting and </a:t>
            </a:r>
            <a:r>
              <a:rPr b="1" lang="en" sz="3000">
                <a:solidFill>
                  <a:srgbClr val="FFFFFF"/>
                </a:solidFill>
                <a:latin typeface="Times"/>
                <a:ea typeface="Times"/>
                <a:cs typeface="Times"/>
                <a:sym typeface="Times"/>
              </a:rPr>
              <a:t>Waterproofing Subsystem </a:t>
            </a:r>
            <a:endParaRPr b="1" sz="3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rPr b="1" lang="en" sz="3000">
                <a:solidFill>
                  <a:srgbClr val="FFFFFF"/>
                </a:solidFill>
                <a:latin typeface="Times"/>
                <a:ea typeface="Times"/>
                <a:cs typeface="Times"/>
                <a:sym typeface="Times"/>
              </a:rPr>
              <a:t>Testing/Verification (</a:t>
            </a:r>
            <a:r>
              <a:rPr b="1" lang="en" sz="3000">
                <a:solidFill>
                  <a:schemeClr val="lt1"/>
                </a:solidFill>
                <a:latin typeface="Times"/>
                <a:ea typeface="Times"/>
                <a:cs typeface="Times"/>
                <a:sym typeface="Times"/>
              </a:rPr>
              <a:t>5.1.3</a:t>
            </a:r>
            <a:r>
              <a:rPr b="1" lang="en" sz="3000">
                <a:solidFill>
                  <a:srgbClr val="FFFFFF"/>
                </a:solidFill>
                <a:latin typeface="Times"/>
                <a:ea typeface="Times"/>
                <a:cs typeface="Times"/>
                <a:sym typeface="Times"/>
              </a:rPr>
              <a:t>, 5.3.2)</a:t>
            </a:r>
            <a:endParaRPr b="1" sz="3000">
              <a:solidFill>
                <a:srgbClr val="FFFFFF"/>
              </a:solidFill>
              <a:latin typeface="Times"/>
              <a:ea typeface="Times"/>
              <a:cs typeface="Times"/>
              <a:sym typeface="Times"/>
            </a:endParaRPr>
          </a:p>
        </p:txBody>
      </p:sp>
      <p:pic>
        <p:nvPicPr>
          <p:cNvPr id="204" name="Google Shape;204;p34"/>
          <p:cNvPicPr preferRelativeResize="0"/>
          <p:nvPr/>
        </p:nvPicPr>
        <p:blipFill rotWithShape="1">
          <a:blip r:embed="rId3">
            <a:alphaModFix/>
          </a:blip>
          <a:srcRect b="12162" l="17370" r="17792" t="16297"/>
          <a:stretch/>
        </p:blipFill>
        <p:spPr>
          <a:xfrm>
            <a:off x="6476225" y="846850"/>
            <a:ext cx="2526132" cy="2090453"/>
          </a:xfrm>
          <a:prstGeom prst="rect">
            <a:avLst/>
          </a:prstGeom>
          <a:noFill/>
          <a:ln>
            <a:noFill/>
          </a:ln>
        </p:spPr>
      </p:pic>
      <p:graphicFrame>
        <p:nvGraphicFramePr>
          <p:cNvPr id="205" name="Google Shape;205;p34"/>
          <p:cNvGraphicFramePr/>
          <p:nvPr/>
        </p:nvGraphicFramePr>
        <p:xfrm>
          <a:off x="199300" y="917986"/>
          <a:ext cx="3000000" cy="3000000"/>
        </p:xfrm>
        <a:graphic>
          <a:graphicData uri="http://schemas.openxmlformats.org/drawingml/2006/table">
            <a:tbl>
              <a:tblPr>
                <a:noFill/>
                <a:tableStyleId>{28A23E93-88C5-4DEB-83CE-8D11F667290B}</a:tableStyleId>
              </a:tblPr>
              <a:tblGrid>
                <a:gridCol w="630850"/>
                <a:gridCol w="1309175"/>
                <a:gridCol w="1076400"/>
                <a:gridCol w="811875"/>
                <a:gridCol w="1007875"/>
                <a:gridCol w="1045025"/>
              </a:tblGrid>
              <a:tr h="289775">
                <a:tc gridSpan="6">
                  <a:txBody>
                    <a:bodyPr/>
                    <a:lstStyle/>
                    <a:p>
                      <a:pPr indent="0" lvl="0" marL="0" rtl="0" algn="ctr">
                        <a:spcBef>
                          <a:spcPts val="0"/>
                        </a:spcBef>
                        <a:spcAft>
                          <a:spcPts val="0"/>
                        </a:spcAft>
                        <a:buNone/>
                      </a:pPr>
                      <a:r>
                        <a:rPr lang="en">
                          <a:solidFill>
                            <a:schemeClr val="lt1"/>
                          </a:solidFill>
                          <a:latin typeface="Times New Roman"/>
                          <a:ea typeface="Times New Roman"/>
                          <a:cs typeface="Times New Roman"/>
                          <a:sym typeface="Times New Roman"/>
                        </a:rPr>
                        <a:t>Analysis of Torque due to Mass Offset</a:t>
                      </a:r>
                      <a:endParaRPr>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hMerge="1"/>
                <a:tc hMerge="1"/>
                <a:tc hMerge="1"/>
                <a:tc hMerge="1"/>
                <a:tc hMerge="1"/>
              </a:tr>
              <a:tr h="470200">
                <a:tc>
                  <a:txBody>
                    <a:bodyPr/>
                    <a:lstStyle/>
                    <a:p>
                      <a:pPr indent="0" lvl="0" marL="0" rtl="0" algn="l">
                        <a:spcBef>
                          <a:spcPts val="0"/>
                        </a:spcBef>
                        <a:spcAft>
                          <a:spcPts val="0"/>
                        </a:spcAft>
                        <a:buNone/>
                      </a:pPr>
                      <a:r>
                        <a:t/>
                      </a:r>
                      <a:endParaRPr>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Approximate Center of Buoyancy (mm)</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Assembly Center of Mass (mm)</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Offset (mm)</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Total Mass (kg)</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solidFill>
                            <a:srgbClr val="FFFFFF"/>
                          </a:solidFill>
                        </a:rPr>
                        <a:t>Resulting Torque (N*m)</a:t>
                      </a:r>
                      <a:endParaRPr sz="1000">
                        <a:solidFill>
                          <a:srgbClr val="FFFFFF"/>
                        </a:solidFill>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8761D"/>
                    </a:solidFill>
                  </a:tcPr>
                </a:tc>
              </a:tr>
              <a:tr h="265450">
                <a:tc>
                  <a:txBody>
                    <a:bodyPr/>
                    <a:lstStyle/>
                    <a:p>
                      <a:pPr indent="0" lvl="0" marL="0" rtl="0" algn="l">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X (Roll)</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0</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1.23</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-1.23</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rowSpan="3">
                  <a:txBody>
                    <a:bodyPr/>
                    <a:lstStyle/>
                    <a:p>
                      <a:pPr indent="0" lvl="0" marL="0" rtl="0" algn="r">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29.26</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rgbClr val="FFFFFF"/>
                          </a:solidFill>
                        </a:rPr>
                        <a:t>-0.353</a:t>
                      </a:r>
                      <a:endParaRPr sz="1000">
                        <a:solidFill>
                          <a:srgbClr val="FFFFFF"/>
                        </a:solidFill>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8761D"/>
                    </a:solidFill>
                  </a:tcPr>
                </a:tc>
              </a:tr>
              <a:tr h="265450">
                <a:tc>
                  <a:txBody>
                    <a:bodyPr/>
                    <a:lstStyle/>
                    <a:p>
                      <a:pPr indent="0" lvl="0" marL="0" rtl="0" algn="l">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Y (Yaw)</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-326.54</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-296.47</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-30.07</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vMerge="1"/>
                <a:tc>
                  <a:txBody>
                    <a:bodyPr/>
                    <a:lstStyle/>
                    <a:p>
                      <a:pPr indent="0" lvl="0" marL="0" rtl="0" algn="r">
                        <a:lnSpc>
                          <a:spcPct val="115000"/>
                        </a:lnSpc>
                        <a:spcBef>
                          <a:spcPts val="0"/>
                        </a:spcBef>
                        <a:spcAft>
                          <a:spcPts val="0"/>
                        </a:spcAft>
                        <a:buNone/>
                      </a:pPr>
                      <a:r>
                        <a:rPr lang="en" sz="1000">
                          <a:solidFill>
                            <a:srgbClr val="FFFFFF"/>
                          </a:solidFill>
                        </a:rPr>
                        <a:t>0.000</a:t>
                      </a:r>
                      <a:endParaRPr sz="1000">
                        <a:solidFill>
                          <a:srgbClr val="FFFFFF"/>
                        </a:solidFill>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8761D"/>
                    </a:solidFill>
                  </a:tcPr>
                </a:tc>
              </a:tr>
              <a:tr h="265450">
                <a:tc>
                  <a:txBody>
                    <a:bodyPr/>
                    <a:lstStyle/>
                    <a:p>
                      <a:pPr indent="0" lvl="0" marL="0" rtl="0" algn="l">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Z (Pitch)</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-303.89</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-281.52</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solidFill>
                            <a:schemeClr val="lt1"/>
                          </a:solidFill>
                          <a:latin typeface="Times New Roman"/>
                          <a:ea typeface="Times New Roman"/>
                          <a:cs typeface="Times New Roman"/>
                          <a:sym typeface="Times New Roman"/>
                        </a:rPr>
                        <a:t>-22.37</a:t>
                      </a:r>
                      <a:endParaRPr sz="1000">
                        <a:solidFill>
                          <a:schemeClr val="lt1"/>
                        </a:solidFill>
                        <a:latin typeface="Times New Roman"/>
                        <a:ea typeface="Times New Roman"/>
                        <a:cs typeface="Times New Roman"/>
                        <a:sym typeface="Times New Roman"/>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tcPr>
                </a:tc>
                <a:tc vMerge="1"/>
                <a:tc>
                  <a:txBody>
                    <a:bodyPr/>
                    <a:lstStyle/>
                    <a:p>
                      <a:pPr indent="0" lvl="0" marL="0" rtl="0" algn="r">
                        <a:lnSpc>
                          <a:spcPct val="115000"/>
                        </a:lnSpc>
                        <a:spcBef>
                          <a:spcPts val="0"/>
                        </a:spcBef>
                        <a:spcAft>
                          <a:spcPts val="0"/>
                        </a:spcAft>
                        <a:buNone/>
                      </a:pPr>
                      <a:r>
                        <a:rPr lang="en" sz="1000">
                          <a:solidFill>
                            <a:srgbClr val="FFFFFF"/>
                          </a:solidFill>
                        </a:rPr>
                        <a:t>-6.421</a:t>
                      </a:r>
                      <a:endParaRPr sz="1000">
                        <a:solidFill>
                          <a:srgbClr val="FFFFFF"/>
                        </a:solidFill>
                      </a:endParaRPr>
                    </a:p>
                  </a:txBody>
                  <a:tcPr marT="25400" marB="25400" marR="25400" marL="25400" anchor="b">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38761D"/>
                    </a:solidFill>
                  </a:tcPr>
                </a:tc>
              </a:tr>
            </a:tbl>
          </a:graphicData>
        </a:graphic>
      </p:graphicFrame>
      <p:sp>
        <p:nvSpPr>
          <p:cNvPr id="206" name="Google Shape;206;p34"/>
          <p:cNvSpPr txBox="1"/>
          <p:nvPr/>
        </p:nvSpPr>
        <p:spPr>
          <a:xfrm>
            <a:off x="6405137" y="2885736"/>
            <a:ext cx="2848800" cy="326400"/>
          </a:xfrm>
          <a:prstGeom prst="rect">
            <a:avLst/>
          </a:prstGeom>
          <a:noFill/>
          <a:ln>
            <a:noFill/>
          </a:ln>
        </p:spPr>
        <p:txBody>
          <a:bodyPr anchorCtr="0" anchor="t" bIns="96925" lIns="96925" spcFirstLastPara="1" rIns="96925" wrap="square" tIns="96925">
            <a:spAutoFit/>
          </a:bodyPr>
          <a:lstStyle/>
          <a:p>
            <a:pPr indent="0" lvl="0" marL="0" rtl="0" algn="l">
              <a:lnSpc>
                <a:spcPct val="115000"/>
              </a:lnSpc>
              <a:spcBef>
                <a:spcPts val="339"/>
              </a:spcBef>
              <a:spcAft>
                <a:spcPts val="0"/>
              </a:spcAft>
              <a:buNone/>
            </a:pPr>
            <a:r>
              <a:rPr i="1" lang="en" sz="848">
                <a:solidFill>
                  <a:srgbClr val="FFFFFF"/>
                </a:solidFill>
                <a:latin typeface="Times New Roman"/>
                <a:ea typeface="Times New Roman"/>
                <a:cs typeface="Times New Roman"/>
                <a:sym typeface="Times New Roman"/>
              </a:rPr>
              <a:t>Image showing initial waterproof and self-righting testing</a:t>
            </a:r>
            <a:endParaRPr i="1" sz="848">
              <a:solidFill>
                <a:srgbClr val="FFFFFF"/>
              </a:solidFill>
              <a:latin typeface="Times New Roman"/>
              <a:ea typeface="Times New Roman"/>
              <a:cs typeface="Times New Roman"/>
              <a:sym typeface="Times New Roman"/>
            </a:endParaRPr>
          </a:p>
        </p:txBody>
      </p:sp>
      <p:sp>
        <p:nvSpPr>
          <p:cNvPr id="207" name="Google Shape;207;p34"/>
          <p:cNvSpPr txBox="1"/>
          <p:nvPr/>
        </p:nvSpPr>
        <p:spPr>
          <a:xfrm>
            <a:off x="-63225" y="2666781"/>
            <a:ext cx="9065700" cy="20904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32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COM offset only results in a small change in equilibrium pitch</a:t>
            </a:r>
            <a:endParaRPr sz="1500">
              <a:solidFill>
                <a:schemeClr val="lt1"/>
              </a:solidFill>
              <a:latin typeface="Times New Roman"/>
              <a:ea typeface="Times New Roman"/>
              <a:cs typeface="Times New Roman"/>
              <a:sym typeface="Times New Roman"/>
            </a:endParaRPr>
          </a:p>
          <a:p>
            <a:pPr indent="-323850" lvl="0" marL="457200" rtl="0" algn="l">
              <a:lnSpc>
                <a:spcPct val="150000"/>
              </a:lnSpc>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Calculated low COM indicates self-righting capabilities after modifications</a:t>
            </a:r>
            <a:endParaRPr sz="1500">
              <a:solidFill>
                <a:schemeClr val="lt1"/>
              </a:solidFill>
              <a:latin typeface="Times New Roman"/>
              <a:ea typeface="Times New Roman"/>
              <a:cs typeface="Times New Roman"/>
              <a:sym typeface="Times New Roman"/>
            </a:endParaRPr>
          </a:p>
          <a:p>
            <a:pPr indent="-323850" lvl="0" marL="457200" rtl="0" algn="l">
              <a:lnSpc>
                <a:spcPct val="150000"/>
              </a:lnSpc>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Initial self-righting and waterproof testing successful</a:t>
            </a:r>
            <a:endParaRPr sz="1500">
              <a:solidFill>
                <a:schemeClr val="lt1"/>
              </a:solidFill>
              <a:latin typeface="Times New Roman"/>
              <a:ea typeface="Times New Roman"/>
              <a:cs typeface="Times New Roman"/>
              <a:sym typeface="Times New Roman"/>
            </a:endParaRPr>
          </a:p>
          <a:p>
            <a:pPr indent="-323850" lvl="0" marL="457200" rtl="0" algn="l">
              <a:lnSpc>
                <a:spcPct val="150000"/>
              </a:lnSpc>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Extra waterproofing precautions: possible bilge pump implementation, upgraded washers, waterproof sealant</a:t>
            </a:r>
            <a:endParaRPr sz="1500">
              <a:solidFill>
                <a:schemeClr val="lt1"/>
              </a:solidFill>
              <a:latin typeface="Times New Roman"/>
              <a:ea typeface="Times New Roman"/>
              <a:cs typeface="Times New Roman"/>
              <a:sym typeface="Times New Roman"/>
            </a:endParaRPr>
          </a:p>
          <a:p>
            <a:pPr indent="-323850" lvl="0" marL="457200" rtl="0" algn="l">
              <a:lnSpc>
                <a:spcPct val="150000"/>
              </a:lnSpc>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Final testing will be conducted before 3/30/2026</a:t>
            </a:r>
            <a:endParaRPr sz="1500">
              <a:solidFill>
                <a:schemeClr val="lt1"/>
              </a:solidFill>
              <a:latin typeface="Times New Roman"/>
              <a:ea typeface="Times New Roman"/>
              <a:cs typeface="Times New Roman"/>
              <a:sym typeface="Times New Roman"/>
            </a:endParaRPr>
          </a:p>
        </p:txBody>
      </p:sp>
      <p:pic>
        <p:nvPicPr>
          <p:cNvPr descr="preencoded.png" id="208" name="Google Shape;208;p34"/>
          <p:cNvPicPr preferRelativeResize="0"/>
          <p:nvPr/>
        </p:nvPicPr>
        <p:blipFill rotWithShape="1">
          <a:blip r:embed="rId4">
            <a:alphaModFix/>
          </a:blip>
          <a:srcRect b="0" l="0" r="0" t="0"/>
          <a:stretch/>
        </p:blipFill>
        <p:spPr>
          <a:xfrm>
            <a:off x="4682840" y="3396983"/>
            <a:ext cx="320040" cy="3200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14" name="Google Shape;214;p35"/>
          <p:cNvSpPr txBox="1"/>
          <p:nvPr/>
        </p:nvSpPr>
        <p:spPr>
          <a:xfrm>
            <a:off x="664950" y="351550"/>
            <a:ext cx="7814100" cy="531000"/>
          </a:xfrm>
          <a:prstGeom prst="rect">
            <a:avLst/>
          </a:prstGeom>
          <a:noFill/>
          <a:ln>
            <a:noFill/>
          </a:ln>
        </p:spPr>
        <p:txBody>
          <a:bodyPr anchorCtr="0" anchor="t" bIns="91425" lIns="91425" spcFirstLastPara="1" rIns="91425" wrap="square" tIns="91425">
            <a:spAutoFit/>
          </a:bodyPr>
          <a:lstStyle/>
          <a:p>
            <a:pPr indent="0" lvl="0" marL="0" rtl="0" algn="ctr">
              <a:lnSpc>
                <a:spcPct val="75000"/>
              </a:lnSpc>
              <a:spcBef>
                <a:spcPts val="0"/>
              </a:spcBef>
              <a:spcAft>
                <a:spcPts val="0"/>
              </a:spcAft>
              <a:buNone/>
            </a:pPr>
            <a:r>
              <a:rPr b="1" lang="en" sz="3000">
                <a:solidFill>
                  <a:schemeClr val="lt1"/>
                </a:solidFill>
                <a:latin typeface="Times"/>
                <a:ea typeface="Times"/>
                <a:cs typeface="Times"/>
                <a:sym typeface="Times"/>
              </a:rPr>
              <a:t>End to End Remote Operation Test - Setup</a:t>
            </a:r>
            <a:endParaRPr/>
          </a:p>
        </p:txBody>
      </p:sp>
      <p:sp>
        <p:nvSpPr>
          <p:cNvPr id="215" name="Google Shape;215;p35"/>
          <p:cNvSpPr txBox="1"/>
          <p:nvPr/>
        </p:nvSpPr>
        <p:spPr>
          <a:xfrm>
            <a:off x="664950" y="1129075"/>
            <a:ext cx="2458800" cy="3373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latin typeface="Times New Roman"/>
                <a:ea typeface="Times New Roman"/>
                <a:cs typeface="Times New Roman"/>
                <a:sym typeface="Times New Roman"/>
              </a:rPr>
              <a:t>System Set up:</a:t>
            </a:r>
            <a:r>
              <a:rPr lang="en" sz="2100">
                <a:solidFill>
                  <a:schemeClr val="lt1"/>
                </a:solidFill>
                <a:latin typeface="Times New Roman"/>
                <a:ea typeface="Times New Roman"/>
                <a:cs typeface="Times New Roman"/>
                <a:sym typeface="Times New Roman"/>
              </a:rPr>
              <a:t> </a:t>
            </a:r>
            <a:endParaRPr sz="21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Jetson connected to reliable Network</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GUI  hosted on Jetson</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Tailscale was connected on Jetson.</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lt1"/>
              </a:solidFill>
            </a:endParaRPr>
          </a:p>
        </p:txBody>
      </p:sp>
      <p:sp>
        <p:nvSpPr>
          <p:cNvPr id="216" name="Google Shape;216;p35"/>
          <p:cNvSpPr txBox="1"/>
          <p:nvPr/>
        </p:nvSpPr>
        <p:spPr>
          <a:xfrm>
            <a:off x="3342600" y="1129075"/>
            <a:ext cx="2458800" cy="3373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chemeClr val="lt1"/>
                </a:solidFill>
                <a:latin typeface="Times New Roman"/>
                <a:ea typeface="Times New Roman"/>
                <a:cs typeface="Times New Roman"/>
                <a:sym typeface="Times New Roman"/>
              </a:rPr>
              <a:t>Remote Access</a:t>
            </a:r>
            <a:r>
              <a:rPr b="1" lang="en" sz="2200">
                <a:solidFill>
                  <a:schemeClr val="lt1"/>
                </a:solidFill>
                <a:latin typeface="Times New Roman"/>
                <a:ea typeface="Times New Roman"/>
                <a:cs typeface="Times New Roman"/>
                <a:sym typeface="Times New Roman"/>
              </a:rPr>
              <a:t>: </a:t>
            </a:r>
            <a:endParaRPr b="1" sz="22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Eddy connected to tailscale from Ireland</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a:solidFill>
                  <a:schemeClr val="lt1"/>
                </a:solidFill>
                <a:latin typeface="Times New Roman"/>
                <a:ea typeface="Times New Roman"/>
                <a:cs typeface="Times New Roman"/>
                <a:sym typeface="Times New Roman"/>
              </a:rPr>
              <a:t>Opened GUI through browser</a:t>
            </a:r>
            <a:endParaRPr sz="2000">
              <a:solidFill>
                <a:schemeClr val="lt1"/>
              </a:solidFill>
              <a:latin typeface="Times New Roman"/>
              <a:ea typeface="Times New Roman"/>
              <a:cs typeface="Times New Roman"/>
              <a:sym typeface="Times New Roman"/>
            </a:endParaRPr>
          </a:p>
          <a:p>
            <a:pPr indent="-355600" lvl="0" marL="457200" rtl="0" algn="l">
              <a:spcBef>
                <a:spcPts val="0"/>
              </a:spcBef>
              <a:spcAft>
                <a:spcPts val="0"/>
              </a:spcAft>
              <a:buClr>
                <a:schemeClr val="lt1"/>
              </a:buClr>
              <a:buSzPts val="2000"/>
              <a:buFont typeface="Times New Roman"/>
              <a:buChar char="●"/>
            </a:pPr>
            <a:r>
              <a:rPr lang="en" sz="2000" u="sng">
                <a:solidFill>
                  <a:schemeClr val="hlink"/>
                </a:solidFill>
                <a:latin typeface="Times New Roman"/>
                <a:ea typeface="Times New Roman"/>
                <a:cs typeface="Times New Roman"/>
                <a:sym typeface="Times New Roman"/>
                <a:hlinkClick r:id="rId3"/>
              </a:rPr>
              <a:t>http://100.67.1.26</a:t>
            </a:r>
            <a:endParaRPr sz="20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lt1"/>
              </a:solidFill>
            </a:endParaRPr>
          </a:p>
          <a:p>
            <a:pPr indent="0" lvl="0" marL="0" rtl="0" algn="l">
              <a:spcBef>
                <a:spcPts val="0"/>
              </a:spcBef>
              <a:spcAft>
                <a:spcPts val="0"/>
              </a:spcAft>
              <a:buNone/>
            </a:pPr>
            <a:r>
              <a:t/>
            </a:r>
            <a:endParaRPr sz="2000">
              <a:solidFill>
                <a:schemeClr val="lt1"/>
              </a:solidFill>
            </a:endParaRPr>
          </a:p>
        </p:txBody>
      </p:sp>
      <p:sp>
        <p:nvSpPr>
          <p:cNvPr id="217" name="Google Shape;217;p35"/>
          <p:cNvSpPr txBox="1"/>
          <p:nvPr/>
        </p:nvSpPr>
        <p:spPr>
          <a:xfrm>
            <a:off x="6020250" y="1129075"/>
            <a:ext cx="2458800" cy="3373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lt1"/>
                </a:solidFill>
                <a:latin typeface="Times New Roman"/>
                <a:ea typeface="Times New Roman"/>
                <a:cs typeface="Times New Roman"/>
                <a:sym typeface="Times New Roman"/>
              </a:rPr>
              <a:t>Tested and Recorded</a:t>
            </a:r>
            <a:r>
              <a:rPr b="1" lang="en" sz="2100">
                <a:solidFill>
                  <a:schemeClr val="lt1"/>
                </a:solidFill>
                <a:latin typeface="Times New Roman"/>
                <a:ea typeface="Times New Roman"/>
                <a:cs typeface="Times New Roman"/>
                <a:sym typeface="Times New Roman"/>
              </a:rPr>
              <a:t>: </a:t>
            </a:r>
            <a:endParaRPr b="1" sz="21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Live Video Streaming </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Real-time telemetry display</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Remote control (record button)</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23" name="Google Shape;223;p36"/>
          <p:cNvSpPr txBox="1"/>
          <p:nvPr/>
        </p:nvSpPr>
        <p:spPr>
          <a:xfrm>
            <a:off x="664950" y="189000"/>
            <a:ext cx="7814100" cy="531000"/>
          </a:xfrm>
          <a:prstGeom prst="rect">
            <a:avLst/>
          </a:prstGeom>
          <a:noFill/>
          <a:ln>
            <a:noFill/>
          </a:ln>
        </p:spPr>
        <p:txBody>
          <a:bodyPr anchorCtr="0" anchor="t" bIns="91425" lIns="91425" spcFirstLastPara="1" rIns="91425" wrap="square" tIns="91425">
            <a:spAutoFit/>
          </a:bodyPr>
          <a:lstStyle/>
          <a:p>
            <a:pPr indent="0" lvl="0" marL="0" rtl="0" algn="ctr">
              <a:lnSpc>
                <a:spcPct val="75000"/>
              </a:lnSpc>
              <a:spcBef>
                <a:spcPts val="0"/>
              </a:spcBef>
              <a:spcAft>
                <a:spcPts val="0"/>
              </a:spcAft>
              <a:buNone/>
            </a:pPr>
            <a:r>
              <a:rPr b="1" lang="en" sz="3000">
                <a:solidFill>
                  <a:schemeClr val="lt1"/>
                </a:solidFill>
                <a:latin typeface="Times New Roman"/>
                <a:ea typeface="Times New Roman"/>
                <a:cs typeface="Times New Roman"/>
                <a:sym typeface="Times New Roman"/>
              </a:rPr>
              <a:t>Remote Operation Demo</a:t>
            </a:r>
            <a:endParaRPr>
              <a:solidFill>
                <a:schemeClr val="lt1"/>
              </a:solidFill>
              <a:latin typeface="Times New Roman"/>
              <a:ea typeface="Times New Roman"/>
              <a:cs typeface="Times New Roman"/>
              <a:sym typeface="Times New Roman"/>
            </a:endParaRPr>
          </a:p>
        </p:txBody>
      </p:sp>
      <p:pic>
        <p:nvPicPr>
          <p:cNvPr id="224" name="Google Shape;224;p36" title="Video Project 3 - Made with Clipchamp_1775945851621.mp4">
            <a:hlinkClick r:id="rId3"/>
          </p:cNvPr>
          <p:cNvPicPr preferRelativeResize="0"/>
          <p:nvPr/>
        </p:nvPicPr>
        <p:blipFill>
          <a:blip r:embed="rId4">
            <a:alphaModFix/>
          </a:blip>
          <a:stretch>
            <a:fillRect/>
          </a:stretch>
        </p:blipFill>
        <p:spPr>
          <a:xfrm>
            <a:off x="425105" y="857250"/>
            <a:ext cx="4572000" cy="3429000"/>
          </a:xfrm>
          <a:prstGeom prst="rect">
            <a:avLst/>
          </a:prstGeom>
          <a:noFill/>
          <a:ln>
            <a:noFill/>
          </a:ln>
          <a:effectLst>
            <a:outerShdw blurRad="57150" rotWithShape="0" algn="bl" dir="5400000" dist="19050">
              <a:srgbClr val="000000">
                <a:alpha val="50000"/>
              </a:srgbClr>
            </a:outerShdw>
          </a:effectLst>
        </p:spPr>
      </p:pic>
      <p:sp>
        <p:nvSpPr>
          <p:cNvPr id="225" name="Google Shape;225;p36"/>
          <p:cNvSpPr txBox="1"/>
          <p:nvPr/>
        </p:nvSpPr>
        <p:spPr>
          <a:xfrm>
            <a:off x="5126575" y="905550"/>
            <a:ext cx="3576300" cy="33807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Remote user (Ireland) successfully accessed and controlled GUI</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All sensors integrated and displayed in real time (GPS, IMU, temperature, pH, salinity)</a:t>
            </a:r>
            <a:endParaRPr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Char char="●"/>
            </a:pPr>
            <a:r>
              <a:rPr lang="en" sz="1900">
                <a:solidFill>
                  <a:schemeClr val="lt1"/>
                </a:solidFill>
                <a:latin typeface="Times New Roman"/>
                <a:ea typeface="Times New Roman"/>
                <a:cs typeface="Times New Roman"/>
                <a:sym typeface="Times New Roman"/>
              </a:rPr>
              <a:t>Live video streamed with </a:t>
            </a:r>
            <a:r>
              <a:rPr b="1" lang="en" sz="1900">
                <a:solidFill>
                  <a:schemeClr val="lt1"/>
                </a:solidFill>
                <a:latin typeface="Times New Roman"/>
                <a:ea typeface="Times New Roman"/>
                <a:cs typeface="Times New Roman"/>
                <a:sym typeface="Times New Roman"/>
              </a:rPr>
              <a:t>&lt; 30 ms latency</a:t>
            </a:r>
            <a:endParaRPr b="1" sz="1900">
              <a:solidFill>
                <a:schemeClr val="lt1"/>
              </a:solidFill>
              <a:latin typeface="Times New Roman"/>
              <a:ea typeface="Times New Roman"/>
              <a:cs typeface="Times New Roman"/>
              <a:sym typeface="Times New Roman"/>
            </a:endParaRPr>
          </a:p>
          <a:p>
            <a:pPr indent="-349250" lvl="0" marL="457200" rtl="0" algn="l">
              <a:spcBef>
                <a:spcPts val="0"/>
              </a:spcBef>
              <a:spcAft>
                <a:spcPts val="0"/>
              </a:spcAft>
              <a:buClr>
                <a:schemeClr val="lt1"/>
              </a:buClr>
              <a:buSzPts val="1900"/>
              <a:buFont typeface="Times New Roman"/>
              <a:buChar char="●"/>
            </a:pPr>
            <a:r>
              <a:rPr lang="en" sz="1900">
                <a:solidFill>
                  <a:schemeClr val="lt1"/>
                </a:solidFill>
                <a:latin typeface="Times New Roman"/>
                <a:ea typeface="Times New Roman"/>
                <a:cs typeface="Times New Roman"/>
                <a:sym typeface="Times New Roman"/>
              </a:rPr>
              <a:t>Remote recording triggered; video and telemetry saved on Jetson</a:t>
            </a:r>
            <a:endParaRPr sz="19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31" name="Google Shape;231;p37"/>
          <p:cNvSpPr txBox="1"/>
          <p:nvPr/>
        </p:nvSpPr>
        <p:spPr>
          <a:xfrm>
            <a:off x="664950" y="189000"/>
            <a:ext cx="7814100" cy="531000"/>
          </a:xfrm>
          <a:prstGeom prst="rect">
            <a:avLst/>
          </a:prstGeom>
          <a:noFill/>
          <a:ln>
            <a:noFill/>
          </a:ln>
        </p:spPr>
        <p:txBody>
          <a:bodyPr anchorCtr="0" anchor="t" bIns="91425" lIns="91425" spcFirstLastPara="1" rIns="91425" wrap="square" tIns="91425">
            <a:spAutoFit/>
          </a:bodyPr>
          <a:lstStyle/>
          <a:p>
            <a:pPr indent="0" lvl="0" marL="0" rtl="0" algn="ctr">
              <a:lnSpc>
                <a:spcPct val="75000"/>
              </a:lnSpc>
              <a:spcBef>
                <a:spcPts val="0"/>
              </a:spcBef>
              <a:spcAft>
                <a:spcPts val="0"/>
              </a:spcAft>
              <a:buNone/>
            </a:pPr>
            <a:r>
              <a:rPr b="1" lang="en" sz="3000">
                <a:solidFill>
                  <a:schemeClr val="lt1"/>
                </a:solidFill>
                <a:latin typeface="Times New Roman"/>
                <a:ea typeface="Times New Roman"/>
                <a:cs typeface="Times New Roman"/>
                <a:sym typeface="Times New Roman"/>
              </a:rPr>
              <a:t>Remote Recording and Data Synchronization</a:t>
            </a:r>
            <a:endParaRPr>
              <a:solidFill>
                <a:schemeClr val="lt1"/>
              </a:solidFill>
              <a:latin typeface="Times New Roman"/>
              <a:ea typeface="Times New Roman"/>
              <a:cs typeface="Times New Roman"/>
              <a:sym typeface="Times New Roman"/>
            </a:endParaRPr>
          </a:p>
        </p:txBody>
      </p:sp>
      <p:pic>
        <p:nvPicPr>
          <p:cNvPr id="232" name="Google Shape;232;p37"/>
          <p:cNvPicPr preferRelativeResize="0"/>
          <p:nvPr/>
        </p:nvPicPr>
        <p:blipFill>
          <a:blip r:embed="rId3">
            <a:alphaModFix/>
          </a:blip>
          <a:stretch>
            <a:fillRect/>
          </a:stretch>
        </p:blipFill>
        <p:spPr>
          <a:xfrm>
            <a:off x="455375" y="720000"/>
            <a:ext cx="3049849" cy="2027576"/>
          </a:xfrm>
          <a:prstGeom prst="rect">
            <a:avLst/>
          </a:prstGeom>
          <a:noFill/>
          <a:ln>
            <a:noFill/>
          </a:ln>
        </p:spPr>
      </p:pic>
      <p:pic>
        <p:nvPicPr>
          <p:cNvPr id="233" name="Google Shape;233;p37" title="short video recording.mp4">
            <a:hlinkClick r:id="rId4"/>
          </p:cNvPr>
          <p:cNvPicPr preferRelativeResize="0"/>
          <p:nvPr/>
        </p:nvPicPr>
        <p:blipFill>
          <a:blip r:embed="rId5">
            <a:alphaModFix/>
          </a:blip>
          <a:stretch>
            <a:fillRect/>
          </a:stretch>
        </p:blipFill>
        <p:spPr>
          <a:xfrm>
            <a:off x="4594275" y="792125"/>
            <a:ext cx="3348125" cy="1883326"/>
          </a:xfrm>
          <a:prstGeom prst="rect">
            <a:avLst/>
          </a:prstGeom>
          <a:noFill/>
          <a:ln>
            <a:noFill/>
          </a:ln>
        </p:spPr>
      </p:pic>
      <p:pic>
        <p:nvPicPr>
          <p:cNvPr id="234" name="Google Shape;234;p37"/>
          <p:cNvPicPr preferRelativeResize="0"/>
          <p:nvPr/>
        </p:nvPicPr>
        <p:blipFill>
          <a:blip r:embed="rId6">
            <a:alphaModFix/>
          </a:blip>
          <a:stretch>
            <a:fillRect/>
          </a:stretch>
        </p:blipFill>
        <p:spPr>
          <a:xfrm>
            <a:off x="400325" y="3064725"/>
            <a:ext cx="4193951" cy="1276900"/>
          </a:xfrm>
          <a:prstGeom prst="rect">
            <a:avLst/>
          </a:prstGeom>
          <a:noFill/>
          <a:ln>
            <a:noFill/>
          </a:ln>
        </p:spPr>
      </p:pic>
      <p:sp>
        <p:nvSpPr>
          <p:cNvPr id="235" name="Google Shape;235;p37"/>
          <p:cNvSpPr/>
          <p:nvPr/>
        </p:nvSpPr>
        <p:spPr>
          <a:xfrm>
            <a:off x="2584898" y="1025123"/>
            <a:ext cx="443700" cy="456600"/>
          </a:xfrm>
          <a:prstGeom prst="ellipse">
            <a:avLst/>
          </a:prstGeom>
          <a:noFill/>
          <a:ln cap="flat" cmpd="sng" w="28575">
            <a:solidFill>
              <a:srgbClr val="00FF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37"/>
          <p:cNvSpPr/>
          <p:nvPr/>
        </p:nvSpPr>
        <p:spPr>
          <a:xfrm>
            <a:off x="2288498" y="1799894"/>
            <a:ext cx="443700" cy="456600"/>
          </a:xfrm>
          <a:prstGeom prst="ellipse">
            <a:avLst/>
          </a:prstGeom>
          <a:noFill/>
          <a:ln cap="flat" cmpd="sng" w="28575">
            <a:solidFill>
              <a:srgbClr val="00FF00"/>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7" name="Google Shape;237;p37"/>
          <p:cNvCxnSpPr>
            <a:stCxn id="236" idx="4"/>
          </p:cNvCxnSpPr>
          <p:nvPr/>
        </p:nvCxnSpPr>
        <p:spPr>
          <a:xfrm flipH="1">
            <a:off x="2288048" y="2256494"/>
            <a:ext cx="222300" cy="1048500"/>
          </a:xfrm>
          <a:prstGeom prst="straightConnector1">
            <a:avLst/>
          </a:prstGeom>
          <a:noFill/>
          <a:ln cap="flat" cmpd="sng" w="19050">
            <a:solidFill>
              <a:srgbClr val="00FF00"/>
            </a:solidFill>
            <a:prstDash val="dash"/>
            <a:round/>
            <a:headEnd len="med" w="med" type="none"/>
            <a:tailEnd len="med" w="med" type="triangle"/>
          </a:ln>
        </p:spPr>
      </p:cxnSp>
      <p:cxnSp>
        <p:nvCxnSpPr>
          <p:cNvPr id="238" name="Google Shape;238;p37"/>
          <p:cNvCxnSpPr>
            <a:stCxn id="235" idx="6"/>
          </p:cNvCxnSpPr>
          <p:nvPr/>
        </p:nvCxnSpPr>
        <p:spPr>
          <a:xfrm>
            <a:off x="3028598" y="1253423"/>
            <a:ext cx="1712700" cy="16200"/>
          </a:xfrm>
          <a:prstGeom prst="straightConnector1">
            <a:avLst/>
          </a:prstGeom>
          <a:noFill/>
          <a:ln cap="flat" cmpd="sng" w="19050">
            <a:solidFill>
              <a:srgbClr val="00FF00"/>
            </a:solidFill>
            <a:prstDash val="dash"/>
            <a:round/>
            <a:headEnd len="med" w="med" type="none"/>
            <a:tailEnd len="med" w="med" type="triangle"/>
          </a:ln>
        </p:spPr>
      </p:cxnSp>
      <p:sp>
        <p:nvSpPr>
          <p:cNvPr id="239" name="Google Shape;239;p37"/>
          <p:cNvSpPr txBox="1"/>
          <p:nvPr/>
        </p:nvSpPr>
        <p:spPr>
          <a:xfrm>
            <a:off x="5071525" y="2896250"/>
            <a:ext cx="3719400" cy="1632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Remote user triggered recording from GUI</a:t>
            </a:r>
            <a:endParaRPr sz="1500">
              <a:solidFill>
                <a:schemeClr val="lt1"/>
              </a:solidFill>
              <a:latin typeface="Times New Roman"/>
              <a:ea typeface="Times New Roman"/>
              <a:cs typeface="Times New Roman"/>
              <a:sym typeface="Times New Roman"/>
            </a:endParaRPr>
          </a:p>
          <a:p>
            <a:pPr indent="-323850" lvl="0" marL="457200" rtl="0" algn="l">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Video and telemetry saved on Jetson </a:t>
            </a:r>
            <a:endParaRPr sz="1500">
              <a:solidFill>
                <a:schemeClr val="lt1"/>
              </a:solidFill>
              <a:latin typeface="Times New Roman"/>
              <a:ea typeface="Times New Roman"/>
              <a:cs typeface="Times New Roman"/>
              <a:sym typeface="Times New Roman"/>
            </a:endParaRPr>
          </a:p>
          <a:p>
            <a:pPr indent="-323850" lvl="0" marL="457200" rtl="0" algn="l">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Synched and saved under same file.</a:t>
            </a:r>
            <a:endParaRPr sz="1500">
              <a:solidFill>
                <a:schemeClr val="lt1"/>
              </a:solidFill>
              <a:latin typeface="Times New Roman"/>
              <a:ea typeface="Times New Roman"/>
              <a:cs typeface="Times New Roman"/>
              <a:sym typeface="Times New Roman"/>
            </a:endParaRPr>
          </a:p>
          <a:p>
            <a:pPr indent="-323850" lvl="0" marL="457200" rtl="0" algn="l">
              <a:spcBef>
                <a:spcPts val="0"/>
              </a:spcBef>
              <a:spcAft>
                <a:spcPts val="0"/>
              </a:spcAft>
              <a:buClr>
                <a:schemeClr val="lt1"/>
              </a:buClr>
              <a:buSzPts val="1500"/>
              <a:buFont typeface="Times New Roman"/>
              <a:buChar char="●"/>
            </a:pPr>
            <a:r>
              <a:rPr lang="en" sz="1500">
                <a:solidFill>
                  <a:schemeClr val="lt1"/>
                </a:solidFill>
                <a:latin typeface="Times New Roman"/>
                <a:ea typeface="Times New Roman"/>
                <a:cs typeface="Times New Roman"/>
                <a:sym typeface="Times New Roman"/>
              </a:rPr>
              <a:t>Confirms</a:t>
            </a:r>
            <a:r>
              <a:rPr lang="en" sz="1500">
                <a:solidFill>
                  <a:schemeClr val="lt1"/>
                </a:solidFill>
                <a:latin typeface="Times New Roman"/>
                <a:ea typeface="Times New Roman"/>
                <a:cs typeface="Times New Roman"/>
                <a:sym typeface="Times New Roman"/>
              </a:rPr>
              <a:t> end to end remote data collection and control.</a:t>
            </a:r>
            <a:endParaRPr sz="1500">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100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45" name="Google Shape;245;p38"/>
          <p:cNvSpPr txBox="1"/>
          <p:nvPr/>
        </p:nvSpPr>
        <p:spPr>
          <a:xfrm>
            <a:off x="1255650" y="287205"/>
            <a:ext cx="6632700" cy="353700"/>
          </a:xfrm>
          <a:prstGeom prst="rect">
            <a:avLst/>
          </a:prstGeom>
          <a:noFill/>
          <a:ln>
            <a:noFill/>
          </a:ln>
        </p:spPr>
        <p:txBody>
          <a:bodyPr anchorCtr="0" anchor="t" bIns="0" lIns="0" spcFirstLastPara="1" rIns="0" wrap="square" tIns="6350">
            <a:noAutofit/>
          </a:bodyPr>
          <a:lstStyle/>
          <a:p>
            <a:pPr indent="0" lvl="0" marL="0" rtl="0" algn="ctr">
              <a:spcBef>
                <a:spcPts val="0"/>
              </a:spcBef>
              <a:spcAft>
                <a:spcPts val="0"/>
              </a:spcAft>
              <a:buNone/>
            </a:pPr>
            <a:r>
              <a:rPr b="1" lang="en" sz="3000">
                <a:solidFill>
                  <a:srgbClr val="FFFFFF"/>
                </a:solidFill>
                <a:latin typeface="Times"/>
                <a:ea typeface="Times"/>
                <a:cs typeface="Times"/>
                <a:sym typeface="Times"/>
              </a:rPr>
              <a:t>Results</a:t>
            </a:r>
            <a:endParaRPr b="1" sz="3000">
              <a:solidFill>
                <a:srgbClr val="FFFFFF"/>
              </a:solidFill>
              <a:latin typeface="Times"/>
              <a:ea typeface="Times"/>
              <a:cs typeface="Times"/>
              <a:sym typeface="Times"/>
            </a:endParaRPr>
          </a:p>
        </p:txBody>
      </p:sp>
      <p:graphicFrame>
        <p:nvGraphicFramePr>
          <p:cNvPr id="246" name="Google Shape;246;p38"/>
          <p:cNvGraphicFramePr/>
          <p:nvPr/>
        </p:nvGraphicFramePr>
        <p:xfrm>
          <a:off x="1255638" y="950025"/>
          <a:ext cx="3000000" cy="3000000"/>
        </p:xfrm>
        <a:graphic>
          <a:graphicData uri="http://schemas.openxmlformats.org/drawingml/2006/table">
            <a:tbl>
              <a:tblPr>
                <a:noFill/>
                <a:tableStyleId>{2EF35261-E8B5-419E-839D-F0FCB15417EF}</a:tableStyleId>
              </a:tblPr>
              <a:tblGrid>
                <a:gridCol w="2389300"/>
                <a:gridCol w="1934275"/>
                <a:gridCol w="2709300"/>
              </a:tblGrid>
              <a:tr h="381000">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Requirement</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Status</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Remaining Action</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r>
              <a:tr h="381000">
                <a:tc>
                  <a:txBody>
                    <a:bodyPr/>
                    <a:lstStyle/>
                    <a:p>
                      <a:pPr indent="0" lvl="0" marL="0" rtl="0" algn="ctr">
                        <a:spcBef>
                          <a:spcPts val="0"/>
                        </a:spcBef>
                        <a:spcAft>
                          <a:spcPts val="0"/>
                        </a:spcAft>
                        <a:buNone/>
                      </a:pPr>
                      <a:r>
                        <a:rPr lang="en" sz="1600">
                          <a:solidFill>
                            <a:schemeClr val="lt1"/>
                          </a:solidFill>
                          <a:latin typeface="Times New Roman"/>
                          <a:ea typeface="Times New Roman"/>
                          <a:cs typeface="Times New Roman"/>
                          <a:sym typeface="Times New Roman"/>
                        </a:rPr>
                        <a:t>5.1.6 Data Collection</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rgbClr val="00FF00"/>
                          </a:solidFill>
                          <a:latin typeface="Times New Roman"/>
                          <a:ea typeface="Times New Roman"/>
                          <a:cs typeface="Times New Roman"/>
                          <a:sym typeface="Times New Roman"/>
                        </a:rPr>
                        <a:t>Pass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solidFill>
                            <a:schemeClr val="lt1"/>
                          </a:solidFill>
                          <a:latin typeface="Times New Roman"/>
                          <a:ea typeface="Times New Roman"/>
                          <a:cs typeface="Times New Roman"/>
                          <a:sym typeface="Times New Roman"/>
                        </a:rPr>
                        <a:t>5.1.7 Data Mapping</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r>
                        <a:rPr lang="en" sz="1600">
                          <a:solidFill>
                            <a:schemeClr val="lt1"/>
                          </a:solidFill>
                          <a:latin typeface="Times New Roman"/>
                          <a:ea typeface="Times New Roman"/>
                          <a:cs typeface="Times New Roman"/>
                          <a:sym typeface="Times New Roman"/>
                        </a:rPr>
                        <a:t> </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5.4.3 Data Relay</a:t>
                      </a:r>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5.4.4 Satellite Uplink</a:t>
                      </a:r>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endParaRPr sz="1600">
                        <a:solidFill>
                          <a:srgbClr val="00FF00"/>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5.4.5 Display</a:t>
                      </a:r>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endParaRPr sz="1600">
                        <a:solidFill>
                          <a:srgbClr val="FFB300"/>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5.4.1 Autonomy &amp; Control</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FFB300"/>
                          </a:solidFill>
                          <a:latin typeface="Times New Roman"/>
                          <a:ea typeface="Times New Roman"/>
                          <a:cs typeface="Times New Roman"/>
                          <a:sym typeface="Times New Roman"/>
                        </a:rPr>
                        <a:t>Partial Pass</a:t>
                      </a:r>
                      <a:endParaRPr sz="1600">
                        <a:solidFill>
                          <a:srgbClr val="FFB300"/>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chemeClr val="lt1"/>
                          </a:solidFill>
                          <a:latin typeface="Times New Roman"/>
                          <a:ea typeface="Times New Roman"/>
                          <a:cs typeface="Times New Roman"/>
                          <a:sym typeface="Times New Roman"/>
                        </a:rPr>
                        <a:t>Waypoint &amp; Throttle Validation</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52" name="Google Shape;252;p39"/>
          <p:cNvSpPr txBox="1"/>
          <p:nvPr/>
        </p:nvSpPr>
        <p:spPr>
          <a:xfrm>
            <a:off x="1842600" y="186350"/>
            <a:ext cx="5458800" cy="877200"/>
          </a:xfrm>
          <a:prstGeom prst="rect">
            <a:avLst/>
          </a:prstGeom>
          <a:noFill/>
          <a:ln>
            <a:noFill/>
          </a:ln>
        </p:spPr>
        <p:txBody>
          <a:bodyPr anchorCtr="0" anchor="ctr" bIns="91425" lIns="91425" spcFirstLastPara="1" rIns="91425" wrap="square" tIns="91425">
            <a:noAutofit/>
          </a:bodyPr>
          <a:lstStyle/>
          <a:p>
            <a:pPr indent="0" lvl="0" marL="0" rtl="0" algn="ctr">
              <a:lnSpc>
                <a:spcPct val="75000"/>
              </a:lnSpc>
              <a:spcBef>
                <a:spcPts val="0"/>
              </a:spcBef>
              <a:spcAft>
                <a:spcPts val="0"/>
              </a:spcAft>
              <a:buNone/>
            </a:pPr>
            <a:r>
              <a:rPr b="1" lang="en" sz="3000">
                <a:solidFill>
                  <a:schemeClr val="lt1"/>
                </a:solidFill>
                <a:latin typeface="Times"/>
                <a:ea typeface="Times"/>
                <a:cs typeface="Times"/>
                <a:sym typeface="Times"/>
              </a:rPr>
              <a:t>Communication</a:t>
            </a:r>
            <a:r>
              <a:rPr b="1" lang="en" sz="3000">
                <a:solidFill>
                  <a:schemeClr val="lt1"/>
                </a:solidFill>
                <a:latin typeface="Times"/>
                <a:ea typeface="Times"/>
                <a:cs typeface="Times"/>
                <a:sym typeface="Times"/>
              </a:rPr>
              <a:t> Subsystem Verification Plan</a:t>
            </a:r>
            <a:endParaRPr b="1" sz="3000">
              <a:solidFill>
                <a:schemeClr val="lt1"/>
              </a:solidFill>
              <a:latin typeface="Times"/>
              <a:ea typeface="Times"/>
              <a:cs typeface="Times"/>
              <a:sym typeface="Time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graphicFrame>
        <p:nvGraphicFramePr>
          <p:cNvPr id="258" name="Google Shape;258;p40"/>
          <p:cNvGraphicFramePr/>
          <p:nvPr/>
        </p:nvGraphicFramePr>
        <p:xfrm>
          <a:off x="391950" y="937775"/>
          <a:ext cx="3000000" cy="3000000"/>
        </p:xfrm>
        <a:graphic>
          <a:graphicData uri="http://schemas.openxmlformats.org/drawingml/2006/table">
            <a:tbl>
              <a:tblPr>
                <a:noFill/>
                <a:tableStyleId>{2EF35261-E8B5-419E-839D-F0FCB15417EF}</a:tableStyleId>
              </a:tblPr>
              <a:tblGrid>
                <a:gridCol w="1593075"/>
                <a:gridCol w="1820850"/>
                <a:gridCol w="3415225"/>
              </a:tblGrid>
              <a:tr h="381000">
                <a:tc>
                  <a:txBody>
                    <a:bodyPr/>
                    <a:lstStyle/>
                    <a:p>
                      <a:pPr indent="0" lvl="0" marL="0" rtl="0" algn="ctr">
                        <a:spcBef>
                          <a:spcPts val="0"/>
                        </a:spcBef>
                        <a:spcAft>
                          <a:spcPts val="0"/>
                        </a:spcAft>
                        <a:buNone/>
                      </a:pPr>
                      <a:r>
                        <a:rPr b="1" lang="en">
                          <a:solidFill>
                            <a:schemeClr val="lt1"/>
                          </a:solidFill>
                          <a:latin typeface="Calibri"/>
                          <a:ea typeface="Calibri"/>
                          <a:cs typeface="Calibri"/>
                          <a:sym typeface="Calibri"/>
                        </a:rPr>
                        <a:t>Requirement</a:t>
                      </a:r>
                      <a:endParaRPr b="1">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a:solidFill>
                            <a:schemeClr val="lt1"/>
                          </a:solidFill>
                          <a:latin typeface="Calibri"/>
                          <a:ea typeface="Calibri"/>
                          <a:cs typeface="Calibri"/>
                          <a:sym typeface="Calibri"/>
                        </a:rPr>
                        <a:t>Status</a:t>
                      </a:r>
                      <a:endParaRPr b="1">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a:solidFill>
                            <a:schemeClr val="lt1"/>
                          </a:solidFill>
                          <a:latin typeface="Calibri"/>
                          <a:ea typeface="Calibri"/>
                          <a:cs typeface="Calibri"/>
                          <a:sym typeface="Calibri"/>
                        </a:rPr>
                        <a:t>Remaining Action</a:t>
                      </a:r>
                      <a:endParaRPr b="1">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r>
              <a:tr h="381000">
                <a:tc>
                  <a:txBody>
                    <a:bodyPr/>
                    <a:lstStyle/>
                    <a:p>
                      <a:pPr indent="0" lvl="0" marL="0" rtl="0" algn="ctr">
                        <a:spcBef>
                          <a:spcPts val="0"/>
                        </a:spcBef>
                        <a:spcAft>
                          <a:spcPts val="0"/>
                        </a:spcAft>
                        <a:buNone/>
                      </a:pPr>
                      <a:r>
                        <a:rPr lang="en" sz="1300">
                          <a:solidFill>
                            <a:schemeClr val="lt1"/>
                          </a:solidFill>
                          <a:latin typeface="Calibri"/>
                          <a:ea typeface="Calibri"/>
                          <a:cs typeface="Calibri"/>
                          <a:sym typeface="Calibri"/>
                        </a:rPr>
                        <a:t>5.3.1 Survivability</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rgbClr val="FFB300"/>
                          </a:solidFill>
                          <a:latin typeface="Calibri"/>
                          <a:ea typeface="Calibri"/>
                          <a:cs typeface="Calibri"/>
                          <a:sym typeface="Calibri"/>
                        </a:rPr>
                        <a:t>◐ Comms Pass</a:t>
                      </a:r>
                      <a:r>
                        <a:rPr lang="en" sz="1300">
                          <a:solidFill>
                            <a:schemeClr val="lt1"/>
                          </a:solidFill>
                          <a:latin typeface="Calibri"/>
                          <a:ea typeface="Calibri"/>
                          <a:cs typeface="Calibri"/>
                          <a:sym typeface="Calibri"/>
                        </a:rPr>
                        <a:t> (</a:t>
                      </a:r>
                      <a:r>
                        <a:rPr lang="en" sz="1300">
                          <a:solidFill>
                            <a:srgbClr val="00FF00"/>
                          </a:solidFill>
                          <a:latin typeface="Calibri"/>
                          <a:ea typeface="Calibri"/>
                          <a:cs typeface="Calibri"/>
                          <a:sym typeface="Calibri"/>
                        </a:rPr>
                        <a:t>0% loss calm</a:t>
                      </a:r>
                      <a:r>
                        <a:rPr lang="en" sz="1300">
                          <a:solidFill>
                            <a:schemeClr val="lt1"/>
                          </a:solidFill>
                          <a:latin typeface="Calibri"/>
                          <a:ea typeface="Calibri"/>
                          <a:cs typeface="Calibri"/>
                          <a:sym typeface="Calibri"/>
                        </a:rPr>
                        <a:t>)</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rPr lang="en" sz="1300">
                          <a:solidFill>
                            <a:schemeClr val="lt1"/>
                          </a:solidFill>
                          <a:latin typeface="Calibri"/>
                          <a:ea typeface="Calibri"/>
                          <a:cs typeface="Calibri"/>
                          <a:sym typeface="Calibri"/>
                        </a:rPr>
                        <a:t>Test with wave / stormy conditions on lake</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300">
                          <a:solidFill>
                            <a:schemeClr val="lt1"/>
                          </a:solidFill>
                          <a:latin typeface="Calibri"/>
                          <a:ea typeface="Calibri"/>
                          <a:cs typeface="Calibri"/>
                          <a:sym typeface="Calibri"/>
                        </a:rPr>
                        <a:t>5.4.3 Data Relay</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300">
                          <a:solidFill>
                            <a:srgbClr val="FFB300"/>
                          </a:solidFill>
                          <a:latin typeface="Calibri"/>
                          <a:ea typeface="Calibri"/>
                          <a:cs typeface="Calibri"/>
                          <a:sym typeface="Calibri"/>
                        </a:rPr>
                        <a:t>◐ Partial </a:t>
                      </a:r>
                      <a:r>
                        <a:rPr lang="en" sz="1300">
                          <a:solidFill>
                            <a:schemeClr val="lt1"/>
                          </a:solidFill>
                          <a:latin typeface="Calibri"/>
                          <a:ea typeface="Calibri"/>
                          <a:cs typeface="Calibri"/>
                          <a:sym typeface="Calibri"/>
                        </a:rPr>
                        <a:t>(</a:t>
                      </a:r>
                      <a:r>
                        <a:rPr lang="en" sz="1300">
                          <a:solidFill>
                            <a:srgbClr val="00FF00"/>
                          </a:solidFill>
                          <a:latin typeface="Calibri"/>
                          <a:ea typeface="Calibri"/>
                          <a:cs typeface="Calibri"/>
                          <a:sym typeface="Calibri"/>
                        </a:rPr>
                        <a:t>Position✓</a:t>
                      </a:r>
                      <a:r>
                        <a:rPr lang="en" sz="1300">
                          <a:solidFill>
                            <a:schemeClr val="lt1"/>
                          </a:solidFill>
                          <a:latin typeface="Calibri"/>
                          <a:ea typeface="Calibri"/>
                          <a:cs typeface="Calibri"/>
                          <a:sym typeface="Calibri"/>
                        </a:rPr>
                        <a:t>) </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300">
                          <a:solidFill>
                            <a:schemeClr val="lt1"/>
                          </a:solidFill>
                          <a:latin typeface="Calibri"/>
                          <a:ea typeface="Calibri"/>
                          <a:cs typeface="Calibri"/>
                          <a:sym typeface="Calibri"/>
                        </a:rPr>
                        <a:t>Integrate Jamie's sensor pipeline; demo full telemetry stream</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300">
                          <a:solidFill>
                            <a:schemeClr val="lt1"/>
                          </a:solidFill>
                          <a:latin typeface="Calibri"/>
                          <a:ea typeface="Calibri"/>
                          <a:cs typeface="Calibri"/>
                          <a:sym typeface="Calibri"/>
                        </a:rPr>
                        <a:t>4.4.1 Autonomy &amp; Control</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300">
                          <a:solidFill>
                            <a:srgbClr val="FFB300"/>
                          </a:solidFill>
                          <a:latin typeface="Calibri"/>
                          <a:ea typeface="Calibri"/>
                          <a:cs typeface="Calibri"/>
                          <a:sym typeface="Calibri"/>
                        </a:rPr>
                        <a:t>◐ Partial </a:t>
                      </a:r>
                      <a:r>
                        <a:rPr lang="en" sz="1300">
                          <a:solidFill>
                            <a:schemeClr val="lt1"/>
                          </a:solidFill>
                          <a:latin typeface="Calibri"/>
                          <a:ea typeface="Calibri"/>
                          <a:cs typeface="Calibri"/>
                          <a:sym typeface="Calibri"/>
                        </a:rPr>
                        <a:t>(</a:t>
                      </a:r>
                      <a:r>
                        <a:rPr lang="en" sz="1300">
                          <a:solidFill>
                            <a:srgbClr val="00FF00"/>
                          </a:solidFill>
                          <a:latin typeface="Calibri"/>
                          <a:ea typeface="Calibri"/>
                          <a:cs typeface="Calibri"/>
                          <a:sym typeface="Calibri"/>
                        </a:rPr>
                        <a:t>commands ✓</a:t>
                      </a:r>
                      <a:r>
                        <a:rPr lang="en" sz="1300">
                          <a:solidFill>
                            <a:schemeClr val="lt1"/>
                          </a:solidFill>
                          <a:latin typeface="Calibri"/>
                          <a:ea typeface="Calibri"/>
                          <a:cs typeface="Calibri"/>
                          <a:sym typeface="Calibri"/>
                        </a:rPr>
                        <a:t>)</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300">
                          <a:solidFill>
                            <a:schemeClr val="lt1"/>
                          </a:solidFill>
                          <a:latin typeface="Calibri"/>
                          <a:ea typeface="Calibri"/>
                          <a:cs typeface="Calibri"/>
                          <a:sym typeface="Calibri"/>
                        </a:rPr>
                        <a:t>Implement formation control (Step 6); pool demo all 4 formation types</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300">
                          <a:solidFill>
                            <a:schemeClr val="lt1"/>
                          </a:solidFill>
                          <a:latin typeface="Calibri"/>
                          <a:ea typeface="Calibri"/>
                          <a:cs typeface="Calibri"/>
                          <a:sym typeface="Calibri"/>
                        </a:rPr>
                        <a:t>5.4.2 Inter-Drone Comms</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300">
                          <a:solidFill>
                            <a:srgbClr val="00FF00"/>
                          </a:solidFill>
                          <a:latin typeface="Calibri"/>
                          <a:ea typeface="Calibri"/>
                          <a:cs typeface="Calibri"/>
                          <a:sym typeface="Calibri"/>
                        </a:rPr>
                        <a:t>✓ ESP-NOW verified</a:t>
                      </a:r>
                      <a:endParaRPr sz="1300">
                        <a:solidFill>
                          <a:srgbClr val="00FF00"/>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300">
                          <a:solidFill>
                            <a:schemeClr val="lt1"/>
                          </a:solidFill>
                          <a:latin typeface="Calibri"/>
                          <a:ea typeface="Calibri"/>
                          <a:cs typeface="Calibri"/>
                          <a:sym typeface="Calibri"/>
                        </a:rPr>
                        <a:t>Validate 100m range in pool environment</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300">
                          <a:solidFill>
                            <a:schemeClr val="lt1"/>
                          </a:solidFill>
                          <a:latin typeface="Calibri"/>
                          <a:ea typeface="Calibri"/>
                          <a:cs typeface="Calibri"/>
                          <a:sym typeface="Calibri"/>
                        </a:rPr>
                        <a:t>5.4.6 Swarm Control</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300">
                          <a:solidFill>
                            <a:srgbClr val="FFB300"/>
                          </a:solidFill>
                          <a:latin typeface="Calibri"/>
                          <a:ea typeface="Calibri"/>
                          <a:cs typeface="Calibri"/>
                          <a:sym typeface="Calibri"/>
                        </a:rPr>
                        <a:t>◐ ESP-NOW layer done</a:t>
                      </a:r>
                      <a:endParaRPr sz="1300">
                        <a:solidFill>
                          <a:srgbClr val="FFB300"/>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300">
                          <a:solidFill>
                            <a:schemeClr val="lt1"/>
                          </a:solidFill>
                          <a:latin typeface="Calibri"/>
                          <a:ea typeface="Calibri"/>
                          <a:cs typeface="Calibri"/>
                          <a:sym typeface="Calibri"/>
                        </a:rPr>
                        <a:t>Bridge ESP32→ Jetson via MAVLink/serial; implement MQTT pub/sub ≥1 Hz, verify &lt;1s latency</a:t>
                      </a:r>
                      <a:endParaRPr sz="1300">
                        <a:solidFill>
                          <a:schemeClr val="lt1"/>
                        </a:solidFill>
                        <a:latin typeface="Calibri"/>
                        <a:ea typeface="Calibri"/>
                        <a:cs typeface="Calibri"/>
                        <a:sym typeface="Calibri"/>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bl>
          </a:graphicData>
        </a:graphic>
      </p:graphicFrame>
      <p:sp>
        <p:nvSpPr>
          <p:cNvPr id="259" name="Google Shape;259;p40"/>
          <p:cNvSpPr txBox="1"/>
          <p:nvPr/>
        </p:nvSpPr>
        <p:spPr>
          <a:xfrm>
            <a:off x="1842600" y="186350"/>
            <a:ext cx="5458800" cy="877200"/>
          </a:xfrm>
          <a:prstGeom prst="rect">
            <a:avLst/>
          </a:prstGeom>
          <a:noFill/>
          <a:ln>
            <a:noFill/>
          </a:ln>
        </p:spPr>
        <p:txBody>
          <a:bodyPr anchorCtr="0" anchor="ctr" bIns="91425" lIns="91425" spcFirstLastPara="1" rIns="91425" wrap="square" tIns="91425">
            <a:noAutofit/>
          </a:bodyPr>
          <a:lstStyle/>
          <a:p>
            <a:pPr indent="0" lvl="0" marL="0" rtl="0" algn="ctr">
              <a:lnSpc>
                <a:spcPct val="75000"/>
              </a:lnSpc>
              <a:spcBef>
                <a:spcPts val="0"/>
              </a:spcBef>
              <a:spcAft>
                <a:spcPts val="0"/>
              </a:spcAft>
              <a:buNone/>
            </a:pPr>
            <a:r>
              <a:rPr b="1" lang="en" sz="3000">
                <a:solidFill>
                  <a:schemeClr val="lt1"/>
                </a:solidFill>
                <a:latin typeface="Times"/>
                <a:ea typeface="Times"/>
                <a:cs typeface="Times"/>
                <a:sym typeface="Times"/>
              </a:rPr>
              <a:t>Results</a:t>
            </a:r>
            <a:endParaRPr b="1" sz="3000">
              <a:solidFill>
                <a:schemeClr val="lt1"/>
              </a:solidFill>
              <a:latin typeface="Times"/>
              <a:ea typeface="Times"/>
              <a:cs typeface="Times"/>
              <a:sym typeface="Time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263" name="Shape 263"/>
        <p:cNvGrpSpPr/>
        <p:nvPr/>
      </p:nvGrpSpPr>
      <p:grpSpPr>
        <a:xfrm>
          <a:off x="0" y="0"/>
          <a:ext cx="0" cy="0"/>
          <a:chOff x="0" y="0"/>
          <a:chExt cx="0" cy="0"/>
        </a:xfrm>
      </p:grpSpPr>
      <p:sp>
        <p:nvSpPr>
          <p:cNvPr id="264" name="Google Shape;264;p41"/>
          <p:cNvSpPr txBox="1"/>
          <p:nvPr/>
        </p:nvSpPr>
        <p:spPr>
          <a:xfrm>
            <a:off x="2190600" y="13725"/>
            <a:ext cx="47628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3000">
                <a:solidFill>
                  <a:srgbClr val="FFFFFF"/>
                </a:solidFill>
                <a:latin typeface="Times"/>
                <a:ea typeface="Times"/>
                <a:cs typeface="Times"/>
                <a:sym typeface="Times"/>
              </a:rPr>
              <a:t>Sensors </a:t>
            </a:r>
            <a:r>
              <a:rPr b="1" lang="en" sz="3000">
                <a:solidFill>
                  <a:schemeClr val="lt1"/>
                </a:solidFill>
                <a:latin typeface="Times"/>
                <a:ea typeface="Times"/>
                <a:cs typeface="Times"/>
                <a:sym typeface="Times"/>
              </a:rPr>
              <a:t>Verification Plan</a:t>
            </a:r>
            <a:endParaRPr b="1" sz="3000">
              <a:solidFill>
                <a:srgbClr val="FFFFFF"/>
              </a:solidFill>
              <a:latin typeface="Times"/>
              <a:ea typeface="Times"/>
              <a:cs typeface="Times"/>
              <a:sym typeface="Times"/>
            </a:endParaRPr>
          </a:p>
        </p:txBody>
      </p:sp>
      <p:sp>
        <p:nvSpPr>
          <p:cNvPr id="265" name="Google Shape;265;p4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pic>
        <p:nvPicPr>
          <p:cNvPr id="266" name="Google Shape;266;p41"/>
          <p:cNvPicPr preferRelativeResize="0"/>
          <p:nvPr/>
        </p:nvPicPr>
        <p:blipFill>
          <a:blip r:embed="rId3">
            <a:alphaModFix/>
          </a:blip>
          <a:stretch>
            <a:fillRect/>
          </a:stretch>
        </p:blipFill>
        <p:spPr>
          <a:xfrm>
            <a:off x="152400" y="507400"/>
            <a:ext cx="1955950" cy="1008909"/>
          </a:xfrm>
          <a:prstGeom prst="rect">
            <a:avLst/>
          </a:prstGeom>
          <a:noFill/>
          <a:ln>
            <a:noFill/>
          </a:ln>
        </p:spPr>
      </p:pic>
      <p:pic>
        <p:nvPicPr>
          <p:cNvPr id="267" name="Google Shape;267;p41"/>
          <p:cNvPicPr preferRelativeResize="0"/>
          <p:nvPr/>
        </p:nvPicPr>
        <p:blipFill>
          <a:blip r:embed="rId4">
            <a:alphaModFix/>
          </a:blip>
          <a:stretch>
            <a:fillRect/>
          </a:stretch>
        </p:blipFill>
        <p:spPr>
          <a:xfrm>
            <a:off x="2108350" y="507400"/>
            <a:ext cx="719199" cy="1008901"/>
          </a:xfrm>
          <a:prstGeom prst="rect">
            <a:avLst/>
          </a:prstGeom>
          <a:noFill/>
          <a:ln>
            <a:noFill/>
          </a:ln>
        </p:spPr>
      </p:pic>
      <p:pic>
        <p:nvPicPr>
          <p:cNvPr id="268" name="Google Shape;268;p41"/>
          <p:cNvPicPr preferRelativeResize="0"/>
          <p:nvPr/>
        </p:nvPicPr>
        <p:blipFill>
          <a:blip r:embed="rId5">
            <a:alphaModFix/>
          </a:blip>
          <a:stretch>
            <a:fillRect/>
          </a:stretch>
        </p:blipFill>
        <p:spPr>
          <a:xfrm>
            <a:off x="152400" y="1603475"/>
            <a:ext cx="1348909" cy="1008900"/>
          </a:xfrm>
          <a:prstGeom prst="rect">
            <a:avLst/>
          </a:prstGeom>
          <a:noFill/>
          <a:ln>
            <a:noFill/>
          </a:ln>
        </p:spPr>
      </p:pic>
      <p:pic>
        <p:nvPicPr>
          <p:cNvPr id="269" name="Google Shape;269;p41"/>
          <p:cNvPicPr preferRelativeResize="0"/>
          <p:nvPr/>
        </p:nvPicPr>
        <p:blipFill>
          <a:blip r:embed="rId6">
            <a:alphaModFix/>
          </a:blip>
          <a:stretch>
            <a:fillRect/>
          </a:stretch>
        </p:blipFill>
        <p:spPr>
          <a:xfrm>
            <a:off x="152400" y="2699550"/>
            <a:ext cx="1817674" cy="1008900"/>
          </a:xfrm>
          <a:prstGeom prst="rect">
            <a:avLst/>
          </a:prstGeom>
          <a:noFill/>
          <a:ln>
            <a:noFill/>
          </a:ln>
        </p:spPr>
      </p:pic>
      <p:pic>
        <p:nvPicPr>
          <p:cNvPr id="270" name="Google Shape;270;p41"/>
          <p:cNvPicPr preferRelativeResize="0"/>
          <p:nvPr/>
        </p:nvPicPr>
        <p:blipFill>
          <a:blip r:embed="rId7">
            <a:alphaModFix/>
          </a:blip>
          <a:stretch>
            <a:fillRect/>
          </a:stretch>
        </p:blipFill>
        <p:spPr>
          <a:xfrm>
            <a:off x="152400" y="3795625"/>
            <a:ext cx="1573149" cy="1008900"/>
          </a:xfrm>
          <a:prstGeom prst="rect">
            <a:avLst/>
          </a:prstGeom>
          <a:noFill/>
          <a:ln>
            <a:noFill/>
          </a:ln>
        </p:spPr>
      </p:pic>
      <p:sp>
        <p:nvSpPr>
          <p:cNvPr id="271" name="Google Shape;271;p41"/>
          <p:cNvSpPr txBox="1"/>
          <p:nvPr/>
        </p:nvSpPr>
        <p:spPr>
          <a:xfrm>
            <a:off x="2827550" y="718700"/>
            <a:ext cx="1133400" cy="1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pH Probe</a:t>
            </a:r>
            <a:endParaRPr sz="1800">
              <a:solidFill>
                <a:schemeClr val="lt1"/>
              </a:solidFill>
              <a:latin typeface="Times New Roman"/>
              <a:ea typeface="Times New Roman"/>
              <a:cs typeface="Times New Roman"/>
              <a:sym typeface="Times New Roman"/>
            </a:endParaRPr>
          </a:p>
        </p:txBody>
      </p:sp>
      <p:sp>
        <p:nvSpPr>
          <p:cNvPr id="272" name="Google Shape;272;p41"/>
          <p:cNvSpPr txBox="1"/>
          <p:nvPr/>
        </p:nvSpPr>
        <p:spPr>
          <a:xfrm>
            <a:off x="1501300" y="1911125"/>
            <a:ext cx="2266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Temperature Probe</a:t>
            </a:r>
            <a:endParaRPr sz="1800">
              <a:solidFill>
                <a:schemeClr val="lt1"/>
              </a:solidFill>
              <a:latin typeface="Times New Roman"/>
              <a:ea typeface="Times New Roman"/>
              <a:cs typeface="Times New Roman"/>
              <a:sym typeface="Times New Roman"/>
            </a:endParaRPr>
          </a:p>
        </p:txBody>
      </p:sp>
      <p:sp>
        <p:nvSpPr>
          <p:cNvPr id="273" name="Google Shape;273;p41"/>
          <p:cNvSpPr txBox="1"/>
          <p:nvPr/>
        </p:nvSpPr>
        <p:spPr>
          <a:xfrm>
            <a:off x="1725550" y="4103275"/>
            <a:ext cx="2266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GPS Module</a:t>
            </a:r>
            <a:endParaRPr sz="1800">
              <a:solidFill>
                <a:schemeClr val="lt1"/>
              </a:solidFill>
              <a:latin typeface="Times New Roman"/>
              <a:ea typeface="Times New Roman"/>
              <a:cs typeface="Times New Roman"/>
              <a:sym typeface="Times New Roman"/>
            </a:endParaRPr>
          </a:p>
        </p:txBody>
      </p:sp>
      <p:sp>
        <p:nvSpPr>
          <p:cNvPr id="274" name="Google Shape;274;p41"/>
          <p:cNvSpPr txBox="1"/>
          <p:nvPr/>
        </p:nvSpPr>
        <p:spPr>
          <a:xfrm>
            <a:off x="1970075" y="3007200"/>
            <a:ext cx="22668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Conductivity Probe</a:t>
            </a:r>
            <a:endParaRPr sz="1800">
              <a:solidFill>
                <a:schemeClr val="lt1"/>
              </a:solidFill>
              <a:latin typeface="Times New Roman"/>
              <a:ea typeface="Times New Roman"/>
              <a:cs typeface="Times New Roman"/>
              <a:sym typeface="Times New Roman"/>
            </a:endParaRPr>
          </a:p>
        </p:txBody>
      </p:sp>
      <p:cxnSp>
        <p:nvCxnSpPr>
          <p:cNvPr id="275" name="Google Shape;275;p41"/>
          <p:cNvCxnSpPr/>
          <p:nvPr/>
        </p:nvCxnSpPr>
        <p:spPr>
          <a:xfrm flipH="1" rot="10800000">
            <a:off x="3960950" y="951475"/>
            <a:ext cx="1449000" cy="4500"/>
          </a:xfrm>
          <a:prstGeom prst="straightConnector1">
            <a:avLst/>
          </a:prstGeom>
          <a:noFill/>
          <a:ln cap="flat" cmpd="sng" w="9525">
            <a:solidFill>
              <a:schemeClr val="lt1"/>
            </a:solidFill>
            <a:prstDash val="solid"/>
            <a:round/>
            <a:headEnd len="med" w="med" type="none"/>
            <a:tailEnd len="med" w="med" type="triangle"/>
          </a:ln>
        </p:spPr>
      </p:cxnSp>
      <p:cxnSp>
        <p:nvCxnSpPr>
          <p:cNvPr id="276" name="Google Shape;276;p41"/>
          <p:cNvCxnSpPr/>
          <p:nvPr/>
        </p:nvCxnSpPr>
        <p:spPr>
          <a:xfrm flipH="1" rot="10800000">
            <a:off x="3491950" y="954250"/>
            <a:ext cx="1787100" cy="1191300"/>
          </a:xfrm>
          <a:prstGeom prst="bentConnector3">
            <a:avLst>
              <a:gd fmla="val 60977" name="adj1"/>
            </a:avLst>
          </a:prstGeom>
          <a:noFill/>
          <a:ln cap="flat" cmpd="sng" w="9525">
            <a:solidFill>
              <a:schemeClr val="lt1"/>
            </a:solidFill>
            <a:prstDash val="solid"/>
            <a:round/>
            <a:headEnd len="med" w="med" type="none"/>
            <a:tailEnd len="med" w="med" type="none"/>
          </a:ln>
        </p:spPr>
      </p:cxnSp>
      <p:cxnSp>
        <p:nvCxnSpPr>
          <p:cNvPr id="277" name="Google Shape;277;p41"/>
          <p:cNvCxnSpPr/>
          <p:nvPr/>
        </p:nvCxnSpPr>
        <p:spPr>
          <a:xfrm rot="-5400000">
            <a:off x="2126100" y="1942100"/>
            <a:ext cx="3429000" cy="1482000"/>
          </a:xfrm>
          <a:prstGeom prst="bentConnector3">
            <a:avLst>
              <a:gd fmla="val 422" name="adj1"/>
            </a:avLst>
          </a:prstGeom>
          <a:noFill/>
          <a:ln cap="flat" cmpd="sng" w="9525">
            <a:solidFill>
              <a:schemeClr val="lt1"/>
            </a:solidFill>
            <a:prstDash val="solid"/>
            <a:round/>
            <a:headEnd len="med" w="med" type="none"/>
            <a:tailEnd len="med" w="med" type="none"/>
          </a:ln>
        </p:spPr>
      </p:cxnSp>
      <p:cxnSp>
        <p:nvCxnSpPr>
          <p:cNvPr id="278" name="Google Shape;278;p41"/>
          <p:cNvCxnSpPr/>
          <p:nvPr/>
        </p:nvCxnSpPr>
        <p:spPr>
          <a:xfrm rot="-5400000">
            <a:off x="3070500" y="1782300"/>
            <a:ext cx="2339400" cy="682800"/>
          </a:xfrm>
          <a:prstGeom prst="bentConnector3">
            <a:avLst>
              <a:gd fmla="val 0" name="adj1"/>
            </a:avLst>
          </a:prstGeom>
          <a:noFill/>
          <a:ln cap="flat" cmpd="sng" w="9525">
            <a:solidFill>
              <a:schemeClr val="lt1"/>
            </a:solidFill>
            <a:prstDash val="solid"/>
            <a:round/>
            <a:headEnd len="med" w="med" type="none"/>
            <a:tailEnd len="med" w="med" type="none"/>
          </a:ln>
        </p:spPr>
      </p:cxnSp>
      <p:sp>
        <p:nvSpPr>
          <p:cNvPr id="279" name="Google Shape;279;p41"/>
          <p:cNvSpPr txBox="1"/>
          <p:nvPr/>
        </p:nvSpPr>
        <p:spPr>
          <a:xfrm>
            <a:off x="5409950" y="645825"/>
            <a:ext cx="3487200" cy="110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CSV File in Format:</a:t>
            </a:r>
            <a:endParaRPr sz="18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Date,Time, Lat., Long., Speed, GPS Fix, Temp., Cond., pH.</a:t>
            </a:r>
            <a:endParaRPr sz="1800">
              <a:solidFill>
                <a:schemeClr val="lt1"/>
              </a:solidFill>
              <a:latin typeface="Times New Roman"/>
              <a:ea typeface="Times New Roman"/>
              <a:cs typeface="Times New Roman"/>
              <a:sym typeface="Times New Roman"/>
            </a:endParaRPr>
          </a:p>
        </p:txBody>
      </p:sp>
      <p:sp>
        <p:nvSpPr>
          <p:cNvPr id="280" name="Google Shape;280;p41"/>
          <p:cNvSpPr txBox="1"/>
          <p:nvPr/>
        </p:nvSpPr>
        <p:spPr>
          <a:xfrm>
            <a:off x="5069575" y="1823950"/>
            <a:ext cx="3725700" cy="2428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Times New Roman"/>
                <a:ea typeface="Times New Roman"/>
                <a:cs typeface="Times New Roman"/>
                <a:sym typeface="Times New Roman"/>
              </a:rPr>
              <a:t>In order to verify full functionality of sensor suite, sensors will be tested using known, calibrated substances of varying temperature, salinity, and pH. These values will be confirmed at the ground station GUI, and necessary calibration curves will be constructed and applied.</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86" name="Google Shape;286;p42"/>
          <p:cNvSpPr txBox="1"/>
          <p:nvPr/>
        </p:nvSpPr>
        <p:spPr>
          <a:xfrm>
            <a:off x="1255650" y="287205"/>
            <a:ext cx="6632700" cy="353700"/>
          </a:xfrm>
          <a:prstGeom prst="rect">
            <a:avLst/>
          </a:prstGeom>
          <a:noFill/>
          <a:ln>
            <a:noFill/>
          </a:ln>
        </p:spPr>
        <p:txBody>
          <a:bodyPr anchorCtr="0" anchor="t" bIns="0" lIns="0" spcFirstLastPara="1" rIns="0" wrap="square" tIns="6350">
            <a:noAutofit/>
          </a:bodyPr>
          <a:lstStyle/>
          <a:p>
            <a:pPr indent="0" lvl="0" marL="0" rtl="0" algn="ctr">
              <a:spcBef>
                <a:spcPts val="0"/>
              </a:spcBef>
              <a:spcAft>
                <a:spcPts val="0"/>
              </a:spcAft>
              <a:buNone/>
            </a:pPr>
            <a:r>
              <a:rPr b="1" lang="en" sz="3000">
                <a:solidFill>
                  <a:srgbClr val="FFFFFF"/>
                </a:solidFill>
                <a:latin typeface="Times"/>
                <a:ea typeface="Times"/>
                <a:cs typeface="Times"/>
                <a:sym typeface="Times"/>
              </a:rPr>
              <a:t>Results</a:t>
            </a:r>
            <a:endParaRPr b="1" sz="3000">
              <a:solidFill>
                <a:srgbClr val="FFFFFF"/>
              </a:solidFill>
              <a:latin typeface="Times"/>
              <a:ea typeface="Times"/>
              <a:cs typeface="Times"/>
              <a:sym typeface="Times"/>
            </a:endParaRPr>
          </a:p>
        </p:txBody>
      </p:sp>
      <p:graphicFrame>
        <p:nvGraphicFramePr>
          <p:cNvPr id="287" name="Google Shape;287;p42"/>
          <p:cNvGraphicFramePr/>
          <p:nvPr/>
        </p:nvGraphicFramePr>
        <p:xfrm>
          <a:off x="1255638" y="1389650"/>
          <a:ext cx="3000000" cy="3000000"/>
        </p:xfrm>
        <a:graphic>
          <a:graphicData uri="http://schemas.openxmlformats.org/drawingml/2006/table">
            <a:tbl>
              <a:tblPr>
                <a:noFill/>
                <a:tableStyleId>{2EF35261-E8B5-419E-839D-F0FCB15417EF}</a:tableStyleId>
              </a:tblPr>
              <a:tblGrid>
                <a:gridCol w="2389300"/>
                <a:gridCol w="1934275"/>
                <a:gridCol w="2709300"/>
              </a:tblGrid>
              <a:tr h="381000">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Requirement</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Status</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c>
                  <a:txBody>
                    <a:bodyPr/>
                    <a:lstStyle/>
                    <a:p>
                      <a:pPr indent="0" lvl="0" marL="0" rtl="0" algn="ctr">
                        <a:spcBef>
                          <a:spcPts val="0"/>
                        </a:spcBef>
                        <a:spcAft>
                          <a:spcPts val="0"/>
                        </a:spcAft>
                        <a:buNone/>
                      </a:pPr>
                      <a:r>
                        <a:rPr b="1" lang="en" sz="1600">
                          <a:solidFill>
                            <a:schemeClr val="lt1"/>
                          </a:solidFill>
                          <a:latin typeface="Times New Roman"/>
                          <a:ea typeface="Times New Roman"/>
                          <a:cs typeface="Times New Roman"/>
                          <a:sym typeface="Times New Roman"/>
                        </a:rPr>
                        <a:t>Remaining Action</a:t>
                      </a:r>
                      <a:endParaRPr b="1"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solidFill>
                      <a:srgbClr val="5C6BC0"/>
                    </a:solidFill>
                  </a:tcPr>
                </a:tc>
              </a:tr>
              <a:tr h="381000">
                <a:tc>
                  <a:txBody>
                    <a:bodyPr/>
                    <a:lstStyle/>
                    <a:p>
                      <a:pPr indent="0" lvl="0" marL="0" rtl="0" algn="ctr">
                        <a:spcBef>
                          <a:spcPts val="0"/>
                        </a:spcBef>
                        <a:spcAft>
                          <a:spcPts val="0"/>
                        </a:spcAft>
                        <a:buNone/>
                      </a:pPr>
                      <a:r>
                        <a:rPr lang="en" sz="1600">
                          <a:solidFill>
                            <a:schemeClr val="lt1"/>
                          </a:solidFill>
                          <a:latin typeface="Times New Roman"/>
                          <a:ea typeface="Times New Roman"/>
                          <a:cs typeface="Times New Roman"/>
                          <a:sym typeface="Times New Roman"/>
                        </a:rPr>
                        <a:t>5.1.6 Data Collection</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rPr lang="en" sz="1600">
                          <a:solidFill>
                            <a:srgbClr val="00FF00"/>
                          </a:solidFill>
                          <a:latin typeface="Times New Roman"/>
                          <a:ea typeface="Times New Roman"/>
                          <a:cs typeface="Times New Roman"/>
                          <a:sym typeface="Times New Roman"/>
                        </a:rPr>
                        <a:t>Pass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sz="1600">
                          <a:solidFill>
                            <a:schemeClr val="lt1"/>
                          </a:solidFill>
                          <a:latin typeface="Times New Roman"/>
                          <a:ea typeface="Times New Roman"/>
                          <a:cs typeface="Times New Roman"/>
                          <a:sym typeface="Times New Roman"/>
                        </a:rPr>
                        <a:t>5.4.5 Display</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r>
                        <a:rPr lang="en" sz="1600">
                          <a:solidFill>
                            <a:schemeClr val="lt1"/>
                          </a:solidFill>
                          <a:latin typeface="Times New Roman"/>
                          <a:ea typeface="Times New Roman"/>
                          <a:cs typeface="Times New Roman"/>
                          <a:sym typeface="Times New Roman"/>
                        </a:rPr>
                        <a:t> </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5.2.4 Payload Mount</a:t>
                      </a:r>
                      <a:r>
                        <a:rPr lang="en" sz="1600">
                          <a:solidFill>
                            <a:schemeClr val="lt1"/>
                          </a:solidFill>
                          <a:latin typeface="Times New Roman"/>
                          <a:ea typeface="Times New Roman"/>
                          <a:cs typeface="Times New Roman"/>
                          <a:sym typeface="Times New Roman"/>
                        </a:rPr>
                        <a:t>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00FF00"/>
                          </a:solidFill>
                          <a:latin typeface="Times New Roman"/>
                          <a:ea typeface="Times New Roman"/>
                          <a:cs typeface="Times New Roman"/>
                          <a:sym typeface="Times New Roman"/>
                        </a:rPr>
                        <a:t>Pass</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r h="381000">
                <a:tc>
                  <a:txBody>
                    <a:bodyPr/>
                    <a:lstStyle/>
                    <a:p>
                      <a:pPr indent="0" lvl="0" marL="0" rtl="0" algn="ctr">
                        <a:spcBef>
                          <a:spcPts val="0"/>
                        </a:spcBef>
                        <a:spcAft>
                          <a:spcPts val="0"/>
                        </a:spcAft>
                        <a:buClr>
                          <a:schemeClr val="dk1"/>
                        </a:buClr>
                        <a:buSzPts val="1100"/>
                        <a:buFont typeface="Arial"/>
                        <a:buNone/>
                      </a:pPr>
                      <a:r>
                        <a:rPr lang="en" sz="1600">
                          <a:solidFill>
                            <a:schemeClr val="lt1"/>
                          </a:solidFill>
                          <a:latin typeface="Times New Roman"/>
                          <a:ea typeface="Times New Roman"/>
                          <a:cs typeface="Times New Roman"/>
                          <a:sym typeface="Times New Roman"/>
                        </a:rPr>
                        <a:t>5.3.2 Waterproofing:</a:t>
                      </a:r>
                      <a:endParaRPr sz="1600">
                        <a:solidFill>
                          <a:schemeClr val="lt1"/>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sz="1600">
                          <a:solidFill>
                            <a:srgbClr val="FFB300"/>
                          </a:solidFill>
                          <a:latin typeface="Times New Roman"/>
                          <a:ea typeface="Times New Roman"/>
                          <a:cs typeface="Times New Roman"/>
                          <a:sym typeface="Times New Roman"/>
                        </a:rPr>
                        <a:t>Partial Pass</a:t>
                      </a:r>
                      <a:endParaRPr sz="1600">
                        <a:solidFill>
                          <a:srgbClr val="00FF00"/>
                        </a:solidFill>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c>
                  <a:txBody>
                    <a:bodyPr/>
                    <a:lstStyle/>
                    <a:p>
                      <a:pPr indent="0" lvl="0" marL="0" rtl="0" algn="ctr">
                        <a:spcBef>
                          <a:spcPts val="0"/>
                        </a:spcBef>
                        <a:spcAft>
                          <a:spcPts val="0"/>
                        </a:spcAft>
                        <a:buNone/>
                      </a:pPr>
                      <a:r>
                        <a:t/>
                      </a:r>
                      <a:endParaRPr sz="1600">
                        <a:latin typeface="Times New Roman"/>
                        <a:ea typeface="Times New Roman"/>
                        <a:cs typeface="Times New Roman"/>
                        <a:sym typeface="Times New Roman"/>
                      </a:endParaRPr>
                    </a:p>
                  </a:txBody>
                  <a:tcPr marT="91425" marB="91425" marR="91425" marL="91425" anchor="ctr">
                    <a:lnL cap="flat" cmpd="sng" w="9525">
                      <a:solidFill>
                        <a:srgbClr val="5C6BC0"/>
                      </a:solidFill>
                      <a:prstDash val="solid"/>
                      <a:round/>
                      <a:headEnd len="sm" w="sm" type="none"/>
                      <a:tailEnd len="sm" w="sm" type="none"/>
                    </a:lnL>
                    <a:lnR cap="flat" cmpd="sng" w="9525">
                      <a:solidFill>
                        <a:srgbClr val="5C6BC0"/>
                      </a:solidFill>
                      <a:prstDash val="solid"/>
                      <a:round/>
                      <a:headEnd len="sm" w="sm" type="none"/>
                      <a:tailEnd len="sm" w="sm" type="none"/>
                    </a:lnR>
                    <a:lnT cap="flat" cmpd="sng" w="9525">
                      <a:solidFill>
                        <a:srgbClr val="5C6BC0"/>
                      </a:solidFill>
                      <a:prstDash val="solid"/>
                      <a:round/>
                      <a:headEnd len="sm" w="sm" type="none"/>
                      <a:tailEnd len="sm" w="sm" type="none"/>
                    </a:lnT>
                    <a:lnB cap="flat" cmpd="sng" w="9525">
                      <a:solidFill>
                        <a:srgbClr val="5C6BC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293" name="Google Shape;293;p43"/>
          <p:cNvSpPr txBox="1"/>
          <p:nvPr/>
        </p:nvSpPr>
        <p:spPr>
          <a:xfrm>
            <a:off x="1255650" y="287205"/>
            <a:ext cx="6632700" cy="353700"/>
          </a:xfrm>
          <a:prstGeom prst="rect">
            <a:avLst/>
          </a:prstGeom>
          <a:noFill/>
          <a:ln>
            <a:noFill/>
          </a:ln>
        </p:spPr>
        <p:txBody>
          <a:bodyPr anchorCtr="0" anchor="t" bIns="0" lIns="0" spcFirstLastPara="1" rIns="0" wrap="square" tIns="6350">
            <a:noAutofit/>
          </a:bodyPr>
          <a:lstStyle/>
          <a:p>
            <a:pPr indent="0" lvl="0" marL="0" rtl="0" algn="ctr">
              <a:spcBef>
                <a:spcPts val="0"/>
              </a:spcBef>
              <a:spcAft>
                <a:spcPts val="0"/>
              </a:spcAft>
              <a:buNone/>
            </a:pPr>
            <a:r>
              <a:rPr b="1" lang="en" sz="3000">
                <a:solidFill>
                  <a:srgbClr val="FFFFFF"/>
                </a:solidFill>
                <a:latin typeface="Times"/>
                <a:ea typeface="Times"/>
                <a:cs typeface="Times"/>
                <a:sym typeface="Times"/>
              </a:rPr>
              <a:t>Sensor </a:t>
            </a:r>
            <a:r>
              <a:rPr b="1" lang="en" sz="3000">
                <a:solidFill>
                  <a:srgbClr val="FFFFFF"/>
                </a:solidFill>
                <a:latin typeface="Times"/>
                <a:ea typeface="Times"/>
                <a:cs typeface="Times"/>
                <a:sym typeface="Times"/>
              </a:rPr>
              <a:t>Requirements Verification</a:t>
            </a:r>
            <a:endParaRPr b="1" sz="3000">
              <a:solidFill>
                <a:srgbClr val="FFFFFF"/>
              </a:solidFill>
              <a:latin typeface="Times"/>
              <a:ea typeface="Times"/>
              <a:cs typeface="Times"/>
              <a:sym typeface="Times"/>
            </a:endParaRPr>
          </a:p>
        </p:txBody>
      </p:sp>
      <p:sp>
        <p:nvSpPr>
          <p:cNvPr id="294" name="Google Shape;294;p43"/>
          <p:cNvSpPr txBox="1"/>
          <p:nvPr/>
        </p:nvSpPr>
        <p:spPr>
          <a:xfrm>
            <a:off x="552150" y="962825"/>
            <a:ext cx="8039700" cy="25428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None/>
            </a:pPr>
            <a:r>
              <a:rPr b="1" lang="en" sz="1700" u="sng">
                <a:solidFill>
                  <a:schemeClr val="lt1"/>
                </a:solidFill>
                <a:latin typeface="Times New Roman"/>
                <a:ea typeface="Times New Roman"/>
                <a:cs typeface="Times New Roman"/>
                <a:sym typeface="Times New Roman"/>
              </a:rPr>
              <a:t>5.1.6 Data Collection:</a:t>
            </a:r>
            <a:r>
              <a:rPr b="1" lang="en" sz="1700">
                <a:solidFill>
                  <a:schemeClr val="lt1"/>
                </a:solidFill>
                <a:latin typeface="Times New Roman"/>
                <a:ea typeface="Times New Roman"/>
                <a:cs typeface="Times New Roman"/>
                <a:sym typeface="Times New Roman"/>
              </a:rPr>
              <a:t> </a:t>
            </a:r>
            <a:r>
              <a:rPr lang="en" sz="1700">
                <a:solidFill>
                  <a:schemeClr val="lt1"/>
                </a:solidFill>
                <a:latin typeface="Times New Roman"/>
                <a:ea typeface="Times New Roman"/>
                <a:cs typeface="Times New Roman"/>
                <a:sym typeface="Times New Roman"/>
              </a:rPr>
              <a:t>Each AQUABOT drone shall measure temperature, salinity, pH,  and capture visual imagery at a minimum of 1080p resolution, 30 fps. </a:t>
            </a:r>
            <a:endParaRPr sz="1700">
              <a:solidFill>
                <a:schemeClr val="lt1"/>
              </a:solidFill>
              <a:latin typeface="Times New Roman"/>
              <a:ea typeface="Times New Roman"/>
              <a:cs typeface="Times New Roman"/>
              <a:sym typeface="Times New Roman"/>
            </a:endParaRPr>
          </a:p>
          <a:p>
            <a:pPr indent="0" lvl="0" marL="0" rtl="0" algn="l">
              <a:spcBef>
                <a:spcPts val="1200"/>
              </a:spcBef>
              <a:spcAft>
                <a:spcPts val="0"/>
              </a:spcAft>
              <a:buNone/>
            </a:pPr>
            <a:r>
              <a:rPr b="1" lang="en" sz="1700" u="sng">
                <a:solidFill>
                  <a:schemeClr val="lt1"/>
                </a:solidFill>
                <a:latin typeface="Times New Roman"/>
                <a:ea typeface="Times New Roman"/>
                <a:cs typeface="Times New Roman"/>
                <a:sym typeface="Times New Roman"/>
              </a:rPr>
              <a:t>5.4.5 Display:</a:t>
            </a:r>
            <a:r>
              <a:rPr b="1" lang="en" sz="1700">
                <a:solidFill>
                  <a:schemeClr val="lt1"/>
                </a:solidFill>
                <a:latin typeface="Times New Roman"/>
                <a:ea typeface="Times New Roman"/>
                <a:cs typeface="Times New Roman"/>
                <a:sym typeface="Times New Roman"/>
              </a:rPr>
              <a:t> </a:t>
            </a:r>
            <a:r>
              <a:rPr lang="en" sz="1700">
                <a:solidFill>
                  <a:schemeClr val="lt1"/>
                </a:solidFill>
                <a:latin typeface="Times New Roman"/>
                <a:ea typeface="Times New Roman"/>
                <a:cs typeface="Times New Roman"/>
                <a:sym typeface="Times New Roman"/>
              </a:rPr>
              <a:t>The display shall show half the display with Geo-overlay and the other half will display live-streaming.</a:t>
            </a:r>
            <a:endParaRPr sz="1700">
              <a:solidFill>
                <a:schemeClr val="lt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700" u="sng">
                <a:solidFill>
                  <a:schemeClr val="lt1"/>
                </a:solidFill>
                <a:latin typeface="Times New Roman"/>
                <a:ea typeface="Times New Roman"/>
                <a:cs typeface="Times New Roman"/>
                <a:sym typeface="Times New Roman"/>
              </a:rPr>
              <a:t>5.2.4 Payload Mounts: </a:t>
            </a:r>
            <a:r>
              <a:rPr lang="en" sz="1700">
                <a:solidFill>
                  <a:schemeClr val="lt1"/>
                </a:solidFill>
                <a:latin typeface="Times New Roman"/>
                <a:ea typeface="Times New Roman"/>
                <a:cs typeface="Times New Roman"/>
                <a:sym typeface="Times New Roman"/>
              </a:rPr>
              <a:t>The hull shall provide standardized, sealed mounts for Starlink terminal, battery, and sensor payload.</a:t>
            </a:r>
            <a:endParaRPr sz="1700">
              <a:solidFill>
                <a:schemeClr val="lt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700" u="sng">
                <a:solidFill>
                  <a:schemeClr val="lt1"/>
                </a:solidFill>
                <a:latin typeface="Times New Roman"/>
                <a:ea typeface="Times New Roman"/>
                <a:cs typeface="Times New Roman"/>
                <a:sym typeface="Times New Roman"/>
              </a:rPr>
              <a:t>5.3.2 Waterproofing:</a:t>
            </a:r>
            <a:r>
              <a:rPr b="1" lang="en" sz="1700">
                <a:solidFill>
                  <a:schemeClr val="lt1"/>
                </a:solidFill>
                <a:latin typeface="Times New Roman"/>
                <a:ea typeface="Times New Roman"/>
                <a:cs typeface="Times New Roman"/>
                <a:sym typeface="Times New Roman"/>
              </a:rPr>
              <a:t> </a:t>
            </a:r>
            <a:r>
              <a:rPr lang="en" sz="1700">
                <a:solidFill>
                  <a:schemeClr val="lt1"/>
                </a:solidFill>
                <a:latin typeface="Times New Roman"/>
                <a:ea typeface="Times New Roman"/>
                <a:cs typeface="Times New Roman"/>
                <a:sym typeface="Times New Roman"/>
              </a:rPr>
              <a:t>Each aquatic AQUABOT drone shall meet IP68 ingress protection standards IAW IEC 60529:1989 + AMD1:1999 CSV. Waterproof components shall be tested in 1.5 m depths to ensure compliance.</a:t>
            </a:r>
            <a:endParaRPr b="1" sz="1700">
              <a:solidFill>
                <a:schemeClr val="lt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t/>
            </a:r>
            <a:endParaRPr b="1">
              <a:solidFill>
                <a:schemeClr val="dk1"/>
              </a:solidFill>
              <a:latin typeface="Times"/>
              <a:ea typeface="Times"/>
              <a:cs typeface="Times"/>
              <a:sym typeface="Times"/>
            </a:endParaRPr>
          </a:p>
          <a:p>
            <a:pPr indent="0" lvl="0" marL="0" rtl="0" algn="l">
              <a:spcBef>
                <a:spcPts val="1200"/>
              </a:spcBef>
              <a:spcAft>
                <a:spcPts val="0"/>
              </a:spcAft>
              <a:buNone/>
            </a:pPr>
            <a:r>
              <a:t/>
            </a:r>
            <a:endParaRPr sz="20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
        <p:nvSpPr>
          <p:cNvPr id="300" name="Google Shape;300;p44"/>
          <p:cNvSpPr txBox="1"/>
          <p:nvPr/>
        </p:nvSpPr>
        <p:spPr>
          <a:xfrm>
            <a:off x="1255650" y="287205"/>
            <a:ext cx="6632700" cy="353700"/>
          </a:xfrm>
          <a:prstGeom prst="rect">
            <a:avLst/>
          </a:prstGeom>
          <a:noFill/>
          <a:ln>
            <a:noFill/>
          </a:ln>
        </p:spPr>
        <p:txBody>
          <a:bodyPr anchorCtr="0" anchor="t" bIns="0" lIns="0" spcFirstLastPara="1" rIns="0" wrap="square" tIns="6350">
            <a:noAutofit/>
          </a:bodyPr>
          <a:lstStyle/>
          <a:p>
            <a:pPr indent="0" lvl="0" marL="0" rtl="0" algn="ctr">
              <a:spcBef>
                <a:spcPts val="0"/>
              </a:spcBef>
              <a:spcAft>
                <a:spcPts val="0"/>
              </a:spcAft>
              <a:buNone/>
            </a:pPr>
            <a:r>
              <a:rPr b="1" lang="en" sz="3000">
                <a:solidFill>
                  <a:srgbClr val="FFFFFF"/>
                </a:solidFill>
                <a:latin typeface="Times"/>
                <a:ea typeface="Times"/>
                <a:cs typeface="Times"/>
                <a:sym typeface="Times"/>
              </a:rPr>
              <a:t>Overall Performance Review</a:t>
            </a:r>
            <a:endParaRPr b="1" sz="3000">
              <a:solidFill>
                <a:srgbClr val="FFFFFF"/>
              </a:solidFill>
              <a:latin typeface="Times"/>
              <a:ea typeface="Times"/>
              <a:cs typeface="Times"/>
              <a:sym typeface="Time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304" name="Shape 304"/>
        <p:cNvGrpSpPr/>
        <p:nvPr/>
      </p:nvGrpSpPr>
      <p:grpSpPr>
        <a:xfrm>
          <a:off x="0" y="0"/>
          <a:ext cx="0" cy="0"/>
          <a:chOff x="0" y="0"/>
          <a:chExt cx="0" cy="0"/>
        </a:xfrm>
      </p:grpSpPr>
      <p:sp>
        <p:nvSpPr>
          <p:cNvPr id="305" name="Google Shape;305;p45"/>
          <p:cNvSpPr txBox="1"/>
          <p:nvPr/>
        </p:nvSpPr>
        <p:spPr>
          <a:xfrm>
            <a:off x="696900" y="1828792"/>
            <a:ext cx="77502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5000">
                <a:solidFill>
                  <a:srgbClr val="FFFFFF"/>
                </a:solidFill>
                <a:latin typeface="Times"/>
                <a:ea typeface="Times"/>
                <a:cs typeface="Times"/>
                <a:sym typeface="Times"/>
              </a:rPr>
              <a:t>Lessons Learned &amp; Next Steps</a:t>
            </a:r>
            <a:endParaRPr b="1" sz="50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306" name="Google Shape;306;p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310" name="Shape 310"/>
        <p:cNvGrpSpPr/>
        <p:nvPr/>
      </p:nvGrpSpPr>
      <p:grpSpPr>
        <a:xfrm>
          <a:off x="0" y="0"/>
          <a:ext cx="0" cy="0"/>
          <a:chOff x="0" y="0"/>
          <a:chExt cx="0" cy="0"/>
        </a:xfrm>
      </p:grpSpPr>
      <p:sp>
        <p:nvSpPr>
          <p:cNvPr id="311" name="Google Shape;311;p4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315" name="Shape 315"/>
        <p:cNvGrpSpPr/>
        <p:nvPr/>
      </p:nvGrpSpPr>
      <p:grpSpPr>
        <a:xfrm>
          <a:off x="0" y="0"/>
          <a:ext cx="0" cy="0"/>
          <a:chOff x="0" y="0"/>
          <a:chExt cx="0" cy="0"/>
        </a:xfrm>
      </p:grpSpPr>
      <p:sp>
        <p:nvSpPr>
          <p:cNvPr id="316" name="Google Shape;316;p47"/>
          <p:cNvSpPr txBox="1"/>
          <p:nvPr/>
        </p:nvSpPr>
        <p:spPr>
          <a:xfrm>
            <a:off x="779100" y="1831925"/>
            <a:ext cx="77502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4800">
                <a:solidFill>
                  <a:srgbClr val="FFFFFF"/>
                </a:solidFill>
                <a:latin typeface="Times"/>
                <a:ea typeface="Times"/>
                <a:cs typeface="Times"/>
                <a:sym typeface="Times"/>
              </a:rPr>
              <a:t>Budget</a:t>
            </a:r>
            <a:endParaRPr b="1" sz="3000">
              <a:solidFill>
                <a:srgbClr val="FFFFFF"/>
              </a:solidFill>
              <a:latin typeface="Times"/>
              <a:ea typeface="Times"/>
              <a:cs typeface="Times"/>
              <a:sym typeface="Times"/>
            </a:endParaRPr>
          </a:p>
        </p:txBody>
      </p:sp>
      <p:sp>
        <p:nvSpPr>
          <p:cNvPr id="317" name="Google Shape;317;p4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321" name="Shape 321"/>
        <p:cNvGrpSpPr/>
        <p:nvPr/>
      </p:nvGrpSpPr>
      <p:grpSpPr>
        <a:xfrm>
          <a:off x="0" y="0"/>
          <a:ext cx="0" cy="0"/>
          <a:chOff x="0" y="0"/>
          <a:chExt cx="0" cy="0"/>
        </a:xfrm>
      </p:grpSpPr>
      <p:sp>
        <p:nvSpPr>
          <p:cNvPr id="322" name="Google Shape;322;p48"/>
          <p:cNvSpPr txBox="1"/>
          <p:nvPr>
            <p:ph idx="4294967295" type="title"/>
          </p:nvPr>
        </p:nvSpPr>
        <p:spPr>
          <a:xfrm>
            <a:off x="371850" y="2"/>
            <a:ext cx="8400300" cy="573000"/>
          </a:xfrm>
          <a:prstGeom prst="rect">
            <a:avLst/>
          </a:prstGeom>
          <a:noFill/>
          <a:ln>
            <a:noFill/>
          </a:ln>
        </p:spPr>
        <p:txBody>
          <a:bodyPr anchorCtr="0" anchor="ctr" bIns="0" lIns="0" spcFirstLastPara="1" rIns="0" wrap="square" tIns="6350">
            <a:noAutofit/>
          </a:bodyPr>
          <a:lstStyle/>
          <a:p>
            <a:pPr indent="0" lvl="0" marL="0" rtl="0" algn="ctr">
              <a:lnSpc>
                <a:spcPct val="75000"/>
              </a:lnSpc>
              <a:spcBef>
                <a:spcPts val="0"/>
              </a:spcBef>
              <a:spcAft>
                <a:spcPts val="0"/>
              </a:spcAft>
              <a:buClr>
                <a:schemeClr val="dk1"/>
              </a:buClr>
              <a:buSzPts val="600"/>
              <a:buFont typeface="Arial"/>
              <a:buNone/>
            </a:pPr>
            <a:r>
              <a:rPr b="1" lang="en" sz="3000">
                <a:solidFill>
                  <a:schemeClr val="lt1"/>
                </a:solidFill>
                <a:latin typeface="Times"/>
                <a:ea typeface="Times"/>
                <a:cs typeface="Times"/>
                <a:sym typeface="Times"/>
              </a:rPr>
              <a:t>Cost Analysis</a:t>
            </a:r>
            <a:endParaRPr i="0" sz="2400" u="none" cap="none" strike="noStrike">
              <a:solidFill>
                <a:srgbClr val="FFFFFF"/>
              </a:solidFill>
              <a:latin typeface="Times"/>
              <a:ea typeface="Times"/>
              <a:cs typeface="Times"/>
              <a:sym typeface="Times"/>
            </a:endParaRPr>
          </a:p>
        </p:txBody>
      </p:sp>
      <p:sp>
        <p:nvSpPr>
          <p:cNvPr id="323" name="Google Shape;323;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327" name="Shape 327"/>
        <p:cNvGrpSpPr/>
        <p:nvPr/>
      </p:nvGrpSpPr>
      <p:grpSpPr>
        <a:xfrm>
          <a:off x="0" y="0"/>
          <a:ext cx="0" cy="0"/>
          <a:chOff x="0" y="0"/>
          <a:chExt cx="0" cy="0"/>
        </a:xfrm>
      </p:grpSpPr>
      <p:sp>
        <p:nvSpPr>
          <p:cNvPr id="328" name="Google Shape;328;p49"/>
          <p:cNvSpPr txBox="1"/>
          <p:nvPr/>
        </p:nvSpPr>
        <p:spPr>
          <a:xfrm>
            <a:off x="779100" y="1831925"/>
            <a:ext cx="77502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4800">
                <a:solidFill>
                  <a:srgbClr val="FFFFFF"/>
                </a:solidFill>
                <a:latin typeface="Times"/>
                <a:ea typeface="Times"/>
                <a:cs typeface="Times"/>
                <a:sym typeface="Times"/>
              </a:rPr>
              <a:t>Deliverables</a:t>
            </a:r>
            <a:endParaRPr b="1" sz="3000">
              <a:solidFill>
                <a:srgbClr val="FFFFFF"/>
              </a:solidFill>
              <a:latin typeface="Times"/>
              <a:ea typeface="Times"/>
              <a:cs typeface="Times"/>
              <a:sym typeface="Times"/>
            </a:endParaRPr>
          </a:p>
        </p:txBody>
      </p:sp>
      <p:sp>
        <p:nvSpPr>
          <p:cNvPr id="329" name="Google Shape;329;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333" name="Shape 333"/>
        <p:cNvGrpSpPr/>
        <p:nvPr/>
      </p:nvGrpSpPr>
      <p:grpSpPr>
        <a:xfrm>
          <a:off x="0" y="0"/>
          <a:ext cx="0" cy="0"/>
          <a:chOff x="0" y="0"/>
          <a:chExt cx="0" cy="0"/>
        </a:xfrm>
      </p:grpSpPr>
      <p:sp>
        <p:nvSpPr>
          <p:cNvPr id="334" name="Google Shape;334;p50"/>
          <p:cNvSpPr txBox="1"/>
          <p:nvPr>
            <p:ph idx="4294967295" type="ctrTitle"/>
          </p:nvPr>
        </p:nvSpPr>
        <p:spPr>
          <a:xfrm>
            <a:off x="2590788" y="-85300"/>
            <a:ext cx="3962400" cy="48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Deliverables</a:t>
            </a:r>
            <a:endParaRPr i="0" sz="3000" u="none" cap="none" strike="noStrike">
              <a:solidFill>
                <a:srgbClr val="FFFFFF"/>
              </a:solidFill>
              <a:latin typeface="Times"/>
              <a:ea typeface="Times"/>
              <a:cs typeface="Times"/>
              <a:sym typeface="Times"/>
            </a:endParaRPr>
          </a:p>
        </p:txBody>
      </p:sp>
      <p:sp>
        <p:nvSpPr>
          <p:cNvPr id="335" name="Google Shape;335;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72F">
            <a:alpha val="89940"/>
          </a:srgbClr>
        </a:solidFill>
      </p:bgPr>
    </p:bg>
    <p:spTree>
      <p:nvGrpSpPr>
        <p:cNvPr id="339" name="Shape 339"/>
        <p:cNvGrpSpPr/>
        <p:nvPr/>
      </p:nvGrpSpPr>
      <p:grpSpPr>
        <a:xfrm>
          <a:off x="0" y="0"/>
          <a:ext cx="0" cy="0"/>
          <a:chOff x="0" y="0"/>
          <a:chExt cx="0" cy="0"/>
        </a:xfrm>
      </p:grpSpPr>
      <p:sp>
        <p:nvSpPr>
          <p:cNvPr id="340" name="Google Shape;340;p51"/>
          <p:cNvSpPr txBox="1"/>
          <p:nvPr/>
        </p:nvSpPr>
        <p:spPr>
          <a:xfrm>
            <a:off x="779100" y="1831925"/>
            <a:ext cx="7750200" cy="632100"/>
          </a:xfrm>
          <a:prstGeom prst="rect">
            <a:avLst/>
          </a:prstGeom>
          <a:noFill/>
          <a:ln>
            <a:noFill/>
          </a:ln>
        </p:spPr>
        <p:txBody>
          <a:bodyPr anchorCtr="0" anchor="t" bIns="91425" lIns="91425" spcFirstLastPara="1" rIns="91425" wrap="square" tIns="91425">
            <a:noAutofit/>
          </a:bodyPr>
          <a:lstStyle/>
          <a:p>
            <a:pPr indent="0" lvl="0" marL="0" marR="0" rtl="0" algn="ctr">
              <a:lnSpc>
                <a:spcPct val="75000"/>
              </a:lnSpc>
              <a:spcBef>
                <a:spcPts val="0"/>
              </a:spcBef>
              <a:spcAft>
                <a:spcPts val="0"/>
              </a:spcAft>
              <a:buClr>
                <a:srgbClr val="000000"/>
              </a:buClr>
              <a:buSzPts val="1800"/>
              <a:buFont typeface="Arial"/>
              <a:buNone/>
            </a:pPr>
            <a:r>
              <a:rPr b="1" lang="en" sz="4800">
                <a:solidFill>
                  <a:srgbClr val="FFFFFF"/>
                </a:solidFill>
                <a:latin typeface="Times"/>
                <a:ea typeface="Times"/>
                <a:cs typeface="Times"/>
                <a:sym typeface="Times"/>
              </a:rPr>
              <a:t>Summary</a:t>
            </a:r>
            <a:endParaRPr b="1" sz="4800">
              <a:solidFill>
                <a:srgbClr val="FFFFFF"/>
              </a:solidFill>
              <a:latin typeface="Times"/>
              <a:ea typeface="Times"/>
              <a:cs typeface="Times"/>
              <a:sym typeface="Times"/>
            </a:endParaRPr>
          </a:p>
          <a:p>
            <a:pPr indent="0" lvl="0" marL="0" marR="0" rtl="0" algn="ctr">
              <a:lnSpc>
                <a:spcPct val="75000"/>
              </a:lnSpc>
              <a:spcBef>
                <a:spcPts val="0"/>
              </a:spcBef>
              <a:spcAft>
                <a:spcPts val="0"/>
              </a:spcAft>
              <a:buClr>
                <a:srgbClr val="000000"/>
              </a:buClr>
              <a:buSzPts val="1800"/>
              <a:buFont typeface="Arial"/>
              <a:buNone/>
            </a:pPr>
            <a:r>
              <a:t/>
            </a:r>
            <a:endParaRPr b="1" sz="3000">
              <a:solidFill>
                <a:srgbClr val="FFFFFF"/>
              </a:solidFill>
              <a:latin typeface="Times"/>
              <a:ea typeface="Times"/>
              <a:cs typeface="Times"/>
              <a:sym typeface="Times"/>
            </a:endParaRPr>
          </a:p>
        </p:txBody>
      </p:sp>
      <p:sp>
        <p:nvSpPr>
          <p:cNvPr id="341" name="Google Shape;341;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2"/>
          <p:cNvSpPr txBox="1"/>
          <p:nvPr>
            <p:ph idx="4294967295" type="ctrTitle"/>
          </p:nvPr>
        </p:nvSpPr>
        <p:spPr>
          <a:xfrm>
            <a:off x="2590788" y="-52307"/>
            <a:ext cx="3962400" cy="48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FFFFFF"/>
              </a:buClr>
              <a:buSzPts val="2400"/>
              <a:buFont typeface="Calibri"/>
              <a:buNone/>
            </a:pPr>
            <a:r>
              <a:rPr b="1" lang="en" sz="3000">
                <a:solidFill>
                  <a:srgbClr val="FFFFFF"/>
                </a:solidFill>
                <a:latin typeface="Times"/>
                <a:ea typeface="Times"/>
                <a:cs typeface="Times"/>
                <a:sym typeface="Times"/>
              </a:rPr>
              <a:t>Summary</a:t>
            </a:r>
            <a:endParaRPr i="0" sz="3000" u="none" cap="none" strike="noStrike">
              <a:solidFill>
                <a:srgbClr val="FFFFFF"/>
              </a:solidFill>
              <a:latin typeface="Times"/>
              <a:ea typeface="Times"/>
              <a:cs typeface="Times"/>
              <a:sym typeface="Times"/>
            </a:endParaRPr>
          </a:p>
        </p:txBody>
      </p:sp>
      <p:sp>
        <p:nvSpPr>
          <p:cNvPr id="347" name="Google Shape;347;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rgbClr val="000000"/>
              </a:buClr>
              <a:buSzPts val="1300"/>
              <a:buFont typeface="Arial"/>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51" name="Shape 351"/>
        <p:cNvGrpSpPr/>
        <p:nvPr/>
      </p:nvGrpSpPr>
      <p:grpSpPr>
        <a:xfrm>
          <a:off x="0" y="0"/>
          <a:ext cx="0" cy="0"/>
          <a:chOff x="0" y="0"/>
          <a:chExt cx="0" cy="0"/>
        </a:xfrm>
      </p:grpSpPr>
      <p:sp>
        <p:nvSpPr>
          <p:cNvPr id="352" name="Google Shape;352;p53"/>
          <p:cNvSpPr txBox="1"/>
          <p:nvPr>
            <p:ph type="title"/>
          </p:nvPr>
        </p:nvSpPr>
        <p:spPr>
          <a:xfrm>
            <a:off x="628650" y="2121948"/>
            <a:ext cx="7886700" cy="990300"/>
          </a:xfrm>
          <a:prstGeom prst="rect">
            <a:avLst/>
          </a:prstGeom>
          <a:solidFill>
            <a:schemeClr val="lt1"/>
          </a:solidFill>
          <a:ln>
            <a:noFill/>
          </a:ln>
        </p:spPr>
        <p:txBody>
          <a:bodyPr anchorCtr="0" anchor="ctr" bIns="41575" lIns="41575" spcFirstLastPara="1" rIns="41575" wrap="square" tIns="41575">
            <a:noAutofit/>
          </a:bodyPr>
          <a:lstStyle/>
          <a:p>
            <a:pPr indent="0" lvl="0" marL="0" rtl="0" algn="ctr">
              <a:lnSpc>
                <a:spcPct val="100000"/>
              </a:lnSpc>
              <a:spcBef>
                <a:spcPts val="0"/>
              </a:spcBef>
              <a:spcAft>
                <a:spcPts val="0"/>
              </a:spcAft>
              <a:buSzPts val="4400"/>
              <a:buNone/>
            </a:pPr>
            <a:r>
              <a:rPr lang="en">
                <a:latin typeface="Times"/>
                <a:ea typeface="Times"/>
                <a:cs typeface="Times"/>
                <a:sym typeface="Times"/>
              </a:rPr>
              <a:t>Questions &amp; Discussion</a:t>
            </a:r>
            <a:endParaRPr>
              <a:latin typeface="Times"/>
              <a:ea typeface="Times"/>
              <a:cs typeface="Times"/>
              <a:sym typeface="Times"/>
            </a:endParaRPr>
          </a:p>
        </p:txBody>
      </p:sp>
      <p:sp>
        <p:nvSpPr>
          <p:cNvPr id="353" name="Google Shape;353;p5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