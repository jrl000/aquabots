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Playfair Display"/>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249BD4F-0858-46B6-BC2E-1600E3F50066}">
  <a:tblStyle styleId="{D249BD4F-0858-46B6-BC2E-1600E3F5006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PlayfairDisplay-regular.fntdata"/><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layfairDisplay-italic.fntdata"/><Relationship Id="rId47" Type="http://schemas.openxmlformats.org/officeDocument/2006/relationships/font" Target="fonts/PlayfairDisplay-bold.fntdata"/><Relationship Id="rId49" Type="http://schemas.openxmlformats.org/officeDocument/2006/relationships/font" Target="fonts/PlayfairDisplay-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49c5a3120_1_3:notes"/>
          <p:cNvSpPr/>
          <p:nvPr>
            <p:ph idx="2" type="sldImg"/>
          </p:nvPr>
        </p:nvSpPr>
        <p:spPr>
          <a:xfrm>
            <a:off x="2143305" y="685415"/>
            <a:ext cx="2572500" cy="3429600"/>
          </a:xfrm>
          <a:custGeom>
            <a:rect b="b" l="l" r="r" t="t"/>
            <a:pathLst>
              <a:path extrusionOk="0" h="120000" w="120000">
                <a:moveTo>
                  <a:pt x="0" y="0"/>
                </a:moveTo>
                <a:lnTo>
                  <a:pt x="120000" y="0"/>
                </a:lnTo>
                <a:lnTo>
                  <a:pt x="120000" y="120000"/>
                </a:lnTo>
                <a:lnTo>
                  <a:pt x="0" y="120000"/>
                </a:lnTo>
                <a:close/>
              </a:path>
            </a:pathLst>
          </a:custGeom>
          <a:noFill/>
          <a:ln cap="flat" cmpd="sng" w="4725">
            <a:solidFill>
              <a:srgbClr val="000000"/>
            </a:solidFill>
            <a:prstDash val="solid"/>
            <a:round/>
            <a:headEnd len="sm" w="sm" type="none"/>
            <a:tailEnd len="sm" w="sm" type="none"/>
          </a:ln>
        </p:spPr>
      </p:sp>
      <p:sp>
        <p:nvSpPr>
          <p:cNvPr id="76" name="Google Shape;76;g3949c5a3120_1_3:notes"/>
          <p:cNvSpPr txBox="1"/>
          <p:nvPr>
            <p:ph idx="1" type="body"/>
          </p:nvPr>
        </p:nvSpPr>
        <p:spPr>
          <a:xfrm>
            <a:off x="685800" y="4343400"/>
            <a:ext cx="5486400" cy="4114800"/>
          </a:xfrm>
          <a:prstGeom prst="rect">
            <a:avLst/>
          </a:prstGeom>
          <a:noFill/>
          <a:ln>
            <a:noFill/>
          </a:ln>
        </p:spPr>
        <p:txBody>
          <a:bodyPr anchorCtr="0" anchor="t" bIns="107525" lIns="107525" spcFirstLastPara="1" rIns="107525" wrap="square" tIns="107525">
            <a:noAutofit/>
          </a:bodyPr>
          <a:lstStyle/>
          <a:p>
            <a:pPr indent="0" lvl="0" marL="0" rtl="0" algn="l">
              <a:lnSpc>
                <a:spcPct val="100000"/>
              </a:lnSpc>
              <a:spcBef>
                <a:spcPts val="0"/>
              </a:spcBef>
              <a:spcAft>
                <a:spcPts val="0"/>
              </a:spcAft>
              <a:buSzPts val="13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47e4820f3_1_5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g3947e4820f3_1_5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228600" marR="0" rtl="0" algn="l">
              <a:lnSpc>
                <a:spcPct val="100000"/>
              </a:lnSpc>
              <a:spcBef>
                <a:spcPts val="0"/>
              </a:spcBef>
              <a:spcAft>
                <a:spcPts val="0"/>
              </a:spcAft>
              <a:buClr>
                <a:srgbClr val="000000"/>
              </a:buClr>
              <a:buSzPts val="1100"/>
              <a:buFont typeface="Arial"/>
              <a:buNone/>
            </a:pPr>
            <a:r>
              <a:rPr lang="en"/>
              <a:t>Jamie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99e7c6a378_0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399e7c6a378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8d624c8a72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8d624c8a72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99e7c6a378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g399e7c6a378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228600" marR="0" rtl="0" algn="l">
              <a:lnSpc>
                <a:spcPct val="100000"/>
              </a:lnSpc>
              <a:spcBef>
                <a:spcPts val="0"/>
              </a:spcBef>
              <a:spcAft>
                <a:spcPts val="0"/>
              </a:spcAft>
              <a:buClr>
                <a:srgbClr val="000000"/>
              </a:buClr>
              <a:buSzPts val="1100"/>
              <a:buFont typeface="Arial"/>
              <a:buNone/>
            </a:pPr>
            <a:r>
              <a:rPr lang="en"/>
              <a:t>Jamie</a:t>
            </a:r>
            <a:endParaRPr/>
          </a:p>
          <a:p>
            <a:pPr indent="0" lvl="0" marL="22860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929ca9f9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3c929ca9f9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9e7c6a378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399e7c6a378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Jamie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58bd2fa92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3d58bd2fa92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Jamie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e5afbfe94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e5afbfe94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8b336c3c3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8b336c3c3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 (Include photo of CAD)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e5794487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de5794487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 (Include photo of CAD)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e4f0f8e5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de4f0f8e5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 - addition of pixhawks, include photo of pixhawk, and integration between ESC/Motor/Prop and ESP32.</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de5afbfe94_3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de5afbfe94_3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 - addition of pixhawks, include photo of pixhawk, and integration between ESC/Motor/Prop and ESP32.</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e252002c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de252002c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Mayra</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58bd2fa9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d58bd2fa9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Kama (ISR CAD left → New CAD right)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de4f0f8e5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de4f0f8e5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Kama (ISR CAD left → New CAD right)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8db8267328_0_5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38db8267328_0_5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8b336c3c3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8b336c3c3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John - </a:t>
            </a:r>
            <a:r>
              <a:rPr lang="en"/>
              <a:t>For this test we wanted to verify the full command chain before putting anything in water. Everything is mounted inside the hull. We used MAVProxy to bridge the Pixhawk serial connection to a UDP port so both the GUI and QGroundControl could talk to it simultaneously. Remote access was through Tailscale so the operator doesn't need to be on the same network as the drone. This is the same setup we'd use in the field.</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de5afbfe9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de5afbfe9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de4f0f8e5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de4f0f8e5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John- </a:t>
            </a:r>
            <a:r>
              <a:rPr lang="en"/>
              <a:t>All the core command and telemetry paths checked out. Motor spins on throttle command, rudder moves on directional input, waypoints upload cleanly and the mission state machine steps through its phases correctly. GPS was locking and all the telemetry (position, heading, speed,Pixhawk status messages) was showing up live in the GUI. We also confirmed full remote operation over Tailscale from an off-site network. What we didn't do is put it in the water, so in-water speed and maneuverability are still outstanding, so that's the only partial pass here.</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de4f0f8e5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de4f0f8e5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John - </a:t>
            </a:r>
            <a:r>
              <a:rPr lang="en"/>
              <a:t>Stability and the sensor display requirements are fully passed. Speed and autonomous navigation are partial passes, the hardware and software are verified, we just haven't done the in-water run to validate actual speed numbers and a live mission. Data relay and display are fully passed with telemetry flowing end to end and showing up correctly in the GUI.</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de5afbfe9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de5afbfe9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de502313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de502313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Mayra</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ca46660a72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ca46660a72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Mayra - Add video with Eddy, Summarize results in bullet points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d5881ae83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d5881ae83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e4f0f8e5a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de4f0f8e5a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Mayra - Add in other </a:t>
            </a:r>
            <a:r>
              <a:rPr lang="en"/>
              <a:t>requirements</a:t>
            </a:r>
            <a:r>
              <a:rPr lang="en"/>
              <a:t> that have been fully/partially verified</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c09163feb9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c09163feb9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This covers the full communication stack that ties the drone to the ground station. MAVProxy handles the Pixhawk side, it owns the serial port and forwards MAVLink packets to QGroundControl for monitoring and to the GUI backend for telemetry. Tailscale gives us the encrypted tunnel so the operator can be anywhere with internet. WebRTC handles the video and the camera stream is working. The ESP-NOW swarm layer is verified seperately</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de4f0f8e5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de4f0f8e5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inter-drone communica</a:t>
            </a:r>
            <a:r>
              <a:rPr lang="en"/>
              <a:t>tion numbers are good, </a:t>
            </a:r>
            <a:r>
              <a:rPr lang="en"/>
              <a:t>we verified sub-5 millisecond round trip, zero packet loss, and automatic peer discovery in under 4 seconds on hardware. That's the ESP32-S3 swarm firmware running on actual nodes. Formation control was verified on hardware  On February 9th, the line and wedge formations confirmed passing. We just need the physical ultrasonic sensors connected to run the hardware test. The only thing on the swarm side that's genuinely not done is the bridge from the ESP32 swarm into the Jetson mission planner so the ground station GUI can drive it directly.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c929ca9f96_0_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g3c929ca9f96_0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Jamie</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de4f0f8e5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de4f0f8e5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Jamie</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8db8267328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g38db8267328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de4f0f8e5a_0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g3de4f0f8e5a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Kama</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de5afbfe9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de5afbfe9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Jamie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99e7c6a378_0_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2" name="Google Shape;402;g399e7c6a378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8db8267328_0_5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8" name="Google Shape;408;g38db8267328_0_5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Robert</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d4d97e527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g3d4d97e527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rPr lang="en"/>
              <a:t>Jamie</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947e4820f3_1_7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g3947e4820f3_1_7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Jamie</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8d624c8a72_0_2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9" name="Google Shape;429;g38d624c8a72_0_2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rPr lang="en"/>
              <a:t>Jamie</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9b880e518d_4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9b880e518d_4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 - what it does, how we’re gonna finish it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9a3e898778_3_262:notes"/>
          <p:cNvSpPr txBox="1"/>
          <p:nvPr>
            <p:ph idx="1" type="body"/>
          </p:nvPr>
        </p:nvSpPr>
        <p:spPr>
          <a:xfrm>
            <a:off x="685800" y="4400550"/>
            <a:ext cx="5486400" cy="3600600"/>
          </a:xfrm>
          <a:prstGeom prst="rect">
            <a:avLst/>
          </a:prstGeom>
          <a:noFill/>
          <a:ln>
            <a:noFill/>
          </a:ln>
        </p:spPr>
        <p:txBody>
          <a:bodyPr anchorCtr="0" anchor="t" bIns="107525" lIns="107525" spcFirstLastPara="1" rIns="107525" wrap="square" tIns="107525">
            <a:noAutofit/>
          </a:bodyPr>
          <a:lstStyle/>
          <a:p>
            <a:pPr indent="0" lvl="0" marL="0" rtl="0" algn="l">
              <a:lnSpc>
                <a:spcPct val="100000"/>
              </a:lnSpc>
              <a:spcBef>
                <a:spcPts val="0"/>
              </a:spcBef>
              <a:spcAft>
                <a:spcPts val="0"/>
              </a:spcAft>
              <a:buSzPts val="1300"/>
              <a:buNone/>
            </a:pPr>
            <a:r>
              <a:rPr lang="en"/>
              <a:t>17</a:t>
            </a:r>
            <a:endParaRPr/>
          </a:p>
        </p:txBody>
      </p:sp>
      <p:sp>
        <p:nvSpPr>
          <p:cNvPr id="442" name="Google Shape;442;g39a3e898778_3_262:notes"/>
          <p:cNvSpPr/>
          <p:nvPr>
            <p:ph idx="2" type="sldImg"/>
          </p:nvPr>
        </p:nvSpPr>
        <p:spPr>
          <a:xfrm>
            <a:off x="2271659" y="1143642"/>
            <a:ext cx="2314800" cy="3085500"/>
          </a:xfrm>
          <a:custGeom>
            <a:rect b="b" l="l" r="r" t="t"/>
            <a:pathLst>
              <a:path extrusionOk="0" h="120000" w="120000">
                <a:moveTo>
                  <a:pt x="0" y="0"/>
                </a:moveTo>
                <a:lnTo>
                  <a:pt x="120000" y="0"/>
                </a:lnTo>
                <a:lnTo>
                  <a:pt x="120000" y="120000"/>
                </a:lnTo>
                <a:lnTo>
                  <a:pt x="0" y="120000"/>
                </a:lnTo>
                <a:close/>
              </a:path>
            </a:pathLst>
          </a:custGeom>
          <a:noFill/>
          <a:ln cap="flat" cmpd="sng" w="47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5.png"/><Relationship Id="rId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Font typeface="Times New Roman"/>
              <a:buNone/>
              <a:defRPr sz="2800">
                <a:latin typeface="Times New Roman"/>
                <a:ea typeface="Times New Roman"/>
                <a:cs typeface="Times New Roman"/>
                <a:sym typeface="Times New Roman"/>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Section Title - No Subtitle" showMasterSp="0">
  <p:cSld name="Blank">
    <p:bg>
      <p:bgPr>
        <a:solidFill>
          <a:srgbClr val="0C343D"/>
        </a:solidFill>
      </p:bgPr>
    </p:bg>
    <p:spTree>
      <p:nvGrpSpPr>
        <p:cNvPr id="50" name="Shape 50"/>
        <p:cNvGrpSpPr/>
        <p:nvPr/>
      </p:nvGrpSpPr>
      <p:grpSpPr>
        <a:xfrm>
          <a:off x="0" y="0"/>
          <a:ext cx="0" cy="0"/>
          <a:chOff x="0" y="0"/>
          <a:chExt cx="0" cy="0"/>
        </a:xfrm>
      </p:grpSpPr>
      <p:sp>
        <p:nvSpPr>
          <p:cNvPr id="51" name="Google Shape;51;p13"/>
          <p:cNvSpPr/>
          <p:nvPr/>
        </p:nvSpPr>
        <p:spPr>
          <a:xfrm>
            <a:off x="4357552" y="2912073"/>
            <a:ext cx="429054" cy="0"/>
          </a:xfrm>
          <a:custGeom>
            <a:rect b="b" l="l" r="r" t="t"/>
            <a:pathLst>
              <a:path extrusionOk="0" h="120000" w="942975">
                <a:moveTo>
                  <a:pt x="0" y="0"/>
                </a:moveTo>
                <a:lnTo>
                  <a:pt x="942379" y="0"/>
                </a:lnTo>
              </a:path>
            </a:pathLst>
          </a:custGeom>
          <a:noFill/>
          <a:ln cap="flat" cmpd="sng" w="34650">
            <a:solidFill>
              <a:srgbClr val="BD203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pic>
        <p:nvPicPr>
          <p:cNvPr id="52" name="Google Shape;52;p13"/>
          <p:cNvPicPr preferRelativeResize="0"/>
          <p:nvPr/>
        </p:nvPicPr>
        <p:blipFill rotWithShape="1">
          <a:blip r:embed="rId2">
            <a:alphaModFix/>
          </a:blip>
          <a:srcRect b="0" l="0" r="0" t="0"/>
          <a:stretch/>
        </p:blipFill>
        <p:spPr>
          <a:xfrm>
            <a:off x="6345482" y="4225822"/>
            <a:ext cx="2169721" cy="511726"/>
          </a:xfrm>
          <a:prstGeom prst="rect">
            <a:avLst/>
          </a:prstGeom>
          <a:noFill/>
          <a:ln>
            <a:noFill/>
          </a:ln>
        </p:spPr>
      </p:pic>
      <p:sp>
        <p:nvSpPr>
          <p:cNvPr id="53" name="Google Shape;53;p13"/>
          <p:cNvSpPr/>
          <p:nvPr/>
        </p:nvSpPr>
        <p:spPr>
          <a:xfrm>
            <a:off x="0" y="45"/>
            <a:ext cx="317100" cy="5143500"/>
          </a:xfrm>
          <a:prstGeom prst="rect">
            <a:avLst/>
          </a:prstGeom>
          <a:solidFill>
            <a:schemeClr val="dk2"/>
          </a:solidFill>
          <a:ln>
            <a:noFill/>
          </a:ln>
        </p:spPr>
        <p:txBody>
          <a:bodyPr anchorCtr="0" anchor="ctr" bIns="41575" lIns="41575" spcFirstLastPara="1" rIns="41575" wrap="square" tIns="4157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54" name="Google Shape;54;p13"/>
          <p:cNvSpPr/>
          <p:nvPr/>
        </p:nvSpPr>
        <p:spPr>
          <a:xfrm>
            <a:off x="223073" y="0"/>
            <a:ext cx="34800" cy="5143500"/>
          </a:xfrm>
          <a:prstGeom prst="rect">
            <a:avLst/>
          </a:prstGeom>
          <a:solidFill>
            <a:schemeClr val="lt1"/>
          </a:solidFill>
          <a:ln>
            <a:noFill/>
          </a:ln>
        </p:spPr>
        <p:txBody>
          <a:bodyPr anchorCtr="0" anchor="ctr" bIns="41575" lIns="41575" spcFirstLastPara="1" rIns="41575" wrap="square" tIns="4157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55" name="Google Shape;55;p13"/>
          <p:cNvSpPr txBox="1"/>
          <p:nvPr>
            <p:ph type="title"/>
          </p:nvPr>
        </p:nvSpPr>
        <p:spPr>
          <a:xfrm>
            <a:off x="628676" y="1975381"/>
            <a:ext cx="7886700" cy="739200"/>
          </a:xfrm>
          <a:prstGeom prst="rect">
            <a:avLst/>
          </a:prstGeom>
          <a:noFill/>
          <a:ln>
            <a:noFill/>
          </a:ln>
        </p:spPr>
        <p:txBody>
          <a:bodyPr anchorCtr="0" anchor="t" bIns="41575" lIns="41575" spcFirstLastPara="1" rIns="41575" wrap="square" tIns="41575">
            <a:noAutofit/>
          </a:bodyPr>
          <a:lstStyle>
            <a:lvl1pPr lvl="0"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1pPr>
            <a:lvl2pPr lvl="1"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2pPr>
            <a:lvl3pPr lvl="2"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3pPr>
            <a:lvl4pPr lvl="3"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4pPr>
            <a:lvl5pPr lvl="4"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5pPr>
            <a:lvl6pPr lvl="5"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6pPr>
            <a:lvl7pPr lvl="6"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7pPr>
            <a:lvl8pPr lvl="7"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8pPr>
            <a:lvl9pPr lvl="8"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9pPr>
          </a:lstStyle>
          <a:p/>
        </p:txBody>
      </p:sp>
      <p:sp>
        <p:nvSpPr>
          <p:cNvPr id="56" name="Google Shape;56;p1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57" name="Shape 57"/>
        <p:cNvGrpSpPr/>
        <p:nvPr/>
      </p:nvGrpSpPr>
      <p:grpSpPr>
        <a:xfrm>
          <a:off x="0" y="0"/>
          <a:ext cx="0" cy="0"/>
          <a:chOff x="0" y="0"/>
          <a:chExt cx="0" cy="0"/>
        </a:xfrm>
      </p:grpSpPr>
      <p:pic>
        <p:nvPicPr>
          <p:cNvPr id="58" name="Google Shape;58;p14"/>
          <p:cNvPicPr preferRelativeResize="0"/>
          <p:nvPr/>
        </p:nvPicPr>
        <p:blipFill rotWithShape="1">
          <a:blip r:embed="rId2">
            <a:alphaModFix/>
          </a:blip>
          <a:srcRect b="0" l="0" r="0" t="0"/>
          <a:stretch/>
        </p:blipFill>
        <p:spPr>
          <a:xfrm>
            <a:off x="4305158" y="4444583"/>
            <a:ext cx="533682" cy="500533"/>
          </a:xfrm>
          <a:prstGeom prst="rect">
            <a:avLst/>
          </a:prstGeom>
          <a:noFill/>
          <a:ln>
            <a:noFill/>
          </a:ln>
        </p:spPr>
      </p:pic>
      <p:sp>
        <p:nvSpPr>
          <p:cNvPr id="59" name="Google Shape;59;p14"/>
          <p:cNvSpPr/>
          <p:nvPr/>
        </p:nvSpPr>
        <p:spPr>
          <a:xfrm>
            <a:off x="-5" y="4804350"/>
            <a:ext cx="4154400" cy="45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 name="Google Shape;60;p14"/>
          <p:cNvSpPr/>
          <p:nvPr/>
        </p:nvSpPr>
        <p:spPr>
          <a:xfrm>
            <a:off x="4968545" y="4804350"/>
            <a:ext cx="4154400" cy="45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 name="Google Shape;61;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7">
    <p:spTree>
      <p:nvGrpSpPr>
        <p:cNvPr id="62" name="Shape 62"/>
        <p:cNvGrpSpPr/>
        <p:nvPr/>
      </p:nvGrpSpPr>
      <p:grpSpPr>
        <a:xfrm>
          <a:off x="0" y="0"/>
          <a:ext cx="0" cy="0"/>
          <a:chOff x="0" y="0"/>
          <a:chExt cx="0" cy="0"/>
        </a:xfrm>
      </p:grpSpPr>
      <p:pic>
        <p:nvPicPr>
          <p:cNvPr id="63" name="Google Shape;63;p15"/>
          <p:cNvPicPr preferRelativeResize="0"/>
          <p:nvPr/>
        </p:nvPicPr>
        <p:blipFill rotWithShape="1">
          <a:blip r:embed="rId2">
            <a:alphaModFix/>
          </a:blip>
          <a:srcRect b="0" l="0" r="0" t="0"/>
          <a:stretch/>
        </p:blipFill>
        <p:spPr>
          <a:xfrm>
            <a:off x="4305158" y="4444583"/>
            <a:ext cx="533682" cy="500533"/>
          </a:xfrm>
          <a:prstGeom prst="rect">
            <a:avLst/>
          </a:prstGeom>
          <a:noFill/>
          <a:ln>
            <a:noFill/>
          </a:ln>
        </p:spPr>
      </p:pic>
      <p:sp>
        <p:nvSpPr>
          <p:cNvPr id="64" name="Google Shape;64;p15"/>
          <p:cNvSpPr/>
          <p:nvPr/>
        </p:nvSpPr>
        <p:spPr>
          <a:xfrm>
            <a:off x="-5" y="4804350"/>
            <a:ext cx="4154400" cy="45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 name="Google Shape;65;p15"/>
          <p:cNvSpPr/>
          <p:nvPr/>
        </p:nvSpPr>
        <p:spPr>
          <a:xfrm>
            <a:off x="4968545" y="4804350"/>
            <a:ext cx="4154400" cy="45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6" name="Google Shape;66;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CUSTOM_1">
    <p:spTree>
      <p:nvGrpSpPr>
        <p:cNvPr id="67" name="Shape 67"/>
        <p:cNvGrpSpPr/>
        <p:nvPr/>
      </p:nvGrpSpPr>
      <p:grpSpPr>
        <a:xfrm>
          <a:off x="0" y="0"/>
          <a:ext cx="0" cy="0"/>
          <a:chOff x="0" y="0"/>
          <a:chExt cx="0" cy="0"/>
        </a:xfrm>
      </p:grpSpPr>
      <p:pic>
        <p:nvPicPr>
          <p:cNvPr id="68" name="Google Shape;68;p16"/>
          <p:cNvPicPr preferRelativeResize="0"/>
          <p:nvPr/>
        </p:nvPicPr>
        <p:blipFill rotWithShape="1">
          <a:blip r:embed="rId2">
            <a:alphaModFix amt="70000"/>
          </a:blip>
          <a:srcRect b="0" l="0" r="0" t="0"/>
          <a:stretch/>
        </p:blipFill>
        <p:spPr>
          <a:xfrm>
            <a:off x="-3555174" y="-2077542"/>
            <a:ext cx="7790113" cy="7790119"/>
          </a:xfrm>
          <a:prstGeom prst="rect">
            <a:avLst/>
          </a:prstGeom>
          <a:noFill/>
          <a:ln>
            <a:noFill/>
          </a:ln>
        </p:spPr>
      </p:pic>
      <p:pic>
        <p:nvPicPr>
          <p:cNvPr id="69" name="Google Shape;69;p16"/>
          <p:cNvPicPr preferRelativeResize="0"/>
          <p:nvPr/>
        </p:nvPicPr>
        <p:blipFill rotWithShape="1">
          <a:blip r:embed="rId3">
            <a:alphaModFix amt="70000"/>
          </a:blip>
          <a:srcRect b="0" l="0" r="0" t="0"/>
          <a:stretch/>
        </p:blipFill>
        <p:spPr>
          <a:xfrm>
            <a:off x="3193482" y="-2508771"/>
            <a:ext cx="8325150" cy="8325150"/>
          </a:xfrm>
          <a:prstGeom prst="rect">
            <a:avLst/>
          </a:prstGeom>
          <a:noFill/>
          <a:ln>
            <a:noFill/>
          </a:ln>
        </p:spPr>
      </p:pic>
      <p:sp>
        <p:nvSpPr>
          <p:cNvPr id="70" name="Google Shape;70;p16"/>
          <p:cNvSpPr/>
          <p:nvPr/>
        </p:nvSpPr>
        <p:spPr>
          <a:xfrm>
            <a:off x="4357552" y="2912073"/>
            <a:ext cx="429054" cy="0"/>
          </a:xfrm>
          <a:custGeom>
            <a:rect b="b" l="l" r="r" t="t"/>
            <a:pathLst>
              <a:path extrusionOk="0" h="120000" w="942975">
                <a:moveTo>
                  <a:pt x="0" y="0"/>
                </a:moveTo>
                <a:lnTo>
                  <a:pt x="942379" y="0"/>
                </a:lnTo>
              </a:path>
            </a:pathLst>
          </a:custGeom>
          <a:noFill/>
          <a:ln cap="flat" cmpd="sng" w="34650">
            <a:solidFill>
              <a:srgbClr val="BD203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pic>
        <p:nvPicPr>
          <p:cNvPr id="71" name="Google Shape;71;p16"/>
          <p:cNvPicPr preferRelativeResize="0"/>
          <p:nvPr/>
        </p:nvPicPr>
        <p:blipFill rotWithShape="1">
          <a:blip r:embed="rId4">
            <a:alphaModFix/>
          </a:blip>
          <a:srcRect b="0" l="0" r="0" t="0"/>
          <a:stretch/>
        </p:blipFill>
        <p:spPr>
          <a:xfrm>
            <a:off x="6345482" y="4225822"/>
            <a:ext cx="2169721" cy="511726"/>
          </a:xfrm>
          <a:prstGeom prst="rect">
            <a:avLst/>
          </a:prstGeom>
          <a:noFill/>
          <a:ln>
            <a:noFill/>
          </a:ln>
        </p:spPr>
      </p:pic>
      <p:sp>
        <p:nvSpPr>
          <p:cNvPr id="72" name="Google Shape;72;p16"/>
          <p:cNvSpPr txBox="1"/>
          <p:nvPr>
            <p:ph type="title"/>
          </p:nvPr>
        </p:nvSpPr>
        <p:spPr>
          <a:xfrm>
            <a:off x="628676" y="1975381"/>
            <a:ext cx="7886700" cy="739200"/>
          </a:xfrm>
          <a:prstGeom prst="rect">
            <a:avLst/>
          </a:prstGeom>
          <a:noFill/>
          <a:ln>
            <a:noFill/>
          </a:ln>
        </p:spPr>
        <p:txBody>
          <a:bodyPr anchorCtr="0" anchor="t" bIns="41575" lIns="41575" spcFirstLastPara="1" rIns="41575" wrap="square" tIns="41575">
            <a:noAutofit/>
          </a:bodyPr>
          <a:lstStyle>
            <a:lvl1pPr lvl="0"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1pPr>
            <a:lvl2pPr lvl="1"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2pPr>
            <a:lvl3pPr lvl="2"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3pPr>
            <a:lvl4pPr lvl="3"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4pPr>
            <a:lvl5pPr lvl="4"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5pPr>
            <a:lvl6pPr lvl="5"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6pPr>
            <a:lvl7pPr lvl="6"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7pPr>
            <a:lvl8pPr lvl="7"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8pPr>
            <a:lvl9pPr lvl="8"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9pPr>
          </a:lstStyle>
          <a:p/>
        </p:txBody>
      </p:sp>
      <p:sp>
        <p:nvSpPr>
          <p:cNvPr id="73" name="Google Shape;73;p1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0172F">
            <a:alpha val="89940"/>
          </a:srgbClr>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chemeClr val="dk1"/>
              </a:buClr>
              <a:buSzPts val="2800"/>
              <a:buFont typeface="Times New Roman"/>
              <a:buNone/>
              <a:defRPr sz="2800">
                <a:solidFill>
                  <a:schemeClr val="dk1"/>
                </a:solidFill>
                <a:latin typeface="Times New Roman"/>
                <a:ea typeface="Times New Roman"/>
                <a:cs typeface="Times New Roman"/>
                <a:sym typeface="Times New Roman"/>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2.jpg"/><Relationship Id="rId4" Type="http://schemas.openxmlformats.org/officeDocument/2006/relationships/hyperlink" Target="http://drive.google.com/file/d/1l48bT5yDcgXe_R7dkwnQPu_x5NuQbzue/view" TargetMode="External"/><Relationship Id="rId5" Type="http://schemas.openxmlformats.org/officeDocument/2006/relationships/image" Target="../media/image1.jpg"/><Relationship Id="rId6" Type="http://schemas.openxmlformats.org/officeDocument/2006/relationships/image" Target="../media/image9.png"/><Relationship Id="rId7"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30.png"/><Relationship Id="rId5"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hyperlink" Target="http://drive.google.com/file/d/19CbDSSiVdCOxCfsxHyfpgUmA1fVVtT_G/view" TargetMode="External"/><Relationship Id="rId4" Type="http://schemas.openxmlformats.org/officeDocument/2006/relationships/image" Target="../media/image23.jpg"/><Relationship Id="rId5" Type="http://schemas.openxmlformats.org/officeDocument/2006/relationships/hyperlink" Target="http://drive.google.com/file/d/1TmHBdrGk5yuu_PJ0j43FHXHCRCZErLDe/view" TargetMode="External"/><Relationship Id="rId6" Type="http://schemas.openxmlformats.org/officeDocument/2006/relationships/image" Target="../media/image2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hyperlink" Target="http://100.67.1.26"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hyperlink" Target="http://drive.google.com/file/d/1Eiq8S5XXmrSuUg-G0ZGXRnHwR0tOvHUI/view" TargetMode="Externa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38.png"/><Relationship Id="rId4" Type="http://schemas.openxmlformats.org/officeDocument/2006/relationships/hyperlink" Target="http://drive.google.com/file/d/124Nh2tPBcaNU1RTnaNWB_xLQ4SWeDqEb/view" TargetMode="External"/><Relationship Id="rId5" Type="http://schemas.openxmlformats.org/officeDocument/2006/relationships/image" Target="../media/image25.jpg"/><Relationship Id="rId6"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34.png"/><Relationship Id="rId4" Type="http://schemas.openxmlformats.org/officeDocument/2006/relationships/image" Target="../media/image36.png"/><Relationship Id="rId5" Type="http://schemas.openxmlformats.org/officeDocument/2006/relationships/image" Target="../media/image29.png"/><Relationship Id="rId6" Type="http://schemas.openxmlformats.org/officeDocument/2006/relationships/image" Target="../media/image31.png"/><Relationship Id="rId7" Type="http://schemas.openxmlformats.org/officeDocument/2006/relationships/image" Target="../media/image3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28.png"/><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7" name="Shape 77"/>
        <p:cNvGrpSpPr/>
        <p:nvPr/>
      </p:nvGrpSpPr>
      <p:grpSpPr>
        <a:xfrm>
          <a:off x="0" y="0"/>
          <a:ext cx="0" cy="0"/>
          <a:chOff x="0" y="0"/>
          <a:chExt cx="0" cy="0"/>
        </a:xfrm>
      </p:grpSpPr>
      <p:sp>
        <p:nvSpPr>
          <p:cNvPr id="78" name="Google Shape;78;p17"/>
          <p:cNvSpPr/>
          <p:nvPr/>
        </p:nvSpPr>
        <p:spPr>
          <a:xfrm>
            <a:off x="0" y="0"/>
            <a:ext cx="1200" cy="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7"/>
          <p:cNvSpPr txBox="1"/>
          <p:nvPr>
            <p:ph type="title"/>
          </p:nvPr>
        </p:nvSpPr>
        <p:spPr>
          <a:xfrm>
            <a:off x="297700" y="898400"/>
            <a:ext cx="8664600" cy="2206500"/>
          </a:xfrm>
          <a:prstGeom prst="rect">
            <a:avLst/>
          </a:prstGeom>
          <a:noFill/>
          <a:ln>
            <a:noFill/>
          </a:ln>
        </p:spPr>
        <p:txBody>
          <a:bodyPr anchorCtr="0" anchor="t" bIns="41575" lIns="41575" spcFirstLastPara="1" rIns="41575" wrap="square" tIns="41575">
            <a:noAutofit/>
          </a:bodyPr>
          <a:lstStyle/>
          <a:p>
            <a:pPr indent="0" lvl="0" marL="0" rtl="0" algn="ctr">
              <a:lnSpc>
                <a:spcPct val="100000"/>
              </a:lnSpc>
              <a:spcBef>
                <a:spcPts val="0"/>
              </a:spcBef>
              <a:spcAft>
                <a:spcPts val="0"/>
              </a:spcAft>
              <a:buSzPts val="4400"/>
              <a:buNone/>
            </a:pPr>
            <a:r>
              <a:rPr lang="en" sz="5400">
                <a:latin typeface="Times"/>
                <a:ea typeface="Times"/>
                <a:cs typeface="Times"/>
                <a:sym typeface="Times"/>
              </a:rPr>
              <a:t>AQUABOTS Aeropak</a:t>
            </a:r>
            <a:endParaRPr sz="5400">
              <a:latin typeface="Times"/>
              <a:ea typeface="Times"/>
              <a:cs typeface="Times"/>
              <a:sym typeface="Times"/>
            </a:endParaRPr>
          </a:p>
          <a:p>
            <a:pPr indent="0" lvl="0" marL="0" rtl="0" algn="ctr">
              <a:lnSpc>
                <a:spcPct val="100000"/>
              </a:lnSpc>
              <a:spcBef>
                <a:spcPts val="0"/>
              </a:spcBef>
              <a:spcAft>
                <a:spcPts val="0"/>
              </a:spcAft>
              <a:buSzPts val="4400"/>
              <a:buNone/>
            </a:pPr>
            <a:r>
              <a:t/>
            </a:r>
            <a:endParaRPr sz="1900">
              <a:latin typeface="Times"/>
              <a:ea typeface="Times"/>
              <a:cs typeface="Times"/>
              <a:sym typeface="Times"/>
            </a:endParaRPr>
          </a:p>
          <a:p>
            <a:pPr indent="0" lvl="0" marL="0" rtl="0" algn="ctr">
              <a:lnSpc>
                <a:spcPct val="100000"/>
              </a:lnSpc>
              <a:spcBef>
                <a:spcPts val="0"/>
              </a:spcBef>
              <a:spcAft>
                <a:spcPts val="0"/>
              </a:spcAft>
              <a:buSzPts val="4400"/>
              <a:buNone/>
            </a:pPr>
            <a:r>
              <a:rPr lang="en" sz="3800">
                <a:latin typeface="Times"/>
                <a:ea typeface="Times"/>
                <a:cs typeface="Times"/>
                <a:sym typeface="Times"/>
              </a:rPr>
              <a:t>Final Acceptance Review</a:t>
            </a:r>
            <a:endParaRPr sz="3800">
              <a:latin typeface="Times"/>
              <a:ea typeface="Times"/>
              <a:cs typeface="Times"/>
              <a:sym typeface="Times"/>
            </a:endParaRPr>
          </a:p>
        </p:txBody>
      </p:sp>
      <p:sp>
        <p:nvSpPr>
          <p:cNvPr id="80" name="Google Shape;80;p17"/>
          <p:cNvSpPr txBox="1"/>
          <p:nvPr/>
        </p:nvSpPr>
        <p:spPr>
          <a:xfrm>
            <a:off x="3532800" y="3316275"/>
            <a:ext cx="2078400" cy="44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Playfair Display"/>
                <a:ea typeface="Playfair Display"/>
                <a:cs typeface="Playfair Display"/>
                <a:sym typeface="Playfair Display"/>
              </a:rPr>
              <a:t>Team 26061</a:t>
            </a:r>
            <a:endParaRPr sz="2000">
              <a:solidFill>
                <a:schemeClr val="dk2"/>
              </a:solidFill>
              <a:latin typeface="Playfair Display"/>
              <a:ea typeface="Playfair Display"/>
              <a:cs typeface="Playfair Display"/>
              <a:sym typeface="Playfair Display"/>
            </a:endParaRPr>
          </a:p>
        </p:txBody>
      </p:sp>
      <p:sp>
        <p:nvSpPr>
          <p:cNvPr id="81" name="Google Shape;81;p1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85" name="Shape 85"/>
        <p:cNvGrpSpPr/>
        <p:nvPr/>
      </p:nvGrpSpPr>
      <p:grpSpPr>
        <a:xfrm>
          <a:off x="0" y="0"/>
          <a:ext cx="0" cy="0"/>
          <a:chOff x="0" y="0"/>
          <a:chExt cx="0" cy="0"/>
        </a:xfrm>
      </p:grpSpPr>
      <p:sp>
        <p:nvSpPr>
          <p:cNvPr id="86" name="Google Shape;86;p18"/>
          <p:cNvSpPr txBox="1"/>
          <p:nvPr/>
        </p:nvSpPr>
        <p:spPr>
          <a:xfrm>
            <a:off x="3435900" y="210008"/>
            <a:ext cx="2272200" cy="525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Calibri"/>
              <a:buNone/>
            </a:pPr>
            <a:r>
              <a:rPr b="1" lang="en" sz="3000">
                <a:solidFill>
                  <a:srgbClr val="FFFFFF"/>
                </a:solidFill>
                <a:latin typeface="Times"/>
                <a:ea typeface="Times"/>
                <a:cs typeface="Times"/>
                <a:sym typeface="Times"/>
              </a:rPr>
              <a:t>Overview</a:t>
            </a:r>
            <a:endParaRPr b="1" i="0" sz="3000" u="none" cap="none" strike="noStrike">
              <a:solidFill>
                <a:srgbClr val="FFFFFF"/>
              </a:solidFill>
              <a:latin typeface="Times"/>
              <a:ea typeface="Times"/>
              <a:cs typeface="Times"/>
              <a:sym typeface="Times"/>
            </a:endParaRPr>
          </a:p>
          <a:p>
            <a:pPr indent="0" lvl="0" marL="0" marR="0" rtl="0" algn="l">
              <a:lnSpc>
                <a:spcPct val="75000"/>
              </a:lnSpc>
              <a:spcBef>
                <a:spcPts val="0"/>
              </a:spcBef>
              <a:spcAft>
                <a:spcPts val="0"/>
              </a:spcAft>
              <a:buClr>
                <a:srgbClr val="000000"/>
              </a:buClr>
              <a:buSzPts val="1800"/>
              <a:buFont typeface="Arial"/>
              <a:buNone/>
            </a:pPr>
            <a:r>
              <a:t/>
            </a:r>
            <a:endParaRPr i="0" sz="1800" u="none" cap="none" strike="noStrike">
              <a:solidFill>
                <a:srgbClr val="FFFFFF"/>
              </a:solidFill>
              <a:latin typeface="Times"/>
              <a:ea typeface="Times"/>
              <a:cs typeface="Times"/>
              <a:sym typeface="Times"/>
            </a:endParaRPr>
          </a:p>
        </p:txBody>
      </p:sp>
      <p:sp>
        <p:nvSpPr>
          <p:cNvPr id="87" name="Google Shape;87;p18"/>
          <p:cNvSpPr txBox="1"/>
          <p:nvPr/>
        </p:nvSpPr>
        <p:spPr>
          <a:xfrm>
            <a:off x="1174000" y="742941"/>
            <a:ext cx="3657600" cy="36576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0"/>
              </a:spcBef>
              <a:spcAft>
                <a:spcPts val="0"/>
              </a:spcAft>
              <a:buNone/>
            </a:pPr>
            <a:r>
              <a:rPr lang="en" sz="1900">
                <a:solidFill>
                  <a:schemeClr val="lt1"/>
                </a:solidFill>
                <a:latin typeface="Times New Roman"/>
                <a:ea typeface="Times New Roman"/>
                <a:cs typeface="Times New Roman"/>
                <a:sym typeface="Times New Roman"/>
              </a:rPr>
              <a:t>1.0 </a:t>
            </a:r>
            <a:r>
              <a:rPr lang="en" sz="1900">
                <a:solidFill>
                  <a:schemeClr val="lt1"/>
                </a:solidFill>
                <a:latin typeface="Times New Roman"/>
                <a:ea typeface="Times New Roman"/>
                <a:cs typeface="Times New Roman"/>
                <a:sym typeface="Times New Roman"/>
              </a:rPr>
              <a:t>Introduction</a:t>
            </a:r>
            <a:endParaRPr sz="1900">
              <a:solidFill>
                <a:schemeClr val="lt1"/>
              </a:solidFill>
              <a:latin typeface="Times New Roman"/>
              <a:ea typeface="Times New Roman"/>
              <a:cs typeface="Times New Roman"/>
              <a:sym typeface="Times New Roman"/>
            </a:endParaRPr>
          </a:p>
          <a:p>
            <a:pPr indent="0" lvl="0" marL="0" rtl="0" algn="l">
              <a:lnSpc>
                <a:spcPct val="150000"/>
              </a:lnSpc>
              <a:spcBef>
                <a:spcPts val="320"/>
              </a:spcBef>
              <a:spcAft>
                <a:spcPts val="0"/>
              </a:spcAft>
              <a:buNone/>
            </a:pPr>
            <a:r>
              <a:rPr lang="en" sz="1900">
                <a:solidFill>
                  <a:schemeClr val="lt1"/>
                </a:solidFill>
                <a:latin typeface="Times New Roman"/>
                <a:ea typeface="Times New Roman"/>
                <a:cs typeface="Times New Roman"/>
                <a:sym typeface="Times New Roman"/>
              </a:rPr>
              <a:t>2.0 Post-ISR Changes </a:t>
            </a:r>
            <a:endParaRPr sz="1900">
              <a:solidFill>
                <a:schemeClr val="lt1"/>
              </a:solidFill>
              <a:latin typeface="Times New Roman"/>
              <a:ea typeface="Times New Roman"/>
              <a:cs typeface="Times New Roman"/>
              <a:sym typeface="Times New Roman"/>
            </a:endParaRPr>
          </a:p>
          <a:p>
            <a:pPr indent="0" lvl="0" marL="0" rtl="0" algn="l">
              <a:lnSpc>
                <a:spcPct val="150000"/>
              </a:lnSpc>
              <a:spcBef>
                <a:spcPts val="320"/>
              </a:spcBef>
              <a:spcAft>
                <a:spcPts val="0"/>
              </a:spcAft>
              <a:buNone/>
            </a:pPr>
            <a:r>
              <a:rPr lang="en" sz="1900">
                <a:solidFill>
                  <a:schemeClr val="lt1"/>
                </a:solidFill>
                <a:latin typeface="Times New Roman"/>
                <a:ea typeface="Times New Roman"/>
                <a:cs typeface="Times New Roman"/>
                <a:sym typeface="Times New Roman"/>
              </a:rPr>
              <a:t>3.0 Verification Results</a:t>
            </a:r>
            <a:endParaRPr sz="1900">
              <a:solidFill>
                <a:schemeClr val="lt1"/>
              </a:solidFill>
              <a:latin typeface="Times New Roman"/>
              <a:ea typeface="Times New Roman"/>
              <a:cs typeface="Times New Roman"/>
              <a:sym typeface="Times New Roman"/>
            </a:endParaRPr>
          </a:p>
          <a:p>
            <a:pPr indent="0" lvl="0" marL="0" rtl="0" algn="l">
              <a:lnSpc>
                <a:spcPct val="150000"/>
              </a:lnSpc>
              <a:spcBef>
                <a:spcPts val="320"/>
              </a:spcBef>
              <a:spcAft>
                <a:spcPts val="0"/>
              </a:spcAft>
              <a:buNone/>
            </a:pPr>
            <a:r>
              <a:rPr lang="en" sz="1900">
                <a:solidFill>
                  <a:schemeClr val="lt1"/>
                </a:solidFill>
                <a:latin typeface="Times New Roman"/>
                <a:ea typeface="Times New Roman"/>
                <a:cs typeface="Times New Roman"/>
                <a:sym typeface="Times New Roman"/>
              </a:rPr>
              <a:t>4.0 Lessons Learned &amp; Next Steps</a:t>
            </a:r>
            <a:endParaRPr sz="1900">
              <a:solidFill>
                <a:schemeClr val="lt1"/>
              </a:solidFill>
              <a:latin typeface="Times New Roman"/>
              <a:ea typeface="Times New Roman"/>
              <a:cs typeface="Times New Roman"/>
              <a:sym typeface="Times New Roman"/>
            </a:endParaRPr>
          </a:p>
          <a:p>
            <a:pPr indent="0" lvl="0" marL="0" rtl="0" algn="l">
              <a:lnSpc>
                <a:spcPct val="150000"/>
              </a:lnSpc>
              <a:spcBef>
                <a:spcPts val="320"/>
              </a:spcBef>
              <a:spcAft>
                <a:spcPts val="0"/>
              </a:spcAft>
              <a:buNone/>
            </a:pPr>
            <a:r>
              <a:rPr lang="en" sz="1900">
                <a:solidFill>
                  <a:schemeClr val="lt1"/>
                </a:solidFill>
                <a:latin typeface="Times New Roman"/>
                <a:ea typeface="Times New Roman"/>
                <a:cs typeface="Times New Roman"/>
                <a:sym typeface="Times New Roman"/>
              </a:rPr>
              <a:t>5.0 Budget</a:t>
            </a:r>
            <a:endParaRPr sz="1900">
              <a:solidFill>
                <a:schemeClr val="lt1"/>
              </a:solidFill>
              <a:latin typeface="Times New Roman"/>
              <a:ea typeface="Times New Roman"/>
              <a:cs typeface="Times New Roman"/>
              <a:sym typeface="Times New Roman"/>
            </a:endParaRPr>
          </a:p>
          <a:p>
            <a:pPr indent="0" lvl="0" marL="0" rtl="0" algn="l">
              <a:lnSpc>
                <a:spcPct val="150000"/>
              </a:lnSpc>
              <a:spcBef>
                <a:spcPts val="320"/>
              </a:spcBef>
              <a:spcAft>
                <a:spcPts val="0"/>
              </a:spcAft>
              <a:buClr>
                <a:schemeClr val="dk1"/>
              </a:buClr>
              <a:buSzPts val="1100"/>
              <a:buFont typeface="Arial"/>
              <a:buNone/>
            </a:pPr>
            <a:r>
              <a:rPr lang="en" sz="1900">
                <a:solidFill>
                  <a:schemeClr val="lt1"/>
                </a:solidFill>
                <a:latin typeface="Times New Roman"/>
                <a:ea typeface="Times New Roman"/>
                <a:cs typeface="Times New Roman"/>
                <a:sym typeface="Times New Roman"/>
              </a:rPr>
              <a:t>6.0 Deliverables</a:t>
            </a:r>
            <a:endParaRPr sz="1900">
              <a:solidFill>
                <a:schemeClr val="lt1"/>
              </a:solidFill>
              <a:latin typeface="Times New Roman"/>
              <a:ea typeface="Times New Roman"/>
              <a:cs typeface="Times New Roman"/>
              <a:sym typeface="Times New Roman"/>
            </a:endParaRPr>
          </a:p>
          <a:p>
            <a:pPr indent="0" lvl="0" marL="0" rtl="0" algn="l">
              <a:lnSpc>
                <a:spcPct val="150000"/>
              </a:lnSpc>
              <a:spcBef>
                <a:spcPts val="320"/>
              </a:spcBef>
              <a:spcAft>
                <a:spcPts val="0"/>
              </a:spcAft>
              <a:buNone/>
            </a:pPr>
            <a:r>
              <a:rPr lang="en" sz="1900">
                <a:solidFill>
                  <a:schemeClr val="lt1"/>
                </a:solidFill>
                <a:latin typeface="Times New Roman"/>
                <a:ea typeface="Times New Roman"/>
                <a:cs typeface="Times New Roman"/>
                <a:sym typeface="Times New Roman"/>
              </a:rPr>
              <a:t>7.0 Summary</a:t>
            </a:r>
            <a:endParaRPr sz="1900">
              <a:solidFill>
                <a:schemeClr val="lt1"/>
              </a:solidFill>
              <a:latin typeface="Times New Roman"/>
              <a:ea typeface="Times New Roman"/>
              <a:cs typeface="Times New Roman"/>
              <a:sym typeface="Times New Roman"/>
            </a:endParaRPr>
          </a:p>
          <a:p>
            <a:pPr indent="0" lvl="0" marL="0" rtl="0" algn="l">
              <a:lnSpc>
                <a:spcPct val="115000"/>
              </a:lnSpc>
              <a:spcBef>
                <a:spcPts val="320"/>
              </a:spcBef>
              <a:spcAft>
                <a:spcPts val="0"/>
              </a:spcAft>
              <a:buNone/>
            </a:pPr>
            <a:r>
              <a:t/>
            </a:r>
            <a:endParaRPr sz="1200">
              <a:solidFill>
                <a:schemeClr val="lt1"/>
              </a:solidFill>
              <a:latin typeface="Times New Roman"/>
              <a:ea typeface="Times New Roman"/>
              <a:cs typeface="Times New Roman"/>
              <a:sym typeface="Times New Roman"/>
            </a:endParaRPr>
          </a:p>
        </p:txBody>
      </p:sp>
      <p:sp>
        <p:nvSpPr>
          <p:cNvPr id="88" name="Google Shape;88;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92" name="Shape 92"/>
        <p:cNvGrpSpPr/>
        <p:nvPr/>
      </p:nvGrpSpPr>
      <p:grpSpPr>
        <a:xfrm>
          <a:off x="0" y="0"/>
          <a:ext cx="0" cy="0"/>
          <a:chOff x="0" y="0"/>
          <a:chExt cx="0" cy="0"/>
        </a:xfrm>
      </p:grpSpPr>
      <p:sp>
        <p:nvSpPr>
          <p:cNvPr id="93" name="Google Shape;93;p19"/>
          <p:cNvSpPr txBox="1"/>
          <p:nvPr/>
        </p:nvSpPr>
        <p:spPr>
          <a:xfrm>
            <a:off x="696900" y="1980300"/>
            <a:ext cx="7750200" cy="8265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5000">
                <a:solidFill>
                  <a:srgbClr val="FFFFFF"/>
                </a:solidFill>
                <a:latin typeface="Times"/>
                <a:ea typeface="Times"/>
                <a:cs typeface="Times"/>
                <a:sym typeface="Times"/>
              </a:rPr>
              <a:t>Introduction</a:t>
            </a:r>
            <a:endParaRPr b="1" sz="5000">
              <a:solidFill>
                <a:srgbClr val="FFFFFF"/>
              </a:solidFill>
              <a:latin typeface="Times"/>
              <a:ea typeface="Times"/>
              <a:cs typeface="Times"/>
              <a:sym typeface="Times"/>
            </a:endParaRPr>
          </a:p>
          <a:p>
            <a:pPr indent="0" lvl="0" marL="0" marR="0" rtl="0" algn="l">
              <a:lnSpc>
                <a:spcPct val="75000"/>
              </a:lnSpc>
              <a:spcBef>
                <a:spcPts val="0"/>
              </a:spcBef>
              <a:spcAft>
                <a:spcPts val="0"/>
              </a:spcAft>
              <a:buClr>
                <a:srgbClr val="000000"/>
              </a:buClr>
              <a:buSzPts val="1800"/>
              <a:buFont typeface="Arial"/>
              <a:buNone/>
            </a:pPr>
            <a:r>
              <a:t/>
            </a:r>
            <a:endParaRPr b="1" sz="5000">
              <a:solidFill>
                <a:srgbClr val="FFFFFF"/>
              </a:solidFill>
              <a:latin typeface="Times"/>
              <a:ea typeface="Times"/>
              <a:cs typeface="Times"/>
              <a:sym typeface="Times"/>
            </a:endParaRPr>
          </a:p>
          <a:p>
            <a:pPr indent="0" lvl="0" marL="0" marR="0" rtl="0" algn="ctr">
              <a:lnSpc>
                <a:spcPct val="75000"/>
              </a:lnSpc>
              <a:spcBef>
                <a:spcPts val="0"/>
              </a:spcBef>
              <a:spcAft>
                <a:spcPts val="0"/>
              </a:spcAft>
              <a:buClr>
                <a:srgbClr val="000000"/>
              </a:buClr>
              <a:buSzPts val="1800"/>
              <a:buFont typeface="Arial"/>
              <a:buNone/>
            </a:pPr>
            <a:r>
              <a:t/>
            </a:r>
            <a:endParaRPr b="1" sz="3000">
              <a:solidFill>
                <a:srgbClr val="FFFFFF"/>
              </a:solidFill>
              <a:latin typeface="Times"/>
              <a:ea typeface="Times"/>
              <a:cs typeface="Times"/>
              <a:sym typeface="Times"/>
            </a:endParaRPr>
          </a:p>
        </p:txBody>
      </p:sp>
      <p:sp>
        <p:nvSpPr>
          <p:cNvPr id="94" name="Google Shape;94;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98" name="Shape 98"/>
        <p:cNvGrpSpPr/>
        <p:nvPr/>
      </p:nvGrpSpPr>
      <p:grpSpPr>
        <a:xfrm>
          <a:off x="0" y="0"/>
          <a:ext cx="0" cy="0"/>
          <a:chOff x="0" y="0"/>
          <a:chExt cx="0" cy="0"/>
        </a:xfrm>
      </p:grpSpPr>
      <p:sp>
        <p:nvSpPr>
          <p:cNvPr id="99" name="Google Shape;99;p20"/>
          <p:cNvSpPr txBox="1"/>
          <p:nvPr/>
        </p:nvSpPr>
        <p:spPr>
          <a:xfrm>
            <a:off x="538200" y="773050"/>
            <a:ext cx="7465200" cy="3613200"/>
          </a:xfrm>
          <a:prstGeom prst="rect">
            <a:avLst/>
          </a:prstGeom>
          <a:noFill/>
          <a:ln>
            <a:noFill/>
          </a:ln>
        </p:spPr>
        <p:txBody>
          <a:bodyPr anchorCtr="0" anchor="t" bIns="91425" lIns="91425" spcFirstLastPara="1" rIns="91425" wrap="square" tIns="91425">
            <a:noAutofit/>
          </a:bodyPr>
          <a:lstStyle/>
          <a:p>
            <a:pPr indent="-355600" lvl="0" marL="457200" rtl="0" algn="l">
              <a:lnSpc>
                <a:spcPct val="200000"/>
              </a:lnSpc>
              <a:spcBef>
                <a:spcPts val="0"/>
              </a:spcBef>
              <a:spcAft>
                <a:spcPts val="0"/>
              </a:spcAft>
              <a:buClr>
                <a:schemeClr val="lt1"/>
              </a:buClr>
              <a:buSzPts val="2000"/>
              <a:buFont typeface="Times"/>
              <a:buChar char="●"/>
            </a:pPr>
            <a:r>
              <a:rPr b="1" lang="en" sz="2000">
                <a:solidFill>
                  <a:schemeClr val="lt1"/>
                </a:solidFill>
                <a:latin typeface="Times"/>
                <a:ea typeface="Times"/>
                <a:cs typeface="Times"/>
                <a:sym typeface="Times"/>
              </a:rPr>
              <a:t>Jamie Ledbetter</a:t>
            </a:r>
            <a:r>
              <a:rPr lang="en" sz="2000">
                <a:solidFill>
                  <a:schemeClr val="lt1"/>
                </a:solidFill>
                <a:latin typeface="Times"/>
                <a:ea typeface="Times"/>
                <a:cs typeface="Times"/>
                <a:sym typeface="Times"/>
              </a:rPr>
              <a:t>, Biosystems Engineering – Team Lead</a:t>
            </a:r>
            <a:endParaRPr sz="2000">
              <a:solidFill>
                <a:schemeClr val="lt1"/>
              </a:solidFill>
              <a:latin typeface="Times"/>
              <a:ea typeface="Times"/>
              <a:cs typeface="Times"/>
              <a:sym typeface="Times"/>
            </a:endParaRPr>
          </a:p>
          <a:p>
            <a:pPr indent="-355600" lvl="0" marL="457200" rtl="0" algn="l">
              <a:lnSpc>
                <a:spcPct val="200000"/>
              </a:lnSpc>
              <a:spcBef>
                <a:spcPts val="0"/>
              </a:spcBef>
              <a:spcAft>
                <a:spcPts val="0"/>
              </a:spcAft>
              <a:buClr>
                <a:schemeClr val="lt1"/>
              </a:buClr>
              <a:buSzPts val="2000"/>
              <a:buFont typeface="Times"/>
              <a:buChar char="●"/>
            </a:pPr>
            <a:r>
              <a:rPr b="1" lang="en" sz="2000">
                <a:solidFill>
                  <a:schemeClr val="lt1"/>
                </a:solidFill>
                <a:latin typeface="Times"/>
                <a:ea typeface="Times"/>
                <a:cs typeface="Times"/>
                <a:sym typeface="Times"/>
              </a:rPr>
              <a:t>Robert Wilkie</a:t>
            </a:r>
            <a:r>
              <a:rPr lang="en" sz="2000">
                <a:solidFill>
                  <a:schemeClr val="lt1"/>
                </a:solidFill>
                <a:latin typeface="Times"/>
                <a:ea typeface="Times"/>
                <a:cs typeface="Times"/>
                <a:sym typeface="Times"/>
              </a:rPr>
              <a:t>, Aerospace Engineering – Procurement Lead</a:t>
            </a:r>
            <a:endParaRPr sz="2000">
              <a:solidFill>
                <a:schemeClr val="lt1"/>
              </a:solidFill>
              <a:latin typeface="Times"/>
              <a:ea typeface="Times"/>
              <a:cs typeface="Times"/>
              <a:sym typeface="Times"/>
            </a:endParaRPr>
          </a:p>
          <a:p>
            <a:pPr indent="-355600" lvl="0" marL="457200" rtl="0" algn="l">
              <a:lnSpc>
                <a:spcPct val="200000"/>
              </a:lnSpc>
              <a:spcBef>
                <a:spcPts val="0"/>
              </a:spcBef>
              <a:spcAft>
                <a:spcPts val="0"/>
              </a:spcAft>
              <a:buClr>
                <a:schemeClr val="lt1"/>
              </a:buClr>
              <a:buSzPts val="2000"/>
              <a:buFont typeface="Times"/>
              <a:buChar char="●"/>
            </a:pPr>
            <a:r>
              <a:rPr b="1" lang="en" sz="2000">
                <a:solidFill>
                  <a:schemeClr val="lt1"/>
                </a:solidFill>
                <a:latin typeface="Times"/>
                <a:ea typeface="Times"/>
                <a:cs typeface="Times"/>
                <a:sym typeface="Times"/>
              </a:rPr>
              <a:t>Alex Imrich</a:t>
            </a:r>
            <a:r>
              <a:rPr lang="en" sz="2000">
                <a:solidFill>
                  <a:schemeClr val="lt1"/>
                </a:solidFill>
                <a:latin typeface="Times"/>
                <a:ea typeface="Times"/>
                <a:cs typeface="Times"/>
                <a:sym typeface="Times"/>
              </a:rPr>
              <a:t>, Aerospace Engineering</a:t>
            </a:r>
            <a:endParaRPr sz="2000">
              <a:solidFill>
                <a:schemeClr val="lt1"/>
              </a:solidFill>
              <a:latin typeface="Times"/>
              <a:ea typeface="Times"/>
              <a:cs typeface="Times"/>
              <a:sym typeface="Times"/>
            </a:endParaRPr>
          </a:p>
          <a:p>
            <a:pPr indent="-355600" lvl="0" marL="457200" rtl="0" algn="l">
              <a:lnSpc>
                <a:spcPct val="200000"/>
              </a:lnSpc>
              <a:spcBef>
                <a:spcPts val="0"/>
              </a:spcBef>
              <a:spcAft>
                <a:spcPts val="0"/>
              </a:spcAft>
              <a:buClr>
                <a:schemeClr val="lt1"/>
              </a:buClr>
              <a:buSzPts val="2000"/>
              <a:buFont typeface="Times"/>
              <a:buChar char="●"/>
            </a:pPr>
            <a:r>
              <a:rPr b="1" lang="en" sz="2000">
                <a:solidFill>
                  <a:schemeClr val="lt1"/>
                </a:solidFill>
                <a:latin typeface="Times"/>
                <a:ea typeface="Times"/>
                <a:cs typeface="Times"/>
                <a:sym typeface="Times"/>
              </a:rPr>
              <a:t>John Lopez</a:t>
            </a:r>
            <a:r>
              <a:rPr lang="en" sz="2000">
                <a:solidFill>
                  <a:schemeClr val="lt1"/>
                </a:solidFill>
                <a:latin typeface="Times"/>
                <a:ea typeface="Times"/>
                <a:cs typeface="Times"/>
                <a:sym typeface="Times"/>
              </a:rPr>
              <a:t>, Electrical Engineering </a:t>
            </a:r>
            <a:endParaRPr sz="2000">
              <a:solidFill>
                <a:schemeClr val="lt1"/>
              </a:solidFill>
              <a:latin typeface="Times"/>
              <a:ea typeface="Times"/>
              <a:cs typeface="Times"/>
              <a:sym typeface="Times"/>
            </a:endParaRPr>
          </a:p>
          <a:p>
            <a:pPr indent="-355600" lvl="0" marL="457200" rtl="0" algn="l">
              <a:lnSpc>
                <a:spcPct val="200000"/>
              </a:lnSpc>
              <a:spcBef>
                <a:spcPts val="0"/>
              </a:spcBef>
              <a:spcAft>
                <a:spcPts val="0"/>
              </a:spcAft>
              <a:buClr>
                <a:schemeClr val="lt1"/>
              </a:buClr>
              <a:buSzPts val="2000"/>
              <a:buFont typeface="Times"/>
              <a:buChar char="●"/>
            </a:pPr>
            <a:r>
              <a:rPr b="1" lang="en" sz="2000">
                <a:solidFill>
                  <a:schemeClr val="lt1"/>
                </a:solidFill>
                <a:latin typeface="Times"/>
                <a:ea typeface="Times"/>
                <a:cs typeface="Times"/>
                <a:sym typeface="Times"/>
              </a:rPr>
              <a:t>Mayra Mendoza</a:t>
            </a:r>
            <a:r>
              <a:rPr lang="en" sz="2000">
                <a:solidFill>
                  <a:schemeClr val="lt1"/>
                </a:solidFill>
                <a:latin typeface="Times"/>
                <a:ea typeface="Times"/>
                <a:cs typeface="Times"/>
                <a:sym typeface="Times"/>
              </a:rPr>
              <a:t>, Optical Engineering</a:t>
            </a:r>
            <a:endParaRPr sz="2000">
              <a:solidFill>
                <a:schemeClr val="lt1"/>
              </a:solidFill>
              <a:latin typeface="Times"/>
              <a:ea typeface="Times"/>
              <a:cs typeface="Times"/>
              <a:sym typeface="Times"/>
            </a:endParaRPr>
          </a:p>
          <a:p>
            <a:pPr indent="-355600" lvl="0" marL="457200" rtl="0" algn="l">
              <a:lnSpc>
                <a:spcPct val="200000"/>
              </a:lnSpc>
              <a:spcBef>
                <a:spcPts val="0"/>
              </a:spcBef>
              <a:spcAft>
                <a:spcPts val="0"/>
              </a:spcAft>
              <a:buClr>
                <a:schemeClr val="lt1"/>
              </a:buClr>
              <a:buSzPts val="2000"/>
              <a:buFont typeface="Times"/>
              <a:buChar char="●"/>
            </a:pPr>
            <a:r>
              <a:rPr b="1" lang="en" sz="2000">
                <a:solidFill>
                  <a:schemeClr val="lt1"/>
                </a:solidFill>
                <a:latin typeface="Times"/>
                <a:ea typeface="Times"/>
                <a:cs typeface="Times"/>
                <a:sym typeface="Times"/>
              </a:rPr>
              <a:t>Kama Henriques,</a:t>
            </a:r>
            <a:r>
              <a:rPr lang="en" sz="2000">
                <a:solidFill>
                  <a:schemeClr val="lt1"/>
                </a:solidFill>
                <a:latin typeface="Times"/>
                <a:ea typeface="Times"/>
                <a:cs typeface="Times"/>
                <a:sym typeface="Times"/>
              </a:rPr>
              <a:t> Mechanical Engineering</a:t>
            </a:r>
            <a:endParaRPr sz="2000">
              <a:solidFill>
                <a:schemeClr val="lt1"/>
              </a:solidFill>
              <a:latin typeface="Times"/>
              <a:ea typeface="Times"/>
              <a:cs typeface="Times"/>
              <a:sym typeface="Times"/>
            </a:endParaRPr>
          </a:p>
        </p:txBody>
      </p:sp>
      <p:sp>
        <p:nvSpPr>
          <p:cNvPr id="100" name="Google Shape;100;p20"/>
          <p:cNvSpPr txBox="1"/>
          <p:nvPr/>
        </p:nvSpPr>
        <p:spPr>
          <a:xfrm>
            <a:off x="696900" y="123737"/>
            <a:ext cx="7750200" cy="6321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3000">
                <a:solidFill>
                  <a:srgbClr val="FFFFFF"/>
                </a:solidFill>
                <a:latin typeface="Times"/>
                <a:ea typeface="Times"/>
                <a:cs typeface="Times"/>
                <a:sym typeface="Times"/>
              </a:rPr>
              <a:t>Our</a:t>
            </a:r>
            <a:r>
              <a:rPr b="1" lang="en" sz="3000">
                <a:solidFill>
                  <a:srgbClr val="FFFFFF"/>
                </a:solidFill>
                <a:latin typeface="Times"/>
                <a:ea typeface="Times"/>
                <a:cs typeface="Times"/>
                <a:sym typeface="Times"/>
              </a:rPr>
              <a:t> Team</a:t>
            </a:r>
            <a:endParaRPr b="1" sz="3000">
              <a:solidFill>
                <a:srgbClr val="FFFFFF"/>
              </a:solidFill>
              <a:latin typeface="Times"/>
              <a:ea typeface="Times"/>
              <a:cs typeface="Times"/>
              <a:sym typeface="Times"/>
            </a:endParaRPr>
          </a:p>
          <a:p>
            <a:pPr indent="0" lvl="0" marL="0" marR="0" rtl="0" algn="ctr">
              <a:lnSpc>
                <a:spcPct val="75000"/>
              </a:lnSpc>
              <a:spcBef>
                <a:spcPts val="0"/>
              </a:spcBef>
              <a:spcAft>
                <a:spcPts val="0"/>
              </a:spcAft>
              <a:buClr>
                <a:srgbClr val="000000"/>
              </a:buClr>
              <a:buSzPts val="1800"/>
              <a:buFont typeface="Arial"/>
              <a:buNone/>
            </a:pPr>
            <a:r>
              <a:t/>
            </a:r>
            <a:endParaRPr b="1" sz="3000">
              <a:solidFill>
                <a:srgbClr val="FFFFFF"/>
              </a:solidFill>
              <a:latin typeface="Times"/>
              <a:ea typeface="Times"/>
              <a:cs typeface="Times"/>
              <a:sym typeface="Times"/>
            </a:endParaRPr>
          </a:p>
        </p:txBody>
      </p:sp>
      <p:sp>
        <p:nvSpPr>
          <p:cNvPr id="101" name="Google Shape;101;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105" name="Shape 105"/>
        <p:cNvGrpSpPr/>
        <p:nvPr/>
      </p:nvGrpSpPr>
      <p:grpSpPr>
        <a:xfrm>
          <a:off x="0" y="0"/>
          <a:ext cx="0" cy="0"/>
          <a:chOff x="0" y="0"/>
          <a:chExt cx="0" cy="0"/>
        </a:xfrm>
      </p:grpSpPr>
      <p:sp>
        <p:nvSpPr>
          <p:cNvPr id="106" name="Google Shape;106;p21"/>
          <p:cNvSpPr txBox="1"/>
          <p:nvPr/>
        </p:nvSpPr>
        <p:spPr>
          <a:xfrm>
            <a:off x="2743200" y="0"/>
            <a:ext cx="3657600" cy="525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Calibri"/>
              <a:buNone/>
            </a:pPr>
            <a:r>
              <a:rPr b="1" lang="en" sz="3000">
                <a:solidFill>
                  <a:srgbClr val="FFFFFF"/>
                </a:solidFill>
                <a:latin typeface="Times"/>
                <a:ea typeface="Times"/>
                <a:cs typeface="Times"/>
                <a:sym typeface="Times"/>
              </a:rPr>
              <a:t>Project Summary</a:t>
            </a:r>
            <a:endParaRPr i="0" sz="1800" u="none" cap="none" strike="noStrike">
              <a:solidFill>
                <a:srgbClr val="FFFFFF"/>
              </a:solidFill>
              <a:latin typeface="Times"/>
              <a:ea typeface="Times"/>
              <a:cs typeface="Times"/>
              <a:sym typeface="Times"/>
            </a:endParaRPr>
          </a:p>
        </p:txBody>
      </p:sp>
      <p:sp>
        <p:nvSpPr>
          <p:cNvPr id="107" name="Google Shape;107;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108" name="Google Shape;108;p21"/>
          <p:cNvSpPr txBox="1"/>
          <p:nvPr/>
        </p:nvSpPr>
        <p:spPr>
          <a:xfrm>
            <a:off x="104100" y="1698800"/>
            <a:ext cx="4736700" cy="29553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0"/>
              </a:spcAft>
              <a:buClr>
                <a:schemeClr val="dk1"/>
              </a:buClr>
              <a:buSzPts val="1100"/>
              <a:buFont typeface="Arial"/>
              <a:buNone/>
            </a:pPr>
            <a:r>
              <a:rPr b="1" lang="en" sz="1600">
                <a:solidFill>
                  <a:schemeClr val="lt1"/>
                </a:solidFill>
                <a:latin typeface="Times New Roman"/>
                <a:ea typeface="Times New Roman"/>
                <a:cs typeface="Times New Roman"/>
                <a:sym typeface="Times New Roman"/>
              </a:rPr>
              <a:t>Ground Station:</a:t>
            </a:r>
            <a:endParaRPr b="1" sz="1600">
              <a:solidFill>
                <a:schemeClr val="lt1"/>
              </a:solidFill>
              <a:latin typeface="Times New Roman"/>
              <a:ea typeface="Times New Roman"/>
              <a:cs typeface="Times New Roman"/>
              <a:sym typeface="Times New Roman"/>
            </a:endParaRPr>
          </a:p>
          <a:p>
            <a:pPr indent="-330200" lvl="0" marL="457200" rtl="0" algn="l">
              <a:spcBef>
                <a:spcPts val="12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Live video stream from main drone</a:t>
            </a:r>
            <a:endParaRPr sz="1600">
              <a:solidFill>
                <a:schemeClr val="lt1"/>
              </a:solidFill>
              <a:latin typeface="Times New Roman"/>
              <a:ea typeface="Times New Roman"/>
              <a:cs typeface="Times New Roman"/>
              <a:sym typeface="Times New Roman"/>
            </a:endParaRPr>
          </a:p>
          <a:p>
            <a:pPr indent="-330200" lvl="0" marL="457200" rtl="0" algn="l">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Real-time environmental data from all drones</a:t>
            </a:r>
            <a:endParaRPr sz="1600">
              <a:solidFill>
                <a:schemeClr val="lt1"/>
              </a:solidFill>
              <a:latin typeface="Times New Roman"/>
              <a:ea typeface="Times New Roman"/>
              <a:cs typeface="Times New Roman"/>
              <a:sym typeface="Times New Roman"/>
            </a:endParaRPr>
          </a:p>
          <a:p>
            <a:pPr indent="-330200" lvl="0" marL="457200" rtl="0" algn="l">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GEO-overlay for spatial monitoring and mission control</a:t>
            </a:r>
            <a:endParaRPr sz="1600">
              <a:solidFill>
                <a:schemeClr val="lt1"/>
              </a:solidFill>
              <a:latin typeface="Times New Roman"/>
              <a:ea typeface="Times New Roman"/>
              <a:cs typeface="Times New Roman"/>
              <a:sym typeface="Times New Roman"/>
            </a:endParaRPr>
          </a:p>
          <a:p>
            <a:pPr indent="0" lvl="0" marL="0" rtl="0" algn="l">
              <a:spcBef>
                <a:spcPts val="1200"/>
              </a:spcBef>
              <a:spcAft>
                <a:spcPts val="0"/>
              </a:spcAft>
              <a:buNone/>
            </a:pPr>
            <a:r>
              <a:rPr b="1" lang="en" sz="1600">
                <a:solidFill>
                  <a:schemeClr val="lt1"/>
                </a:solidFill>
                <a:latin typeface="Times New Roman"/>
                <a:ea typeface="Times New Roman"/>
                <a:cs typeface="Times New Roman"/>
                <a:sym typeface="Times New Roman"/>
              </a:rPr>
              <a:t>Hull &amp; Structure:</a:t>
            </a:r>
            <a:endParaRPr b="1" sz="1600">
              <a:solidFill>
                <a:schemeClr val="lt1"/>
              </a:solidFill>
              <a:latin typeface="Times New Roman"/>
              <a:ea typeface="Times New Roman"/>
              <a:cs typeface="Times New Roman"/>
              <a:sym typeface="Times New Roman"/>
            </a:endParaRPr>
          </a:p>
          <a:p>
            <a:pPr indent="-330200" lvl="0" marL="457200" rtl="0" algn="l">
              <a:lnSpc>
                <a:spcPct val="100000"/>
              </a:lnSpc>
              <a:spcBef>
                <a:spcPts val="12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Self-righting, waterproof, impact-resistant design</a:t>
            </a:r>
            <a:endParaRPr sz="1600">
              <a:solidFill>
                <a:schemeClr val="lt1"/>
              </a:solidFill>
              <a:latin typeface="Times New Roman"/>
              <a:ea typeface="Times New Roman"/>
              <a:cs typeface="Times New Roman"/>
              <a:sym typeface="Times New Roman"/>
            </a:endParaRPr>
          </a:p>
          <a:p>
            <a:pPr indent="-330200" lvl="0" marL="457200" rtl="0" algn="l">
              <a:lnSpc>
                <a:spcPct val="100000"/>
              </a:lnSpc>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Fiberglass enclosure protecting internal systems</a:t>
            </a:r>
            <a:endParaRPr sz="1600">
              <a:solidFill>
                <a:schemeClr val="lt1"/>
              </a:solidFill>
              <a:latin typeface="Times New Roman"/>
              <a:ea typeface="Times New Roman"/>
              <a:cs typeface="Times New Roman"/>
              <a:sym typeface="Times New Roman"/>
            </a:endParaRPr>
          </a:p>
          <a:p>
            <a:pPr indent="0" lvl="0" marL="0" rtl="0" algn="l">
              <a:lnSpc>
                <a:spcPct val="100000"/>
              </a:lnSpc>
              <a:spcBef>
                <a:spcPts val="1200"/>
              </a:spcBef>
              <a:spcAft>
                <a:spcPts val="1200"/>
              </a:spcAft>
              <a:buNone/>
            </a:pPr>
            <a:r>
              <a:t/>
            </a:r>
            <a:endParaRPr b="1" sz="1200">
              <a:solidFill>
                <a:schemeClr val="lt1"/>
              </a:solidFill>
              <a:latin typeface="Times New Roman"/>
              <a:ea typeface="Times New Roman"/>
              <a:cs typeface="Times New Roman"/>
              <a:sym typeface="Times New Roman"/>
            </a:endParaRPr>
          </a:p>
        </p:txBody>
      </p:sp>
      <p:sp>
        <p:nvSpPr>
          <p:cNvPr id="109" name="Google Shape;109;p21"/>
          <p:cNvSpPr txBox="1"/>
          <p:nvPr/>
        </p:nvSpPr>
        <p:spPr>
          <a:xfrm>
            <a:off x="4840800" y="1730350"/>
            <a:ext cx="4151400" cy="29553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0"/>
              </a:spcAft>
              <a:buNone/>
            </a:pPr>
            <a:r>
              <a:rPr b="1" lang="en" sz="1600">
                <a:solidFill>
                  <a:schemeClr val="lt1"/>
                </a:solidFill>
                <a:latin typeface="Times New Roman"/>
                <a:ea typeface="Times New Roman"/>
                <a:cs typeface="Times New Roman"/>
                <a:sym typeface="Times New Roman"/>
              </a:rPr>
              <a:t>Communication:</a:t>
            </a:r>
            <a:endParaRPr b="1" sz="1600">
              <a:solidFill>
                <a:schemeClr val="lt1"/>
              </a:solidFill>
              <a:latin typeface="Times New Roman"/>
              <a:ea typeface="Times New Roman"/>
              <a:cs typeface="Times New Roman"/>
              <a:sym typeface="Times New Roman"/>
            </a:endParaRPr>
          </a:p>
          <a:p>
            <a:pPr indent="-330200" lvl="0" marL="457200" rtl="0" algn="l">
              <a:spcBef>
                <a:spcPts val="12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Starlink satellite antenna for continuous remote connectivity</a:t>
            </a:r>
            <a:endParaRPr b="1" sz="1600">
              <a:solidFill>
                <a:schemeClr val="lt1"/>
              </a:solidFill>
              <a:latin typeface="Times New Roman"/>
              <a:ea typeface="Times New Roman"/>
              <a:cs typeface="Times New Roman"/>
              <a:sym typeface="Times New Roman"/>
            </a:endParaRPr>
          </a:p>
          <a:p>
            <a:pPr indent="0" lvl="0" marL="0" rtl="0" algn="l">
              <a:spcBef>
                <a:spcPts val="1200"/>
              </a:spcBef>
              <a:spcAft>
                <a:spcPts val="0"/>
              </a:spcAft>
              <a:buNone/>
            </a:pPr>
            <a:r>
              <a:rPr b="1" lang="en" sz="1600">
                <a:solidFill>
                  <a:schemeClr val="lt1"/>
                </a:solidFill>
                <a:latin typeface="Times New Roman"/>
                <a:ea typeface="Times New Roman"/>
                <a:cs typeface="Times New Roman"/>
                <a:sym typeface="Times New Roman"/>
              </a:rPr>
              <a:t>Onboard Systems:</a:t>
            </a:r>
            <a:endParaRPr b="1" sz="1600">
              <a:solidFill>
                <a:schemeClr val="lt1"/>
              </a:solidFill>
              <a:latin typeface="Times New Roman"/>
              <a:ea typeface="Times New Roman"/>
              <a:cs typeface="Times New Roman"/>
              <a:sym typeface="Times New Roman"/>
            </a:endParaRPr>
          </a:p>
          <a:p>
            <a:pPr indent="-330200" lvl="0" marL="457200" rtl="0" algn="l">
              <a:spcBef>
                <a:spcPts val="12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Jetson Nano – Controls motors, servos, and live video</a:t>
            </a:r>
            <a:endParaRPr sz="1600">
              <a:solidFill>
                <a:schemeClr val="lt1"/>
              </a:solidFill>
              <a:latin typeface="Times New Roman"/>
              <a:ea typeface="Times New Roman"/>
              <a:cs typeface="Times New Roman"/>
              <a:sym typeface="Times New Roman"/>
            </a:endParaRPr>
          </a:p>
          <a:p>
            <a:pPr indent="-330200" lvl="0" marL="457200" rtl="0" algn="l">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ESP32 – Collects temperature, pH, and conductivity data</a:t>
            </a:r>
            <a:endParaRPr sz="1600">
              <a:solidFill>
                <a:schemeClr val="lt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b="1" sz="1200">
              <a:solidFill>
                <a:schemeClr val="lt1"/>
              </a:solidFill>
              <a:latin typeface="Times New Roman"/>
              <a:ea typeface="Times New Roman"/>
              <a:cs typeface="Times New Roman"/>
              <a:sym typeface="Times New Roman"/>
            </a:endParaRPr>
          </a:p>
        </p:txBody>
      </p:sp>
      <p:sp>
        <p:nvSpPr>
          <p:cNvPr id="110" name="Google Shape;110;p21"/>
          <p:cNvSpPr txBox="1"/>
          <p:nvPr/>
        </p:nvSpPr>
        <p:spPr>
          <a:xfrm>
            <a:off x="282300" y="557950"/>
            <a:ext cx="8579400" cy="1108200"/>
          </a:xfrm>
          <a:prstGeom prst="rect">
            <a:avLst/>
          </a:prstGeom>
          <a:noFill/>
          <a:ln cap="flat" cmpd="sng" w="38100">
            <a:solidFill>
              <a:srgbClr val="9E9E9E"/>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1200"/>
              </a:spcBef>
              <a:spcAft>
                <a:spcPts val="1200"/>
              </a:spcAft>
              <a:buNone/>
            </a:pPr>
            <a:r>
              <a:rPr b="1" lang="en" sz="2000">
                <a:solidFill>
                  <a:schemeClr val="lt1"/>
                </a:solidFill>
                <a:latin typeface="Times New Roman"/>
                <a:ea typeface="Times New Roman"/>
                <a:cs typeface="Times New Roman"/>
                <a:sym typeface="Times New Roman"/>
              </a:rPr>
              <a:t>Purpose:</a:t>
            </a:r>
            <a:r>
              <a:rPr b="1" lang="en" sz="2000">
                <a:solidFill>
                  <a:schemeClr val="lt1"/>
                </a:solidFill>
                <a:latin typeface="Times New Roman"/>
                <a:ea typeface="Times New Roman"/>
                <a:cs typeface="Times New Roman"/>
                <a:sym typeface="Times New Roman"/>
              </a:rPr>
              <a:t> Rapid, real-time environmental monitoring in marine and coastal environments, with control from anywhere in the world. Used in place </a:t>
            </a:r>
            <a:r>
              <a:rPr b="1" lang="en" sz="2000">
                <a:solidFill>
                  <a:schemeClr val="lt1"/>
                </a:solidFill>
                <a:latin typeface="Times New Roman"/>
                <a:ea typeface="Times New Roman"/>
                <a:cs typeface="Times New Roman"/>
                <a:sym typeface="Times New Roman"/>
              </a:rPr>
              <a:t>of</a:t>
            </a:r>
            <a:r>
              <a:rPr b="1" lang="en" sz="2000">
                <a:solidFill>
                  <a:schemeClr val="lt1"/>
                </a:solidFill>
                <a:latin typeface="Times New Roman"/>
                <a:ea typeface="Times New Roman"/>
                <a:cs typeface="Times New Roman"/>
                <a:sym typeface="Times New Roman"/>
              </a:rPr>
              <a:t> sending humans in situations like oil spills, wreckage sites, and more.</a:t>
            </a:r>
            <a:endParaRPr b="1"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114" name="Shape 114"/>
        <p:cNvGrpSpPr/>
        <p:nvPr/>
      </p:nvGrpSpPr>
      <p:grpSpPr>
        <a:xfrm>
          <a:off x="0" y="0"/>
          <a:ext cx="0" cy="0"/>
          <a:chOff x="0" y="0"/>
          <a:chExt cx="0" cy="0"/>
        </a:xfrm>
      </p:grpSpPr>
      <p:sp>
        <p:nvSpPr>
          <p:cNvPr id="115" name="Google Shape;115;p22"/>
          <p:cNvSpPr txBox="1"/>
          <p:nvPr/>
        </p:nvSpPr>
        <p:spPr>
          <a:xfrm>
            <a:off x="696900" y="1993107"/>
            <a:ext cx="7750200" cy="8265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5000">
                <a:solidFill>
                  <a:srgbClr val="FFFFFF"/>
                </a:solidFill>
                <a:latin typeface="Times"/>
                <a:ea typeface="Times"/>
                <a:cs typeface="Times"/>
                <a:sym typeface="Times"/>
              </a:rPr>
              <a:t>Post-ISR Changes</a:t>
            </a:r>
            <a:endParaRPr b="1" sz="3000">
              <a:solidFill>
                <a:srgbClr val="FFFFFF"/>
              </a:solidFill>
              <a:latin typeface="Times"/>
              <a:ea typeface="Times"/>
              <a:cs typeface="Times"/>
              <a:sym typeface="Times"/>
            </a:endParaRPr>
          </a:p>
        </p:txBody>
      </p:sp>
      <p:sp>
        <p:nvSpPr>
          <p:cNvPr id="116" name="Google Shape;116;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120" name="Shape 120"/>
        <p:cNvGrpSpPr/>
        <p:nvPr/>
      </p:nvGrpSpPr>
      <p:grpSpPr>
        <a:xfrm>
          <a:off x="0" y="0"/>
          <a:ext cx="0" cy="0"/>
          <a:chOff x="0" y="0"/>
          <a:chExt cx="0" cy="0"/>
        </a:xfrm>
      </p:grpSpPr>
      <p:sp>
        <p:nvSpPr>
          <p:cNvPr id="121" name="Google Shape;121;p23"/>
          <p:cNvSpPr txBox="1"/>
          <p:nvPr/>
        </p:nvSpPr>
        <p:spPr>
          <a:xfrm>
            <a:off x="1787250" y="154725"/>
            <a:ext cx="5569500" cy="533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Calibri"/>
              <a:buNone/>
            </a:pPr>
            <a:r>
              <a:rPr b="1" lang="en" sz="3000">
                <a:solidFill>
                  <a:srgbClr val="FFFFFF"/>
                </a:solidFill>
                <a:latin typeface="Times"/>
                <a:ea typeface="Times"/>
                <a:cs typeface="Times"/>
                <a:sym typeface="Times"/>
              </a:rPr>
              <a:t>Post-IS</a:t>
            </a:r>
            <a:r>
              <a:rPr b="1" lang="en" sz="3000">
                <a:solidFill>
                  <a:srgbClr val="FFFFFF"/>
                </a:solidFill>
                <a:latin typeface="Times"/>
                <a:ea typeface="Times"/>
                <a:cs typeface="Times"/>
                <a:sym typeface="Times"/>
              </a:rPr>
              <a:t>R Changes</a:t>
            </a:r>
            <a:endParaRPr i="0" sz="1800" u="none" cap="none" strike="noStrike">
              <a:solidFill>
                <a:srgbClr val="FFFFFF"/>
              </a:solidFill>
              <a:latin typeface="Times"/>
              <a:ea typeface="Times"/>
              <a:cs typeface="Times"/>
              <a:sym typeface="Times"/>
            </a:endParaRPr>
          </a:p>
        </p:txBody>
      </p:sp>
      <p:sp>
        <p:nvSpPr>
          <p:cNvPr id="122" name="Google Shape;122;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123" name="Google Shape;123;p23"/>
          <p:cNvSpPr txBox="1"/>
          <p:nvPr/>
        </p:nvSpPr>
        <p:spPr>
          <a:xfrm>
            <a:off x="291925" y="1300150"/>
            <a:ext cx="4248000" cy="29961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32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Added Servo Mount</a:t>
            </a:r>
            <a:endParaRPr sz="1800">
              <a:solidFill>
                <a:schemeClr val="lt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Reduction to One Battery</a:t>
            </a:r>
            <a:endParaRPr sz="1800">
              <a:solidFill>
                <a:schemeClr val="lt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Pixhawk Integration to RC Boats</a:t>
            </a:r>
            <a:endParaRPr sz="1800">
              <a:solidFill>
                <a:schemeClr val="lt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Replaced ESP32 with ESP32-S3</a:t>
            </a:r>
            <a:endParaRPr sz="1800">
              <a:solidFill>
                <a:schemeClr val="lt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Tailscale Access</a:t>
            </a:r>
            <a:endParaRPr sz="1800">
              <a:solidFill>
                <a:schemeClr val="lt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Modified Electronics Shelf</a:t>
            </a:r>
            <a:endParaRPr sz="1800">
              <a:solidFill>
                <a:schemeClr val="lt1"/>
              </a:solidFill>
              <a:latin typeface="Times New Roman"/>
              <a:ea typeface="Times New Roman"/>
              <a:cs typeface="Times New Roman"/>
              <a:sym typeface="Times New Roman"/>
            </a:endParaRPr>
          </a:p>
        </p:txBody>
      </p:sp>
      <p:sp>
        <p:nvSpPr>
          <p:cNvPr id="124" name="Google Shape;124;p23"/>
          <p:cNvSpPr txBox="1"/>
          <p:nvPr/>
        </p:nvSpPr>
        <p:spPr>
          <a:xfrm>
            <a:off x="4880600" y="752425"/>
            <a:ext cx="4060800" cy="19623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320"/>
              </a:spcBef>
              <a:spcAft>
                <a:spcPts val="0"/>
              </a:spcAft>
              <a:buNone/>
            </a:pPr>
            <a:r>
              <a:rPr b="1" lang="en" sz="2000">
                <a:solidFill>
                  <a:schemeClr val="lt1"/>
                </a:solidFill>
                <a:latin typeface="Times New Roman"/>
                <a:ea typeface="Times New Roman"/>
                <a:cs typeface="Times New Roman"/>
                <a:sym typeface="Times New Roman"/>
              </a:rPr>
              <a:t>Action Items:</a:t>
            </a:r>
            <a:endParaRPr b="1" sz="2000">
              <a:solidFill>
                <a:schemeClr val="lt1"/>
              </a:solidFill>
              <a:latin typeface="Times New Roman"/>
              <a:ea typeface="Times New Roman"/>
              <a:cs typeface="Times New Roman"/>
              <a:sym typeface="Times New Roman"/>
            </a:endParaRPr>
          </a:p>
          <a:p>
            <a:pPr indent="-342900" lvl="0" marL="457200" rtl="0" algn="l">
              <a:lnSpc>
                <a:spcPct val="150000"/>
              </a:lnSpc>
              <a:spcBef>
                <a:spcPts val="32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Wiring Concerns</a:t>
            </a:r>
            <a:endParaRPr sz="1800">
              <a:solidFill>
                <a:schemeClr val="lt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Transient Internal Temperature</a:t>
            </a:r>
            <a:br>
              <a:rPr lang="en" sz="1800">
                <a:solidFill>
                  <a:schemeClr val="lt1"/>
                </a:solidFill>
                <a:latin typeface="Times New Roman"/>
                <a:ea typeface="Times New Roman"/>
                <a:cs typeface="Times New Roman"/>
                <a:sym typeface="Times New Roman"/>
              </a:rPr>
            </a:b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128" name="Shape 128"/>
        <p:cNvGrpSpPr/>
        <p:nvPr/>
      </p:nvGrpSpPr>
      <p:grpSpPr>
        <a:xfrm>
          <a:off x="0" y="0"/>
          <a:ext cx="0" cy="0"/>
          <a:chOff x="0" y="0"/>
          <a:chExt cx="0" cy="0"/>
        </a:xfrm>
      </p:grpSpPr>
      <p:sp>
        <p:nvSpPr>
          <p:cNvPr id="129" name="Google Shape;129;p24"/>
          <p:cNvSpPr txBox="1"/>
          <p:nvPr/>
        </p:nvSpPr>
        <p:spPr>
          <a:xfrm>
            <a:off x="1787250" y="154725"/>
            <a:ext cx="5569500" cy="533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Calibri"/>
              <a:buNone/>
            </a:pPr>
            <a:r>
              <a:rPr b="1" lang="en" sz="3000">
                <a:solidFill>
                  <a:srgbClr val="FFFFFF"/>
                </a:solidFill>
                <a:latin typeface="Times"/>
                <a:ea typeface="Times"/>
                <a:cs typeface="Times"/>
                <a:sym typeface="Times"/>
              </a:rPr>
              <a:t>Post-ISR Changes Cont.</a:t>
            </a:r>
            <a:endParaRPr i="0" sz="1800" u="none" cap="none" strike="noStrike">
              <a:solidFill>
                <a:srgbClr val="FFFFFF"/>
              </a:solidFill>
              <a:latin typeface="Times"/>
              <a:ea typeface="Times"/>
              <a:cs typeface="Times"/>
              <a:sym typeface="Times"/>
            </a:endParaRPr>
          </a:p>
        </p:txBody>
      </p:sp>
      <p:sp>
        <p:nvSpPr>
          <p:cNvPr id="130" name="Google Shape;130;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grpSp>
        <p:nvGrpSpPr>
          <p:cNvPr id="131" name="Google Shape;131;p24"/>
          <p:cNvGrpSpPr/>
          <p:nvPr/>
        </p:nvGrpSpPr>
        <p:grpSpPr>
          <a:xfrm>
            <a:off x="4310275" y="1406750"/>
            <a:ext cx="4543074" cy="2894025"/>
            <a:chOff x="4310275" y="1406750"/>
            <a:chExt cx="4543074" cy="2894025"/>
          </a:xfrm>
        </p:grpSpPr>
        <p:grpSp>
          <p:nvGrpSpPr>
            <p:cNvPr id="132" name="Google Shape;132;p24"/>
            <p:cNvGrpSpPr/>
            <p:nvPr/>
          </p:nvGrpSpPr>
          <p:grpSpPr>
            <a:xfrm>
              <a:off x="4310275" y="1406750"/>
              <a:ext cx="4543074" cy="2894025"/>
              <a:chOff x="4310275" y="1406750"/>
              <a:chExt cx="4543074" cy="2894025"/>
            </a:xfrm>
          </p:grpSpPr>
          <p:pic>
            <p:nvPicPr>
              <p:cNvPr id="133" name="Google Shape;133;p24" title="Chart"/>
              <p:cNvPicPr preferRelativeResize="0"/>
              <p:nvPr/>
            </p:nvPicPr>
            <p:blipFill rotWithShape="1">
              <a:blip r:embed="rId3">
                <a:alphaModFix/>
              </a:blip>
              <a:srcRect b="3281" l="0" r="0" t="4824"/>
              <a:stretch/>
            </p:blipFill>
            <p:spPr>
              <a:xfrm>
                <a:off x="4310275" y="1406750"/>
                <a:ext cx="4543074" cy="2581526"/>
              </a:xfrm>
              <a:prstGeom prst="rect">
                <a:avLst/>
              </a:prstGeom>
              <a:noFill/>
              <a:ln>
                <a:noFill/>
              </a:ln>
            </p:spPr>
          </p:pic>
          <p:sp>
            <p:nvSpPr>
              <p:cNvPr id="134" name="Google Shape;134;p24"/>
              <p:cNvSpPr txBox="1"/>
              <p:nvPr/>
            </p:nvSpPr>
            <p:spPr>
              <a:xfrm>
                <a:off x="5145775" y="4080275"/>
                <a:ext cx="3411000" cy="220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320"/>
                  </a:spcBef>
                  <a:spcAft>
                    <a:spcPts val="0"/>
                  </a:spcAft>
                  <a:buNone/>
                </a:pPr>
                <a:r>
                  <a:rPr i="1" lang="en" sz="1000">
                    <a:solidFill>
                      <a:schemeClr val="lt1"/>
                    </a:solidFill>
                    <a:latin typeface="Times New Roman"/>
                    <a:ea typeface="Times New Roman"/>
                    <a:cs typeface="Times New Roman"/>
                    <a:sym typeface="Times New Roman"/>
                  </a:rPr>
                  <a:t>Plot of estimated internal temperature against time.</a:t>
                </a:r>
                <a:endParaRPr i="1" sz="1000">
                  <a:solidFill>
                    <a:schemeClr val="lt1"/>
                  </a:solidFill>
                  <a:latin typeface="Times New Roman"/>
                  <a:ea typeface="Times New Roman"/>
                  <a:cs typeface="Times New Roman"/>
                  <a:sym typeface="Times New Roman"/>
                </a:endParaRPr>
              </a:p>
            </p:txBody>
          </p:sp>
          <p:cxnSp>
            <p:nvCxnSpPr>
              <p:cNvPr id="135" name="Google Shape;135;p24"/>
              <p:cNvCxnSpPr/>
              <p:nvPr/>
            </p:nvCxnSpPr>
            <p:spPr>
              <a:xfrm rot="10800000">
                <a:off x="5767425" y="1889075"/>
                <a:ext cx="0" cy="1686600"/>
              </a:xfrm>
              <a:prstGeom prst="straightConnector1">
                <a:avLst/>
              </a:prstGeom>
              <a:noFill/>
              <a:ln cap="flat" cmpd="sng" w="9525">
                <a:solidFill>
                  <a:schemeClr val="dk2"/>
                </a:solidFill>
                <a:prstDash val="dash"/>
                <a:round/>
                <a:headEnd len="med" w="med" type="none"/>
                <a:tailEnd len="med" w="med" type="none"/>
              </a:ln>
            </p:spPr>
          </p:cxnSp>
          <p:cxnSp>
            <p:nvCxnSpPr>
              <p:cNvPr id="136" name="Google Shape;136;p24"/>
              <p:cNvCxnSpPr/>
              <p:nvPr/>
            </p:nvCxnSpPr>
            <p:spPr>
              <a:xfrm rot="10800000">
                <a:off x="4990557" y="2279375"/>
                <a:ext cx="0" cy="1296300"/>
              </a:xfrm>
              <a:prstGeom prst="straightConnector1">
                <a:avLst/>
              </a:prstGeom>
              <a:noFill/>
              <a:ln cap="flat" cmpd="sng" w="9525">
                <a:solidFill>
                  <a:schemeClr val="dk2"/>
                </a:solidFill>
                <a:prstDash val="dash"/>
                <a:round/>
                <a:headEnd len="med" w="med" type="none"/>
                <a:tailEnd len="med" w="med" type="none"/>
              </a:ln>
            </p:spPr>
          </p:cxnSp>
          <p:cxnSp>
            <p:nvCxnSpPr>
              <p:cNvPr id="137" name="Google Shape;137;p24"/>
              <p:cNvCxnSpPr/>
              <p:nvPr/>
            </p:nvCxnSpPr>
            <p:spPr>
              <a:xfrm rot="10800000">
                <a:off x="4902975" y="2272217"/>
                <a:ext cx="92400" cy="0"/>
              </a:xfrm>
              <a:prstGeom prst="straightConnector1">
                <a:avLst/>
              </a:prstGeom>
              <a:noFill/>
              <a:ln cap="flat" cmpd="sng" w="9525">
                <a:solidFill>
                  <a:schemeClr val="dk2"/>
                </a:solidFill>
                <a:prstDash val="dash"/>
                <a:round/>
                <a:headEnd len="med" w="med" type="none"/>
                <a:tailEnd len="med" w="med" type="none"/>
              </a:ln>
            </p:spPr>
          </p:cxnSp>
          <p:cxnSp>
            <p:nvCxnSpPr>
              <p:cNvPr id="138" name="Google Shape;138;p24"/>
              <p:cNvCxnSpPr/>
              <p:nvPr/>
            </p:nvCxnSpPr>
            <p:spPr>
              <a:xfrm rot="10800000">
                <a:off x="4902925" y="1881392"/>
                <a:ext cx="863700" cy="0"/>
              </a:xfrm>
              <a:prstGeom prst="straightConnector1">
                <a:avLst/>
              </a:prstGeom>
              <a:noFill/>
              <a:ln cap="flat" cmpd="sng" w="9525">
                <a:solidFill>
                  <a:schemeClr val="dk2"/>
                </a:solidFill>
                <a:prstDash val="dash"/>
                <a:round/>
                <a:headEnd len="med" w="med" type="none"/>
                <a:tailEnd len="med" w="med" type="none"/>
              </a:ln>
            </p:spPr>
          </p:cxnSp>
          <p:sp>
            <p:nvSpPr>
              <p:cNvPr id="139" name="Google Shape;139;p24"/>
              <p:cNvSpPr/>
              <p:nvPr/>
            </p:nvSpPr>
            <p:spPr>
              <a:xfrm>
                <a:off x="4893151" y="1862328"/>
                <a:ext cx="39000" cy="390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24"/>
              <p:cNvSpPr/>
              <p:nvPr/>
            </p:nvSpPr>
            <p:spPr>
              <a:xfrm>
                <a:off x="4893151" y="2251163"/>
                <a:ext cx="39000" cy="390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24"/>
              <p:cNvSpPr/>
              <p:nvPr/>
            </p:nvSpPr>
            <p:spPr>
              <a:xfrm>
                <a:off x="4969351" y="3534812"/>
                <a:ext cx="39000" cy="390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24"/>
              <p:cNvSpPr/>
              <p:nvPr/>
            </p:nvSpPr>
            <p:spPr>
              <a:xfrm>
                <a:off x="5745238" y="3534812"/>
                <a:ext cx="39000" cy="390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43" name="Google Shape;143;p24"/>
            <p:cNvGrpSpPr/>
            <p:nvPr/>
          </p:nvGrpSpPr>
          <p:grpSpPr>
            <a:xfrm>
              <a:off x="4911656" y="2049146"/>
              <a:ext cx="428131" cy="1513288"/>
              <a:chOff x="5361625" y="1881392"/>
              <a:chExt cx="428131" cy="1513288"/>
            </a:xfrm>
          </p:grpSpPr>
          <p:cxnSp>
            <p:nvCxnSpPr>
              <p:cNvPr id="144" name="Google Shape;144;p24"/>
              <p:cNvCxnSpPr/>
              <p:nvPr/>
            </p:nvCxnSpPr>
            <p:spPr>
              <a:xfrm rot="10800000">
                <a:off x="5767419" y="1889221"/>
                <a:ext cx="0" cy="1485900"/>
              </a:xfrm>
              <a:prstGeom prst="straightConnector1">
                <a:avLst/>
              </a:prstGeom>
              <a:noFill/>
              <a:ln cap="flat" cmpd="sng" w="9525">
                <a:solidFill>
                  <a:schemeClr val="dk2"/>
                </a:solidFill>
                <a:prstDash val="dash"/>
                <a:round/>
                <a:headEnd len="med" w="med" type="none"/>
                <a:tailEnd len="med" w="med" type="none"/>
              </a:ln>
            </p:spPr>
          </p:cxnSp>
          <p:cxnSp>
            <p:nvCxnSpPr>
              <p:cNvPr id="145" name="Google Shape;145;p24"/>
              <p:cNvCxnSpPr/>
              <p:nvPr/>
            </p:nvCxnSpPr>
            <p:spPr>
              <a:xfrm rot="10800000">
                <a:off x="5361625" y="1881392"/>
                <a:ext cx="405000" cy="0"/>
              </a:xfrm>
              <a:prstGeom prst="straightConnector1">
                <a:avLst/>
              </a:prstGeom>
              <a:noFill/>
              <a:ln cap="flat" cmpd="sng" w="9525">
                <a:solidFill>
                  <a:schemeClr val="dk2"/>
                </a:solidFill>
                <a:prstDash val="dash"/>
                <a:round/>
                <a:headEnd len="med" w="med" type="none"/>
                <a:tailEnd len="med" w="med" type="none"/>
              </a:ln>
            </p:spPr>
          </p:cxnSp>
          <p:sp>
            <p:nvSpPr>
              <p:cNvPr id="146" name="Google Shape;146;p24"/>
              <p:cNvSpPr/>
              <p:nvPr/>
            </p:nvSpPr>
            <p:spPr>
              <a:xfrm>
                <a:off x="5750756" y="3355680"/>
                <a:ext cx="39000" cy="390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47" name="Google Shape;147;p24"/>
            <p:cNvSpPr/>
            <p:nvPr/>
          </p:nvSpPr>
          <p:spPr>
            <a:xfrm>
              <a:off x="4893151" y="2029149"/>
              <a:ext cx="39000" cy="390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24"/>
            <p:cNvSpPr/>
            <p:nvPr/>
          </p:nvSpPr>
          <p:spPr>
            <a:xfrm>
              <a:off x="4968817" y="2251960"/>
              <a:ext cx="39000" cy="390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24"/>
            <p:cNvSpPr/>
            <p:nvPr/>
          </p:nvSpPr>
          <p:spPr>
            <a:xfrm>
              <a:off x="5296405" y="2041968"/>
              <a:ext cx="39000" cy="390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24"/>
            <p:cNvSpPr/>
            <p:nvPr/>
          </p:nvSpPr>
          <p:spPr>
            <a:xfrm>
              <a:off x="5749154" y="1857877"/>
              <a:ext cx="39000" cy="390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51" name="Google Shape;151;p24"/>
          <p:cNvGrpSpPr/>
          <p:nvPr/>
        </p:nvGrpSpPr>
        <p:grpSpPr>
          <a:xfrm>
            <a:off x="-870050" y="714875"/>
            <a:ext cx="5233750" cy="3452100"/>
            <a:chOff x="-870050" y="714875"/>
            <a:chExt cx="5233750" cy="3452100"/>
          </a:xfrm>
        </p:grpSpPr>
        <p:sp>
          <p:nvSpPr>
            <p:cNvPr id="152" name="Google Shape;152;p24"/>
            <p:cNvSpPr txBox="1"/>
            <p:nvPr/>
          </p:nvSpPr>
          <p:spPr>
            <a:xfrm>
              <a:off x="191900" y="714875"/>
              <a:ext cx="4171800" cy="3452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320"/>
                </a:spcBef>
                <a:spcAft>
                  <a:spcPts val="0"/>
                </a:spcAft>
                <a:buNone/>
              </a:pPr>
              <a:r>
                <a:rPr lang="en" sz="2400">
                  <a:solidFill>
                    <a:schemeClr val="lt1"/>
                  </a:solidFill>
                  <a:latin typeface="Times New Roman"/>
                  <a:ea typeface="Times New Roman"/>
                  <a:cs typeface="Times New Roman"/>
                  <a:sym typeface="Times New Roman"/>
                </a:rPr>
                <a:t>Transient Internal Temperature:</a:t>
              </a:r>
              <a:endParaRPr sz="2400">
                <a:solidFill>
                  <a:schemeClr val="lt1"/>
                </a:solidFill>
                <a:latin typeface="Times New Roman"/>
                <a:ea typeface="Times New Roman"/>
                <a:cs typeface="Times New Roman"/>
                <a:sym typeface="Times New Roman"/>
              </a:endParaRPr>
            </a:p>
            <a:p>
              <a:pPr indent="-330200" lvl="0" marL="457200" rtl="0" algn="l">
                <a:lnSpc>
                  <a:spcPct val="150000"/>
                </a:lnSpc>
                <a:spcBef>
                  <a:spcPts val="32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Temp. Exponentially approaches steady state at ~39 °C</a:t>
              </a:r>
              <a:endParaRPr sz="1600">
                <a:solidFill>
                  <a:schemeClr val="lt1"/>
                </a:solidFill>
                <a:latin typeface="Times New Roman"/>
                <a:ea typeface="Times New Roman"/>
                <a:cs typeface="Times New Roman"/>
                <a:sym typeface="Times New Roman"/>
              </a:endParaRPr>
            </a:p>
            <a:p>
              <a:pPr indent="0" lvl="0" marL="457200" rtl="0" algn="l">
                <a:lnSpc>
                  <a:spcPct val="150000"/>
                </a:lnSpc>
                <a:spcBef>
                  <a:spcPts val="320"/>
                </a:spcBef>
                <a:spcAft>
                  <a:spcPts val="0"/>
                </a:spcAft>
                <a:buNone/>
              </a:pPr>
              <a:r>
                <a:t/>
              </a:r>
              <a:endParaRPr sz="1600">
                <a:solidFill>
                  <a:schemeClr val="lt1"/>
                </a:solidFill>
                <a:latin typeface="Times New Roman"/>
                <a:ea typeface="Times New Roman"/>
                <a:cs typeface="Times New Roman"/>
                <a:sym typeface="Times New Roman"/>
              </a:endParaRPr>
            </a:p>
            <a:p>
              <a:pPr indent="0" lvl="0" marL="457200" rtl="0" algn="l">
                <a:lnSpc>
                  <a:spcPct val="150000"/>
                </a:lnSpc>
                <a:spcBef>
                  <a:spcPts val="320"/>
                </a:spcBef>
                <a:spcAft>
                  <a:spcPts val="0"/>
                </a:spcAft>
                <a:buNone/>
              </a:pPr>
              <a:r>
                <a:rPr lang="en" sz="1600">
                  <a:solidFill>
                    <a:schemeClr val="lt1"/>
                  </a:solidFill>
                  <a:latin typeface="Times New Roman"/>
                  <a:ea typeface="Times New Roman"/>
                  <a:cs typeface="Times New Roman"/>
                  <a:sym typeface="Times New Roman"/>
                </a:rPr>
                <a:t>T(6 mins) ~ 27.5 °C = 81.5 °F</a:t>
              </a:r>
              <a:endParaRPr sz="1600">
                <a:solidFill>
                  <a:schemeClr val="lt1"/>
                </a:solidFill>
                <a:latin typeface="Times New Roman"/>
                <a:ea typeface="Times New Roman"/>
                <a:cs typeface="Times New Roman"/>
                <a:sym typeface="Times New Roman"/>
              </a:endParaRPr>
            </a:p>
            <a:p>
              <a:pPr indent="0" lvl="0" marL="457200" rtl="0" algn="l">
                <a:lnSpc>
                  <a:spcPct val="150000"/>
                </a:lnSpc>
                <a:spcBef>
                  <a:spcPts val="320"/>
                </a:spcBef>
                <a:spcAft>
                  <a:spcPts val="0"/>
                </a:spcAft>
                <a:buNone/>
              </a:pPr>
              <a:r>
                <a:rPr lang="en" sz="1600">
                  <a:solidFill>
                    <a:schemeClr val="lt1"/>
                  </a:solidFill>
                  <a:latin typeface="Times New Roman"/>
                  <a:ea typeface="Times New Roman"/>
                  <a:cs typeface="Times New Roman"/>
                  <a:sym typeface="Times New Roman"/>
                </a:rPr>
                <a:t>T(30 mins) ~ 32.5 °C = 90.5 °F</a:t>
              </a:r>
              <a:endParaRPr sz="1600">
                <a:solidFill>
                  <a:schemeClr val="lt1"/>
                </a:solidFill>
                <a:latin typeface="Times New Roman"/>
                <a:ea typeface="Times New Roman"/>
                <a:cs typeface="Times New Roman"/>
                <a:sym typeface="Times New Roman"/>
              </a:endParaRPr>
            </a:p>
            <a:p>
              <a:pPr indent="0" lvl="0" marL="457200" rtl="0" algn="l">
                <a:lnSpc>
                  <a:spcPct val="150000"/>
                </a:lnSpc>
                <a:spcBef>
                  <a:spcPts val="320"/>
                </a:spcBef>
                <a:spcAft>
                  <a:spcPts val="0"/>
                </a:spcAft>
                <a:buNone/>
              </a:pPr>
              <a:r>
                <a:rPr lang="en" sz="1600">
                  <a:solidFill>
                    <a:schemeClr val="lt1"/>
                  </a:solidFill>
                  <a:latin typeface="Times New Roman"/>
                  <a:ea typeface="Times New Roman"/>
                  <a:cs typeface="Times New Roman"/>
                  <a:sym typeface="Times New Roman"/>
                </a:rPr>
                <a:t>T(60 mins) ~ 36.5 °C = 97.7 °F</a:t>
              </a:r>
              <a:endParaRPr sz="1600">
                <a:solidFill>
                  <a:schemeClr val="lt1"/>
                </a:solidFill>
                <a:latin typeface="Times New Roman"/>
                <a:ea typeface="Times New Roman"/>
                <a:cs typeface="Times New Roman"/>
                <a:sym typeface="Times New Roman"/>
              </a:endParaRPr>
            </a:p>
          </p:txBody>
        </p:sp>
        <p:sp>
          <p:nvSpPr>
            <p:cNvPr id="153" name="Google Shape;153;p24"/>
            <p:cNvSpPr txBox="1"/>
            <p:nvPr/>
          </p:nvSpPr>
          <p:spPr>
            <a:xfrm>
              <a:off x="-870050" y="2080975"/>
              <a:ext cx="1682400" cy="1763400"/>
            </a:xfrm>
            <a:prstGeom prst="rect">
              <a:avLst/>
            </a:prstGeom>
            <a:noFill/>
            <a:ln>
              <a:noFill/>
            </a:ln>
          </p:spPr>
          <p:txBody>
            <a:bodyPr anchorCtr="0" anchor="t" bIns="91425" lIns="91425" spcFirstLastPara="1" rIns="91425" wrap="square" tIns="91425">
              <a:noAutofit/>
            </a:bodyPr>
            <a:lstStyle/>
            <a:p>
              <a:pPr indent="0" lvl="0" marL="457200" rtl="0" algn="ctr">
                <a:lnSpc>
                  <a:spcPct val="150000"/>
                </a:lnSpc>
                <a:spcBef>
                  <a:spcPts val="320"/>
                </a:spcBef>
                <a:spcAft>
                  <a:spcPts val="0"/>
                </a:spcAft>
                <a:buNone/>
              </a:pPr>
              <a:r>
                <a:rPr lang="en" sz="10000">
                  <a:solidFill>
                    <a:schemeClr val="lt1"/>
                  </a:solidFill>
                  <a:latin typeface="Times New Roman"/>
                  <a:ea typeface="Times New Roman"/>
                  <a:cs typeface="Times New Roman"/>
                  <a:sym typeface="Times New Roman"/>
                </a:rPr>
                <a:t>{</a:t>
              </a:r>
              <a:endParaRPr sz="10000">
                <a:solidFill>
                  <a:schemeClr val="lt1"/>
                </a:solidFill>
                <a:latin typeface="Times New Roman"/>
                <a:ea typeface="Times New Roman"/>
                <a:cs typeface="Times New Roman"/>
                <a:sym typeface="Times New Roman"/>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pic>
        <p:nvPicPr>
          <p:cNvPr id="159" name="Google Shape;159;p25"/>
          <p:cNvPicPr preferRelativeResize="0"/>
          <p:nvPr/>
        </p:nvPicPr>
        <p:blipFill>
          <a:blip r:embed="rId3">
            <a:alphaModFix/>
          </a:blip>
          <a:stretch>
            <a:fillRect/>
          </a:stretch>
        </p:blipFill>
        <p:spPr>
          <a:xfrm>
            <a:off x="184550" y="0"/>
            <a:ext cx="8839202" cy="848344"/>
          </a:xfrm>
          <a:prstGeom prst="rect">
            <a:avLst/>
          </a:prstGeom>
          <a:noFill/>
          <a:ln>
            <a:noFill/>
          </a:ln>
        </p:spPr>
      </p:pic>
      <p:pic>
        <p:nvPicPr>
          <p:cNvPr id="160" name="Google Shape;160;p25"/>
          <p:cNvPicPr preferRelativeResize="0"/>
          <p:nvPr/>
        </p:nvPicPr>
        <p:blipFill>
          <a:blip r:embed="rId4">
            <a:alphaModFix/>
          </a:blip>
          <a:stretch>
            <a:fillRect/>
          </a:stretch>
        </p:blipFill>
        <p:spPr>
          <a:xfrm>
            <a:off x="184550" y="580944"/>
            <a:ext cx="8839202" cy="342074"/>
          </a:xfrm>
          <a:prstGeom prst="rect">
            <a:avLst/>
          </a:prstGeom>
          <a:noFill/>
          <a:ln>
            <a:noFill/>
          </a:ln>
        </p:spPr>
      </p:pic>
      <p:sp>
        <p:nvSpPr>
          <p:cNvPr id="161" name="Google Shape;161;p25"/>
          <p:cNvSpPr/>
          <p:nvPr/>
        </p:nvSpPr>
        <p:spPr>
          <a:xfrm>
            <a:off x="5259950" y="4290550"/>
            <a:ext cx="3588000" cy="459300"/>
          </a:xfrm>
          <a:prstGeom prst="roundRect">
            <a:avLst>
              <a:gd fmla="val 16667" name="adj"/>
            </a:avLst>
          </a:prstGeom>
          <a:solidFill>
            <a:srgbClr val="6FA8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Times New Roman"/>
                <a:ea typeface="Times New Roman"/>
                <a:cs typeface="Times New Roman"/>
                <a:sym typeface="Times New Roman"/>
              </a:rPr>
              <a:t>All Acti</a:t>
            </a:r>
            <a:r>
              <a:rPr lang="en" sz="1600">
                <a:latin typeface="Times New Roman"/>
                <a:ea typeface="Times New Roman"/>
                <a:cs typeface="Times New Roman"/>
                <a:sym typeface="Times New Roman"/>
              </a:rPr>
              <a:t>on Items Closed</a:t>
            </a:r>
            <a:endParaRPr sz="1600">
              <a:latin typeface="Times New Roman"/>
              <a:ea typeface="Times New Roman"/>
              <a:cs typeface="Times New Roman"/>
              <a:sym typeface="Times New Roman"/>
            </a:endParaRPr>
          </a:p>
        </p:txBody>
      </p:sp>
      <p:graphicFrame>
        <p:nvGraphicFramePr>
          <p:cNvPr id="162" name="Google Shape;162;p25"/>
          <p:cNvGraphicFramePr/>
          <p:nvPr/>
        </p:nvGraphicFramePr>
        <p:xfrm>
          <a:off x="323388" y="923025"/>
          <a:ext cx="3000000" cy="3000000"/>
        </p:xfrm>
        <a:graphic>
          <a:graphicData uri="http://schemas.openxmlformats.org/drawingml/2006/table">
            <a:tbl>
              <a:tblPr>
                <a:noFill/>
                <a:tableStyleId>{D249BD4F-0858-46B6-BC2E-1600E3F50066}</a:tableStyleId>
              </a:tblPr>
              <a:tblGrid>
                <a:gridCol w="1139750"/>
                <a:gridCol w="1089825"/>
                <a:gridCol w="1125275"/>
                <a:gridCol w="1292425"/>
                <a:gridCol w="1292425"/>
                <a:gridCol w="1292425"/>
                <a:gridCol w="1292425"/>
              </a:tblGrid>
              <a:tr h="240400">
                <a:tc>
                  <a:txBody>
                    <a:bodyPr/>
                    <a:lstStyle/>
                    <a:p>
                      <a:pPr indent="0" lvl="0" marL="0" marR="0" rtl="0" algn="ctr">
                        <a:lnSpc>
                          <a:spcPct val="100000"/>
                        </a:lnSpc>
                        <a:spcBef>
                          <a:spcPts val="0"/>
                        </a:spcBef>
                        <a:spcAft>
                          <a:spcPts val="0"/>
                        </a:spcAft>
                        <a:buNone/>
                      </a:pPr>
                      <a:r>
                        <a:t/>
                      </a:r>
                      <a:endParaRPr sz="12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None/>
                      </a:pPr>
                      <a:r>
                        <a:rPr b="1" lang="en" sz="1200">
                          <a:solidFill>
                            <a:schemeClr val="lt1"/>
                          </a:solidFill>
                          <a:latin typeface="Times New Roman"/>
                          <a:ea typeface="Times New Roman"/>
                          <a:cs typeface="Times New Roman"/>
                          <a:sym typeface="Times New Roman"/>
                        </a:rPr>
                        <a:t>ISR</a:t>
                      </a:r>
                      <a:endParaRPr b="1" sz="1200">
                        <a:solidFill>
                          <a:schemeClr val="lt1"/>
                        </a:solidFill>
                        <a:latin typeface="Times New Roman"/>
                        <a:ea typeface="Times New Roman"/>
                        <a:cs typeface="Times New Roman"/>
                        <a:sym typeface="Times New Roman"/>
                      </a:endParaRPr>
                    </a:p>
                  </a:txBody>
                  <a:tcPr marT="91425" marB="45700" marR="45700"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5C6BC0"/>
                    </a:solidFill>
                  </a:tcPr>
                </a:tc>
                <a:tc hMerge="1"/>
                <a:tc hMerge="1"/>
                <a:tc gridSpan="3">
                  <a:txBody>
                    <a:bodyPr/>
                    <a:lstStyle/>
                    <a:p>
                      <a:pPr indent="0" lvl="0" marL="0" rtl="0" algn="ctr">
                        <a:spcBef>
                          <a:spcPts val="0"/>
                        </a:spcBef>
                        <a:spcAft>
                          <a:spcPts val="0"/>
                        </a:spcAft>
                        <a:buNone/>
                      </a:pPr>
                      <a:r>
                        <a:rPr b="1" lang="en" sz="1200">
                          <a:solidFill>
                            <a:schemeClr val="lt1"/>
                          </a:solidFill>
                          <a:latin typeface="Times New Roman"/>
                          <a:ea typeface="Times New Roman"/>
                          <a:cs typeface="Times New Roman"/>
                          <a:sym typeface="Times New Roman"/>
                        </a:rPr>
                        <a:t>FAR</a:t>
                      </a:r>
                      <a:endParaRPr b="1" sz="1200">
                        <a:solidFill>
                          <a:schemeClr val="lt1"/>
                        </a:solidFill>
                        <a:latin typeface="Times New Roman"/>
                        <a:ea typeface="Times New Roman"/>
                        <a:cs typeface="Times New Roman"/>
                        <a:sym typeface="Times New Roman"/>
                      </a:endParaRPr>
                    </a:p>
                  </a:txBody>
                  <a:tcPr marT="91425" marB="45700" marR="45700"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2D8B57"/>
                    </a:solidFill>
                  </a:tcPr>
                </a:tc>
                <a:tc hMerge="1"/>
                <a:tc hMerge="1"/>
              </a:tr>
              <a:tr h="300550">
                <a:tc>
                  <a:txBody>
                    <a:bodyPr/>
                    <a:lstStyle/>
                    <a:p>
                      <a:pPr indent="0" lvl="0" marL="0" rtl="0" algn="ctr">
                        <a:spcBef>
                          <a:spcPts val="0"/>
                        </a:spcBef>
                        <a:spcAft>
                          <a:spcPts val="0"/>
                        </a:spcAft>
                        <a:buNone/>
                      </a:pPr>
                      <a:r>
                        <a:rPr b="1" lang="en" sz="1200">
                          <a:solidFill>
                            <a:schemeClr val="lt1"/>
                          </a:solidFill>
                          <a:latin typeface="Times New Roman"/>
                          <a:ea typeface="Times New Roman"/>
                          <a:cs typeface="Times New Roman"/>
                          <a:sym typeface="Times New Roman"/>
                        </a:rPr>
                        <a:t>Branch</a:t>
                      </a:r>
                      <a:endParaRPr b="1" sz="12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chemeClr val="lt1"/>
                          </a:solidFill>
                          <a:latin typeface="Times New Roman"/>
                          <a:ea typeface="Times New Roman"/>
                          <a:cs typeface="Times New Roman"/>
                          <a:sym typeface="Times New Roman"/>
                        </a:rPr>
                        <a:t>Wire (Amp)</a:t>
                      </a:r>
                      <a:endParaRPr b="1" sz="12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5C6BC0"/>
                    </a:solidFill>
                  </a:tcPr>
                </a:tc>
                <a:tc>
                  <a:txBody>
                    <a:bodyPr/>
                    <a:lstStyle/>
                    <a:p>
                      <a:pPr indent="0" lvl="0" marL="0" rtl="0" algn="ctr">
                        <a:spcBef>
                          <a:spcPts val="0"/>
                        </a:spcBef>
                        <a:spcAft>
                          <a:spcPts val="0"/>
                        </a:spcAft>
                        <a:buClr>
                          <a:schemeClr val="dk1"/>
                        </a:buClr>
                        <a:buSzPts val="1100"/>
                        <a:buFont typeface="Arial"/>
                        <a:buNone/>
                      </a:pPr>
                      <a:r>
                        <a:rPr b="1" lang="en" sz="1200">
                          <a:solidFill>
                            <a:schemeClr val="lt1"/>
                          </a:solidFill>
                          <a:latin typeface="Times New Roman"/>
                          <a:ea typeface="Times New Roman"/>
                          <a:cs typeface="Times New Roman"/>
                          <a:sym typeface="Times New Roman"/>
                        </a:rPr>
                        <a:t>Fuse</a:t>
                      </a:r>
                      <a:endParaRPr b="1" sz="1200">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5C6BC0"/>
                    </a:solidFill>
                  </a:tcPr>
                </a:tc>
                <a:tc>
                  <a:txBody>
                    <a:bodyPr/>
                    <a:lstStyle/>
                    <a:p>
                      <a:pPr indent="0" lvl="0" marL="0" rtl="0" algn="ctr">
                        <a:spcBef>
                          <a:spcPts val="0"/>
                        </a:spcBef>
                        <a:spcAft>
                          <a:spcPts val="0"/>
                        </a:spcAft>
                        <a:buNone/>
                      </a:pPr>
                      <a:r>
                        <a:rPr b="1" lang="en" sz="1200">
                          <a:solidFill>
                            <a:schemeClr val="lt1"/>
                          </a:solidFill>
                          <a:latin typeface="Times New Roman"/>
                          <a:ea typeface="Times New Roman"/>
                          <a:cs typeface="Times New Roman"/>
                          <a:sym typeface="Times New Roman"/>
                        </a:rPr>
                        <a:t>Status</a:t>
                      </a:r>
                      <a:endParaRPr b="1" sz="12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5C6BC0"/>
                    </a:solidFill>
                  </a:tcPr>
                </a:tc>
                <a:tc>
                  <a:txBody>
                    <a:bodyPr/>
                    <a:lstStyle/>
                    <a:p>
                      <a:pPr indent="0" lvl="0" marL="0" rtl="0" algn="ctr">
                        <a:spcBef>
                          <a:spcPts val="0"/>
                        </a:spcBef>
                        <a:spcAft>
                          <a:spcPts val="0"/>
                        </a:spcAft>
                        <a:buNone/>
                      </a:pPr>
                      <a:r>
                        <a:rPr b="1" lang="en" sz="1200">
                          <a:solidFill>
                            <a:schemeClr val="lt1"/>
                          </a:solidFill>
                          <a:latin typeface="Times New Roman"/>
                          <a:ea typeface="Times New Roman"/>
                          <a:cs typeface="Times New Roman"/>
                          <a:sym typeface="Times New Roman"/>
                        </a:rPr>
                        <a:t>Wire (Amp)</a:t>
                      </a:r>
                      <a:endParaRPr b="1" sz="12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2D8B57"/>
                    </a:solidFill>
                  </a:tcPr>
                </a:tc>
                <a:tc>
                  <a:txBody>
                    <a:bodyPr/>
                    <a:lstStyle/>
                    <a:p>
                      <a:pPr indent="0" lvl="0" marL="0" rtl="0" algn="ctr">
                        <a:spcBef>
                          <a:spcPts val="0"/>
                        </a:spcBef>
                        <a:spcAft>
                          <a:spcPts val="0"/>
                        </a:spcAft>
                        <a:buNone/>
                      </a:pPr>
                      <a:r>
                        <a:rPr b="1" lang="en" sz="1200">
                          <a:solidFill>
                            <a:schemeClr val="lt1"/>
                          </a:solidFill>
                          <a:latin typeface="Times New Roman"/>
                          <a:ea typeface="Times New Roman"/>
                          <a:cs typeface="Times New Roman"/>
                          <a:sym typeface="Times New Roman"/>
                        </a:rPr>
                        <a:t>Fuse</a:t>
                      </a:r>
                      <a:endParaRPr b="1" sz="12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2D8B57"/>
                    </a:solidFill>
                  </a:tcPr>
                </a:tc>
                <a:tc>
                  <a:txBody>
                    <a:bodyPr/>
                    <a:lstStyle/>
                    <a:p>
                      <a:pPr indent="0" lvl="0" marL="0" rtl="0" algn="ctr">
                        <a:spcBef>
                          <a:spcPts val="0"/>
                        </a:spcBef>
                        <a:spcAft>
                          <a:spcPts val="0"/>
                        </a:spcAft>
                        <a:buNone/>
                      </a:pPr>
                      <a:r>
                        <a:rPr b="1" lang="en" sz="1200">
                          <a:solidFill>
                            <a:schemeClr val="lt1"/>
                          </a:solidFill>
                          <a:latin typeface="Times New Roman"/>
                          <a:ea typeface="Times New Roman"/>
                          <a:cs typeface="Times New Roman"/>
                          <a:sym typeface="Times New Roman"/>
                        </a:rPr>
                        <a:t>Status</a:t>
                      </a:r>
                      <a:endParaRPr b="1" sz="12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2D8B57"/>
                    </a:solidFill>
                  </a:tcPr>
                </a:tc>
              </a:tr>
              <a:tr h="300550">
                <a:tc>
                  <a:txBody>
                    <a:bodyPr/>
                    <a:lstStyle/>
                    <a:p>
                      <a:pPr indent="0" lvl="0" marL="0" rtl="0" algn="ctr">
                        <a:spcBef>
                          <a:spcPts val="0"/>
                        </a:spcBef>
                        <a:spcAft>
                          <a:spcPts val="0"/>
                        </a:spcAft>
                        <a:buNone/>
                      </a:pPr>
                      <a:r>
                        <a:rPr lang="en" sz="1100">
                          <a:solidFill>
                            <a:schemeClr val="lt1"/>
                          </a:solidFill>
                          <a:latin typeface="Times New Roman"/>
                          <a:ea typeface="Times New Roman"/>
                          <a:cs typeface="Times New Roman"/>
                          <a:sym typeface="Times New Roman"/>
                        </a:rPr>
                        <a:t>Main Trunk</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4 AWG (135A)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MRBF 150A</a:t>
                      </a:r>
                      <a:endParaRPr sz="1100">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solidFill>
                            <a:srgbClr val="FF6B6B"/>
                          </a:solidFill>
                          <a:latin typeface="Times New Roman"/>
                          <a:ea typeface="Times New Roman"/>
                          <a:cs typeface="Times New Roman"/>
                          <a:sym typeface="Times New Roman"/>
                        </a:rPr>
                        <a:t>✗ FAIL</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4 AWG (135A)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Times New Roman"/>
                          <a:ea typeface="Times New Roman"/>
                          <a:cs typeface="Times New Roman"/>
                          <a:sym typeface="Times New Roman"/>
                        </a:rPr>
                        <a:t>MRBF 100A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solidFill>
                            <a:srgbClr val="4ECB71"/>
                          </a:solidFill>
                          <a:latin typeface="Times New Roman"/>
                          <a:ea typeface="Times New Roman"/>
                          <a:cs typeface="Times New Roman"/>
                          <a:sym typeface="Times New Roman"/>
                        </a:rPr>
                        <a:t>✓ PASS</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10550">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ESC / Motor</a:t>
                      </a:r>
                      <a:endParaRPr sz="1100">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8/10 </a:t>
                      </a:r>
                      <a:r>
                        <a:rPr lang="en" sz="1100">
                          <a:solidFill>
                            <a:schemeClr val="lt1"/>
                          </a:solidFill>
                          <a:latin typeface="Times New Roman"/>
                          <a:ea typeface="Times New Roman"/>
                          <a:cs typeface="Times New Roman"/>
                          <a:sym typeface="Times New Roman"/>
                        </a:rPr>
                        <a:t>AWG (55A)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MIDI 125A</a:t>
                      </a:r>
                      <a:endParaRPr sz="1100">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solidFill>
                            <a:srgbClr val="FF6B6B"/>
                          </a:solidFill>
                          <a:latin typeface="Times New Roman"/>
                          <a:ea typeface="Times New Roman"/>
                          <a:cs typeface="Times New Roman"/>
                          <a:sym typeface="Times New Roman"/>
                        </a:rPr>
                        <a:t>✗ FAIL</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8</a:t>
                      </a:r>
                      <a:r>
                        <a:rPr lang="en" sz="1100">
                          <a:solidFill>
                            <a:schemeClr val="lt1"/>
                          </a:solidFill>
                          <a:latin typeface="Times New Roman"/>
                          <a:ea typeface="Times New Roman"/>
                          <a:cs typeface="Times New Roman"/>
                          <a:sym typeface="Times New Roman"/>
                        </a:rPr>
                        <a:t> AWG (73A)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Times New Roman"/>
                          <a:ea typeface="Times New Roman"/>
                          <a:cs typeface="Times New Roman"/>
                          <a:sym typeface="Times New Roman"/>
                        </a:rPr>
                        <a:t>MIDI 60A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 sz="1100">
                          <a:solidFill>
                            <a:srgbClr val="4ECB71"/>
                          </a:solidFill>
                          <a:latin typeface="Times New Roman"/>
                          <a:ea typeface="Times New Roman"/>
                          <a:cs typeface="Times New Roman"/>
                          <a:sym typeface="Times New Roman"/>
                        </a:rPr>
                        <a:t>✓ PASS</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00550">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Starlink</a:t>
                      </a:r>
                      <a:endParaRPr sz="1100">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16</a:t>
                      </a:r>
                      <a:r>
                        <a:rPr lang="en" sz="1100">
                          <a:solidFill>
                            <a:schemeClr val="lt1"/>
                          </a:solidFill>
                          <a:latin typeface="Times New Roman"/>
                          <a:ea typeface="Times New Roman"/>
                          <a:cs typeface="Times New Roman"/>
                          <a:sym typeface="Times New Roman"/>
                        </a:rPr>
                        <a:t> AWG (22A)</a:t>
                      </a:r>
                      <a:endParaRPr sz="1100">
                        <a:solidFill>
                          <a:srgbClr val="00FF00"/>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ATO 7.5A</a:t>
                      </a:r>
                      <a:endParaRPr sz="1100">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solidFill>
                            <a:srgbClr val="FFAB40"/>
                          </a:solidFill>
                          <a:latin typeface="Times New Roman"/>
                          <a:ea typeface="Times New Roman"/>
                          <a:cs typeface="Times New Roman"/>
                          <a:sym typeface="Times New Roman"/>
                        </a:rPr>
                        <a:t>⚠ MARGINAL*</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12 AWG (41A</a:t>
                      </a:r>
                      <a:r>
                        <a:rPr lang="en" sz="1100">
                          <a:solidFill>
                            <a:schemeClr val="lt1"/>
                          </a:solidFill>
                          <a:latin typeface="Times New Roman"/>
                          <a:ea typeface="Times New Roman"/>
                          <a:cs typeface="Times New Roman"/>
                          <a:sym typeface="Times New Roman"/>
                        </a:rPr>
                        <a:t>)</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Times New Roman"/>
                          <a:ea typeface="Times New Roman"/>
                          <a:cs typeface="Times New Roman"/>
                          <a:sym typeface="Times New Roman"/>
                        </a:rPr>
                        <a:t>ATO 7.5A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 sz="1100">
                          <a:solidFill>
                            <a:srgbClr val="4ECB71"/>
                          </a:solidFill>
                          <a:latin typeface="Times New Roman"/>
                          <a:ea typeface="Times New Roman"/>
                          <a:cs typeface="Times New Roman"/>
                          <a:sym typeface="Times New Roman"/>
                        </a:rPr>
                        <a:t>✓ PASS</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00550">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Jetson 12V</a:t>
                      </a:r>
                      <a:endParaRPr sz="1100">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18 </a:t>
                      </a:r>
                      <a:r>
                        <a:rPr lang="en" sz="1100">
                          <a:solidFill>
                            <a:schemeClr val="lt1"/>
                          </a:solidFill>
                          <a:latin typeface="Times New Roman"/>
                          <a:ea typeface="Times New Roman"/>
                          <a:cs typeface="Times New Roman"/>
                          <a:sym typeface="Times New Roman"/>
                        </a:rPr>
                        <a:t>AWG (16A)</a:t>
                      </a:r>
                      <a:endParaRPr sz="1100">
                        <a:solidFill>
                          <a:srgbClr val="FFB300"/>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ATO 7.5A</a:t>
                      </a:r>
                      <a:endParaRPr sz="1100">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solidFill>
                            <a:srgbClr val="FFAB40"/>
                          </a:solidFill>
                          <a:latin typeface="Times New Roman"/>
                          <a:ea typeface="Times New Roman"/>
                          <a:cs typeface="Times New Roman"/>
                          <a:sym typeface="Times New Roman"/>
                        </a:rPr>
                        <a:t>⚠ MARGINAL*</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12 AWG (41A)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Times New Roman"/>
                          <a:ea typeface="Times New Roman"/>
                          <a:cs typeface="Times New Roman"/>
                          <a:sym typeface="Times New Roman"/>
                        </a:rPr>
                        <a:t>ATO 3A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 sz="1100">
                          <a:solidFill>
                            <a:srgbClr val="4ECB71"/>
                          </a:solidFill>
                          <a:latin typeface="Times New Roman"/>
                          <a:ea typeface="Times New Roman"/>
                          <a:cs typeface="Times New Roman"/>
                          <a:sym typeface="Times New Roman"/>
                        </a:rPr>
                        <a:t>✓ PASS</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00550">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Pixhawk PM</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18 AWG (16A)</a:t>
                      </a:r>
                      <a:endParaRPr sz="1100">
                        <a:solidFill>
                          <a:srgbClr val="FFB300"/>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ATO 1A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solidFill>
                            <a:srgbClr val="FFAB40"/>
                          </a:solidFill>
                          <a:latin typeface="Times New Roman"/>
                          <a:ea typeface="Times New Roman"/>
                          <a:cs typeface="Times New Roman"/>
                          <a:sym typeface="Times New Roman"/>
                        </a:rPr>
                        <a:t>⚠ MARGINAL*</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12 AWG (41A)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Times New Roman"/>
                          <a:ea typeface="Times New Roman"/>
                          <a:cs typeface="Times New Roman"/>
                          <a:sym typeface="Times New Roman"/>
                        </a:rPr>
                        <a:t>ATO 2A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 sz="1100">
                          <a:solidFill>
                            <a:srgbClr val="4ECB71"/>
                          </a:solidFill>
                          <a:latin typeface="Times New Roman"/>
                          <a:ea typeface="Times New Roman"/>
                          <a:cs typeface="Times New Roman"/>
                          <a:sym typeface="Times New Roman"/>
                        </a:rPr>
                        <a:t>✓ PASS</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00550">
                <a:tc>
                  <a:txBody>
                    <a:bodyPr/>
                    <a:lstStyle/>
                    <a:p>
                      <a:pPr indent="0" lvl="0" marL="0" rtl="0" algn="ctr">
                        <a:spcBef>
                          <a:spcPts val="0"/>
                        </a:spcBef>
                        <a:spcAft>
                          <a:spcPts val="0"/>
                        </a:spcAft>
                        <a:buNone/>
                      </a:pPr>
                      <a:r>
                        <a:rPr lang="en" sz="1100">
                          <a:solidFill>
                            <a:schemeClr val="lt1"/>
                          </a:solidFill>
                          <a:latin typeface="Times New Roman"/>
                          <a:ea typeface="Times New Roman"/>
                          <a:cs typeface="Times New Roman"/>
                          <a:sym typeface="Times New Roman"/>
                        </a:rPr>
                        <a:t>ESP32</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18 AWG (16A)</a:t>
                      </a:r>
                      <a:endParaRPr sz="1100">
                        <a:solidFill>
                          <a:srgbClr val="FFB300"/>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ATO 1A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solidFill>
                            <a:srgbClr val="FFAB40"/>
                          </a:solidFill>
                          <a:latin typeface="Times New Roman"/>
                          <a:ea typeface="Times New Roman"/>
                          <a:cs typeface="Times New Roman"/>
                          <a:sym typeface="Times New Roman"/>
                        </a:rPr>
                        <a:t>⚠ MARGINAL*</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12 AWG (41A)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Times New Roman"/>
                          <a:ea typeface="Times New Roman"/>
                          <a:cs typeface="Times New Roman"/>
                          <a:sym typeface="Times New Roman"/>
                        </a:rPr>
                        <a:t>ATO 1A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 sz="1100">
                          <a:solidFill>
                            <a:srgbClr val="4ECB71"/>
                          </a:solidFill>
                          <a:latin typeface="Times New Roman"/>
                          <a:ea typeface="Times New Roman"/>
                          <a:cs typeface="Times New Roman"/>
                          <a:sym typeface="Times New Roman"/>
                        </a:rPr>
                        <a:t>✓ PASS</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75175">
                <a:tc>
                  <a:txBody>
                    <a:bodyPr/>
                    <a:lstStyle/>
                    <a:p>
                      <a:pPr indent="0" lvl="0" marL="0" rtl="0" algn="ctr">
                        <a:spcBef>
                          <a:spcPts val="0"/>
                        </a:spcBef>
                        <a:spcAft>
                          <a:spcPts val="0"/>
                        </a:spcAft>
                        <a:buNone/>
                      </a:pPr>
                      <a:r>
                        <a:rPr lang="en" sz="1100">
                          <a:solidFill>
                            <a:schemeClr val="lt1"/>
                          </a:solidFill>
                          <a:latin typeface="Times New Roman"/>
                          <a:ea typeface="Times New Roman"/>
                          <a:cs typeface="Times New Roman"/>
                          <a:sym typeface="Times New Roman"/>
                        </a:rPr>
                        <a:t>BEC / Servo</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18 AWG (16A)</a:t>
                      </a:r>
                      <a:endParaRPr sz="1100">
                        <a:solidFill>
                          <a:srgbClr val="FFB300"/>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ATO 2A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solidFill>
                            <a:srgbClr val="FFAB40"/>
                          </a:solidFill>
                          <a:latin typeface="Times New Roman"/>
                          <a:ea typeface="Times New Roman"/>
                          <a:cs typeface="Times New Roman"/>
                          <a:sym typeface="Times New Roman"/>
                        </a:rPr>
                        <a:t>⚠ MARGINAL*</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12 AWG (41A)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lt1"/>
                          </a:solidFill>
                          <a:latin typeface="Times New Roman"/>
                          <a:ea typeface="Times New Roman"/>
                          <a:cs typeface="Times New Roman"/>
                          <a:sym typeface="Times New Roman"/>
                        </a:rPr>
                        <a:t>ATO 2A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 sz="1100">
                          <a:solidFill>
                            <a:srgbClr val="4ECB71"/>
                          </a:solidFill>
                          <a:latin typeface="Times New Roman"/>
                          <a:ea typeface="Times New Roman"/>
                          <a:cs typeface="Times New Roman"/>
                          <a:sym typeface="Times New Roman"/>
                        </a:rPr>
                        <a:t>✓ PASS</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00550">
                <a:tc>
                  <a:txBody>
                    <a:bodyPr/>
                    <a:lstStyle/>
                    <a:p>
                      <a:pPr indent="0" lvl="0" marL="0" rtl="0" algn="ctr">
                        <a:spcBef>
                          <a:spcPts val="0"/>
                        </a:spcBef>
                        <a:spcAft>
                          <a:spcPts val="0"/>
                        </a:spcAft>
                        <a:buNone/>
                      </a:pPr>
                      <a:r>
                        <a:rPr lang="en" sz="1100">
                          <a:solidFill>
                            <a:schemeClr val="lt1"/>
                          </a:solidFill>
                          <a:latin typeface="Times New Roman"/>
                          <a:ea typeface="Times New Roman"/>
                          <a:cs typeface="Times New Roman"/>
                          <a:sym typeface="Times New Roman"/>
                        </a:rPr>
                        <a:t>Data Lines</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22</a:t>
                      </a:r>
                      <a:r>
                        <a:rPr lang="en" sz="1100">
                          <a:solidFill>
                            <a:schemeClr val="lt1"/>
                          </a:solidFill>
                          <a:latin typeface="Times New Roman"/>
                          <a:ea typeface="Times New Roman"/>
                          <a:cs typeface="Times New Roman"/>
                          <a:sym typeface="Times New Roman"/>
                        </a:rPr>
                        <a:t> AWG (~5A)</a:t>
                      </a:r>
                      <a:endParaRPr sz="1100">
                        <a:solidFill>
                          <a:srgbClr val="FFB300"/>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rgbClr val="FFFFFF"/>
                          </a:solidFill>
                          <a:latin typeface="Times New Roman"/>
                          <a:ea typeface="Times New Roman"/>
                          <a:cs typeface="Times New Roman"/>
                          <a:sym typeface="Times New Roman"/>
                        </a:rPr>
                        <a:t>—</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solidFill>
                            <a:srgbClr val="4ECB71"/>
                          </a:solidFill>
                          <a:latin typeface="Times New Roman"/>
                          <a:ea typeface="Times New Roman"/>
                          <a:cs typeface="Times New Roman"/>
                          <a:sym typeface="Times New Roman"/>
                        </a:rPr>
                        <a:t>✓ PASS</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22 AWG (~5A)</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lang="en" sz="1100">
                          <a:solidFill>
                            <a:srgbClr val="FFFFFF"/>
                          </a:solidFill>
                          <a:latin typeface="Times New Roman"/>
                          <a:ea typeface="Times New Roman"/>
                          <a:cs typeface="Times New Roman"/>
                          <a:sym typeface="Times New Roman"/>
                        </a:rPr>
                        <a:t>—</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 sz="1100">
                          <a:solidFill>
                            <a:srgbClr val="4ECB71"/>
                          </a:solidFill>
                          <a:latin typeface="Times New Roman"/>
                          <a:ea typeface="Times New Roman"/>
                          <a:cs typeface="Times New Roman"/>
                          <a:sym typeface="Times New Roman"/>
                        </a:rPr>
                        <a:t>✓ PASS</a:t>
                      </a:r>
                      <a:endParaRPr sz="1100">
                        <a:solidFill>
                          <a:schemeClr val="lt1"/>
                        </a:solidFill>
                        <a:latin typeface="Times New Roman"/>
                        <a:ea typeface="Times New Roman"/>
                        <a:cs typeface="Times New Roman"/>
                        <a:sym typeface="Times New Roman"/>
                      </a:endParaRPr>
                    </a:p>
                  </a:txBody>
                  <a:tcPr marT="45700" marB="45700" marR="45700" marL="457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163" name="Google Shape;163;p25"/>
          <p:cNvSpPr txBox="1"/>
          <p:nvPr/>
        </p:nvSpPr>
        <p:spPr>
          <a:xfrm>
            <a:off x="323400" y="3955500"/>
            <a:ext cx="8524500" cy="45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800">
                <a:solidFill>
                  <a:srgbClr val="FFAB40"/>
                </a:solidFill>
                <a:latin typeface="Times New Roman"/>
                <a:ea typeface="Times New Roman"/>
                <a:cs typeface="Times New Roman"/>
                <a:sym typeface="Times New Roman"/>
              </a:rPr>
              <a:t>*MARGINAL: </a:t>
            </a:r>
            <a:r>
              <a:rPr lang="en" sz="800">
                <a:solidFill>
                  <a:srgbClr val="FFFFFF"/>
                </a:solidFill>
                <a:latin typeface="Times New Roman"/>
                <a:ea typeface="Times New Roman"/>
                <a:cs typeface="Times New Roman"/>
                <a:sym typeface="Times New Roman"/>
              </a:rPr>
              <a:t>Met bare ampacity but had zero derating margin and were mechanically undersized for an enclosed marine hull. Changed to 12 AWG for thermal headroom, vibration resistance, and standardization.</a:t>
            </a:r>
            <a:endParaRPr sz="8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sz="1000">
              <a:solidFill>
                <a:schemeClr val="dk2"/>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169" name="Google Shape;169;p26"/>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t/>
            </a:r>
            <a:endParaRPr b="1" sz="3000">
              <a:solidFill>
                <a:schemeClr val="lt1"/>
              </a:solidFill>
              <a:latin typeface="Times New Roman"/>
              <a:ea typeface="Times New Roman"/>
              <a:cs typeface="Times New Roman"/>
              <a:sym typeface="Times New Roman"/>
            </a:endParaRPr>
          </a:p>
        </p:txBody>
      </p:sp>
      <p:sp>
        <p:nvSpPr>
          <p:cNvPr id="170" name="Google Shape;170;p26"/>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lang="en" sz="3000">
                <a:solidFill>
                  <a:schemeClr val="lt1"/>
                </a:solidFill>
                <a:latin typeface="Times New Roman"/>
                <a:ea typeface="Times New Roman"/>
                <a:cs typeface="Times New Roman"/>
                <a:sym typeface="Times New Roman"/>
              </a:rPr>
              <a:t>Added </a:t>
            </a:r>
            <a:r>
              <a:rPr b="1" lang="en" sz="3000">
                <a:solidFill>
                  <a:schemeClr val="lt1"/>
                </a:solidFill>
                <a:latin typeface="Times New Roman"/>
                <a:ea typeface="Times New Roman"/>
                <a:cs typeface="Times New Roman"/>
                <a:sym typeface="Times New Roman"/>
              </a:rPr>
              <a:t>Servo Mount for Rudder</a:t>
            </a:r>
            <a:endParaRPr b="1" sz="3000">
              <a:solidFill>
                <a:schemeClr val="lt1"/>
              </a:solidFill>
              <a:latin typeface="Times New Roman"/>
              <a:ea typeface="Times New Roman"/>
              <a:cs typeface="Times New Roman"/>
              <a:sym typeface="Times New Roman"/>
            </a:endParaRPr>
          </a:p>
        </p:txBody>
      </p:sp>
      <p:sp>
        <p:nvSpPr>
          <p:cNvPr id="171" name="Google Shape;171;p26"/>
          <p:cNvSpPr txBox="1"/>
          <p:nvPr/>
        </p:nvSpPr>
        <p:spPr>
          <a:xfrm>
            <a:off x="379050" y="961050"/>
            <a:ext cx="5345700" cy="17238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Created 3D printed motor mount fastened to hull with strong adhesive (taped for testing)</a:t>
            </a:r>
            <a:endParaRPr sz="2000">
              <a:solidFill>
                <a:schemeClr val="lt1"/>
              </a:solidFill>
              <a:latin typeface="Times New Roman"/>
              <a:ea typeface="Times New Roman"/>
              <a:cs typeface="Times New Roman"/>
              <a:sym typeface="Times New Roman"/>
            </a:endParaRPr>
          </a:p>
          <a:p>
            <a:pPr indent="-355600" lvl="1" marL="9144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Avoids drilling into hull</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Will connect servo arm to rudder arm using metal rods and ‘arm adapter’ </a:t>
            </a:r>
            <a:endParaRPr sz="2000">
              <a:solidFill>
                <a:schemeClr val="lt1"/>
              </a:solidFill>
              <a:latin typeface="Times New Roman"/>
              <a:ea typeface="Times New Roman"/>
              <a:cs typeface="Times New Roman"/>
              <a:sym typeface="Times New Roman"/>
            </a:endParaRPr>
          </a:p>
        </p:txBody>
      </p:sp>
      <p:pic>
        <p:nvPicPr>
          <p:cNvPr id="172" name="Google Shape;172;p26" title="20260413_181900.jpg"/>
          <p:cNvPicPr preferRelativeResize="0"/>
          <p:nvPr/>
        </p:nvPicPr>
        <p:blipFill>
          <a:blip r:embed="rId3">
            <a:alphaModFix/>
          </a:blip>
          <a:stretch>
            <a:fillRect/>
          </a:stretch>
        </p:blipFill>
        <p:spPr>
          <a:xfrm>
            <a:off x="2204200" y="2849075"/>
            <a:ext cx="2608876" cy="1956676"/>
          </a:xfrm>
          <a:prstGeom prst="rect">
            <a:avLst/>
          </a:prstGeom>
          <a:noFill/>
          <a:ln>
            <a:noFill/>
          </a:ln>
        </p:spPr>
      </p:pic>
      <p:pic>
        <p:nvPicPr>
          <p:cNvPr id="173" name="Google Shape;173;p26" title="20260413_181934.mp4">
            <a:hlinkClick r:id="rId4"/>
          </p:cNvPr>
          <p:cNvPicPr preferRelativeResize="0"/>
          <p:nvPr/>
        </p:nvPicPr>
        <p:blipFill>
          <a:blip r:embed="rId5">
            <a:alphaModFix/>
          </a:blip>
          <a:stretch>
            <a:fillRect/>
          </a:stretch>
        </p:blipFill>
        <p:spPr>
          <a:xfrm>
            <a:off x="6554372" y="1000025"/>
            <a:ext cx="2109275" cy="3749827"/>
          </a:xfrm>
          <a:prstGeom prst="rect">
            <a:avLst/>
          </a:prstGeom>
          <a:noFill/>
          <a:ln>
            <a:noFill/>
          </a:ln>
        </p:spPr>
      </p:pic>
      <p:pic>
        <p:nvPicPr>
          <p:cNvPr id="174" name="Google Shape;174;p26"/>
          <p:cNvPicPr preferRelativeResize="0"/>
          <p:nvPr/>
        </p:nvPicPr>
        <p:blipFill rotWithShape="1">
          <a:blip r:embed="rId6">
            <a:alphaModFix/>
          </a:blip>
          <a:srcRect b="0" l="8012" r="0" t="0"/>
          <a:stretch/>
        </p:blipFill>
        <p:spPr>
          <a:xfrm>
            <a:off x="4805950" y="3339000"/>
            <a:ext cx="1706549" cy="976825"/>
          </a:xfrm>
          <a:prstGeom prst="rect">
            <a:avLst/>
          </a:prstGeom>
          <a:noFill/>
          <a:ln>
            <a:noFill/>
          </a:ln>
        </p:spPr>
      </p:pic>
      <p:pic>
        <p:nvPicPr>
          <p:cNvPr id="175" name="Google Shape;175;p26"/>
          <p:cNvPicPr preferRelativeResize="0"/>
          <p:nvPr/>
        </p:nvPicPr>
        <p:blipFill>
          <a:blip r:embed="rId7">
            <a:alphaModFix/>
          </a:blip>
          <a:stretch>
            <a:fillRect/>
          </a:stretch>
        </p:blipFill>
        <p:spPr>
          <a:xfrm>
            <a:off x="126375" y="3270513"/>
            <a:ext cx="2077823" cy="1207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181" name="Google Shape;181;p27"/>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t/>
            </a:r>
            <a:endParaRPr b="1" sz="3000">
              <a:solidFill>
                <a:schemeClr val="lt1"/>
              </a:solidFill>
              <a:latin typeface="Times New Roman"/>
              <a:ea typeface="Times New Roman"/>
              <a:cs typeface="Times New Roman"/>
              <a:sym typeface="Times New Roman"/>
            </a:endParaRPr>
          </a:p>
        </p:txBody>
      </p:sp>
      <p:sp>
        <p:nvSpPr>
          <p:cNvPr id="182" name="Google Shape;182;p27"/>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lang="en" sz="3000">
                <a:solidFill>
                  <a:schemeClr val="lt1"/>
                </a:solidFill>
                <a:latin typeface="Times New Roman"/>
                <a:ea typeface="Times New Roman"/>
                <a:cs typeface="Times New Roman"/>
                <a:sym typeface="Times New Roman"/>
              </a:rPr>
              <a:t>Redesigned Propeller Hub</a:t>
            </a:r>
            <a:endParaRPr b="1" sz="3000">
              <a:solidFill>
                <a:schemeClr val="lt1"/>
              </a:solidFill>
              <a:latin typeface="Times New Roman"/>
              <a:ea typeface="Times New Roman"/>
              <a:cs typeface="Times New Roman"/>
              <a:sym typeface="Times New Roman"/>
            </a:endParaRPr>
          </a:p>
        </p:txBody>
      </p:sp>
      <p:sp>
        <p:nvSpPr>
          <p:cNvPr id="183" name="Google Shape;183;p27"/>
          <p:cNvSpPr txBox="1"/>
          <p:nvPr/>
        </p:nvSpPr>
        <p:spPr>
          <a:xfrm>
            <a:off x="316600" y="1293150"/>
            <a:ext cx="5822100" cy="20319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Very little room on shaft to hold propeller (20mm)</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Designed propeller hub to house shaft connection device</a:t>
            </a:r>
            <a:endParaRPr sz="2000">
              <a:solidFill>
                <a:schemeClr val="lt1"/>
              </a:solidFill>
              <a:latin typeface="Times New Roman"/>
              <a:ea typeface="Times New Roman"/>
              <a:cs typeface="Times New Roman"/>
              <a:sym typeface="Times New Roman"/>
            </a:endParaRPr>
          </a:p>
          <a:p>
            <a:pPr indent="-355600" lvl="1" marL="9144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Frees up shaft room so propeller can be larger</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Added </a:t>
            </a:r>
            <a:r>
              <a:rPr lang="en" sz="2000">
                <a:solidFill>
                  <a:schemeClr val="lt1"/>
                </a:solidFill>
                <a:latin typeface="Times New Roman"/>
                <a:ea typeface="Times New Roman"/>
                <a:cs typeface="Times New Roman"/>
                <a:sym typeface="Times New Roman"/>
              </a:rPr>
              <a:t>cut out</a:t>
            </a:r>
            <a:r>
              <a:rPr lang="en" sz="2000">
                <a:solidFill>
                  <a:schemeClr val="lt1"/>
                </a:solidFill>
                <a:latin typeface="Times New Roman"/>
                <a:ea typeface="Times New Roman"/>
                <a:cs typeface="Times New Roman"/>
                <a:sym typeface="Times New Roman"/>
              </a:rPr>
              <a:t> for retainment nut</a:t>
            </a:r>
            <a:endParaRPr sz="2000">
              <a:solidFill>
                <a:schemeClr val="lt1"/>
              </a:solidFill>
              <a:latin typeface="Times New Roman"/>
              <a:ea typeface="Times New Roman"/>
              <a:cs typeface="Times New Roman"/>
              <a:sym typeface="Times New Roman"/>
            </a:endParaRPr>
          </a:p>
          <a:p>
            <a:pPr indent="-355600" lvl="1" marL="9144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Improves thread engagement </a:t>
            </a:r>
            <a:endParaRPr sz="2000">
              <a:solidFill>
                <a:schemeClr val="lt1"/>
              </a:solidFill>
              <a:latin typeface="Times New Roman"/>
              <a:ea typeface="Times New Roman"/>
              <a:cs typeface="Times New Roman"/>
              <a:sym typeface="Times New Roman"/>
            </a:endParaRPr>
          </a:p>
        </p:txBody>
      </p:sp>
      <p:pic>
        <p:nvPicPr>
          <p:cNvPr id="184" name="Google Shape;184;p27"/>
          <p:cNvPicPr preferRelativeResize="0"/>
          <p:nvPr/>
        </p:nvPicPr>
        <p:blipFill>
          <a:blip r:embed="rId3">
            <a:alphaModFix/>
          </a:blip>
          <a:stretch>
            <a:fillRect/>
          </a:stretch>
        </p:blipFill>
        <p:spPr>
          <a:xfrm>
            <a:off x="6327275" y="1165122"/>
            <a:ext cx="2266150" cy="2190400"/>
          </a:xfrm>
          <a:prstGeom prst="rect">
            <a:avLst/>
          </a:prstGeom>
          <a:noFill/>
          <a:ln>
            <a:noFill/>
          </a:ln>
        </p:spPr>
      </p:pic>
      <p:pic>
        <p:nvPicPr>
          <p:cNvPr id="185" name="Google Shape;185;p27"/>
          <p:cNvPicPr preferRelativeResize="0"/>
          <p:nvPr/>
        </p:nvPicPr>
        <p:blipFill>
          <a:blip r:embed="rId4">
            <a:alphaModFix/>
          </a:blip>
          <a:stretch>
            <a:fillRect/>
          </a:stretch>
        </p:blipFill>
        <p:spPr>
          <a:xfrm>
            <a:off x="4982711" y="2839625"/>
            <a:ext cx="1632614" cy="16355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191" name="Google Shape;191;p28"/>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t/>
            </a:r>
            <a:endParaRPr b="1" sz="3000">
              <a:solidFill>
                <a:schemeClr val="lt1"/>
              </a:solidFill>
              <a:latin typeface="Times New Roman"/>
              <a:ea typeface="Times New Roman"/>
              <a:cs typeface="Times New Roman"/>
              <a:sym typeface="Times New Roman"/>
            </a:endParaRPr>
          </a:p>
        </p:txBody>
      </p:sp>
      <p:sp>
        <p:nvSpPr>
          <p:cNvPr id="192" name="Google Shape;192;p28"/>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lang="en" sz="3000">
                <a:solidFill>
                  <a:schemeClr val="lt1"/>
                </a:solidFill>
                <a:latin typeface="Times New Roman"/>
                <a:ea typeface="Times New Roman"/>
                <a:cs typeface="Times New Roman"/>
                <a:sym typeface="Times New Roman"/>
              </a:rPr>
              <a:t>RC Boats</a:t>
            </a:r>
            <a:endParaRPr b="1" sz="3000">
              <a:solidFill>
                <a:schemeClr val="lt1"/>
              </a:solidFill>
              <a:latin typeface="Times New Roman"/>
              <a:ea typeface="Times New Roman"/>
              <a:cs typeface="Times New Roman"/>
              <a:sym typeface="Times New Roman"/>
            </a:endParaRPr>
          </a:p>
        </p:txBody>
      </p:sp>
      <p:sp>
        <p:nvSpPr>
          <p:cNvPr id="193" name="Google Shape;193;p28"/>
          <p:cNvSpPr txBox="1"/>
          <p:nvPr/>
        </p:nvSpPr>
        <p:spPr>
          <a:xfrm>
            <a:off x="2692200" y="1085275"/>
            <a:ext cx="3759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lt1"/>
                </a:solidFill>
              </a:rPr>
              <a:t>Final Steps of Integration</a:t>
            </a:r>
            <a:endParaRPr sz="1800">
              <a:solidFill>
                <a:schemeClr val="lt1"/>
              </a:solidFill>
            </a:endParaRPr>
          </a:p>
        </p:txBody>
      </p:sp>
      <p:sp>
        <p:nvSpPr>
          <p:cNvPr id="194" name="Google Shape;194;p28"/>
          <p:cNvSpPr txBox="1"/>
          <p:nvPr/>
        </p:nvSpPr>
        <p:spPr>
          <a:xfrm>
            <a:off x="494900" y="1731475"/>
            <a:ext cx="3759600" cy="2124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lt1"/>
              </a:buClr>
              <a:buSzPts val="1800"/>
              <a:buChar char="●"/>
            </a:pPr>
            <a:r>
              <a:rPr lang="en" sz="1800">
                <a:solidFill>
                  <a:schemeClr val="lt1"/>
                </a:solidFill>
              </a:rPr>
              <a:t>Pixhawk flight controllers connected - now troubleshooting and ensuring proper connections</a:t>
            </a:r>
            <a:br>
              <a:rPr lang="en" sz="1800">
                <a:solidFill>
                  <a:schemeClr val="lt1"/>
                </a:solidFill>
              </a:rPr>
            </a:b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p:txBody>
      </p:sp>
      <p:pic>
        <p:nvPicPr>
          <p:cNvPr id="195" name="Google Shape;195;p28"/>
          <p:cNvPicPr preferRelativeResize="0"/>
          <p:nvPr/>
        </p:nvPicPr>
        <p:blipFill>
          <a:blip r:embed="rId3">
            <a:alphaModFix/>
          </a:blip>
          <a:stretch>
            <a:fillRect/>
          </a:stretch>
        </p:blipFill>
        <p:spPr>
          <a:xfrm>
            <a:off x="4365800" y="1623050"/>
            <a:ext cx="4584700" cy="2558263"/>
          </a:xfrm>
          <a:prstGeom prst="rect">
            <a:avLst/>
          </a:prstGeom>
          <a:noFill/>
          <a:ln>
            <a:noFill/>
          </a:ln>
        </p:spPr>
      </p:pic>
      <p:pic>
        <p:nvPicPr>
          <p:cNvPr id="196" name="Google Shape;196;p28"/>
          <p:cNvPicPr preferRelativeResize="0"/>
          <p:nvPr/>
        </p:nvPicPr>
        <p:blipFill>
          <a:blip r:embed="rId4">
            <a:alphaModFix/>
          </a:blip>
          <a:stretch>
            <a:fillRect/>
          </a:stretch>
        </p:blipFill>
        <p:spPr>
          <a:xfrm>
            <a:off x="832325" y="3003000"/>
            <a:ext cx="2987850" cy="17468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202" name="Google Shape;202;p29"/>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t/>
            </a:r>
            <a:endParaRPr b="1" sz="3000">
              <a:solidFill>
                <a:schemeClr val="lt1"/>
              </a:solidFill>
              <a:latin typeface="Times New Roman"/>
              <a:ea typeface="Times New Roman"/>
              <a:cs typeface="Times New Roman"/>
              <a:sym typeface="Times New Roman"/>
            </a:endParaRPr>
          </a:p>
        </p:txBody>
      </p:sp>
      <p:sp>
        <p:nvSpPr>
          <p:cNvPr id="203" name="Google Shape;203;p29"/>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lang="en" sz="3000">
                <a:solidFill>
                  <a:schemeClr val="lt1"/>
                </a:solidFill>
                <a:latin typeface="Times New Roman"/>
                <a:ea typeface="Times New Roman"/>
                <a:cs typeface="Times New Roman"/>
                <a:sym typeface="Times New Roman"/>
              </a:rPr>
              <a:t>RC Boats</a:t>
            </a:r>
            <a:endParaRPr b="1" sz="3000">
              <a:solidFill>
                <a:schemeClr val="lt1"/>
              </a:solidFill>
              <a:latin typeface="Times New Roman"/>
              <a:ea typeface="Times New Roman"/>
              <a:cs typeface="Times New Roman"/>
              <a:sym typeface="Times New Roman"/>
            </a:endParaRPr>
          </a:p>
        </p:txBody>
      </p:sp>
      <p:sp>
        <p:nvSpPr>
          <p:cNvPr id="204" name="Google Shape;204;p29"/>
          <p:cNvSpPr txBox="1"/>
          <p:nvPr/>
        </p:nvSpPr>
        <p:spPr>
          <a:xfrm>
            <a:off x="494900" y="1028125"/>
            <a:ext cx="3759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lt1"/>
                </a:solidFill>
              </a:rPr>
              <a:t>Final Steps of Integration</a:t>
            </a:r>
            <a:endParaRPr sz="1800">
              <a:solidFill>
                <a:schemeClr val="lt1"/>
              </a:solidFill>
            </a:endParaRPr>
          </a:p>
        </p:txBody>
      </p:sp>
      <p:sp>
        <p:nvSpPr>
          <p:cNvPr id="205" name="Google Shape;205;p29"/>
          <p:cNvSpPr txBox="1"/>
          <p:nvPr/>
        </p:nvSpPr>
        <p:spPr>
          <a:xfrm>
            <a:off x="494900" y="1731475"/>
            <a:ext cx="3759600" cy="3232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lt1"/>
              </a:buClr>
              <a:buSzPts val="1800"/>
              <a:buChar char="●"/>
            </a:pPr>
            <a:r>
              <a:rPr lang="en" sz="1800">
                <a:solidFill>
                  <a:schemeClr val="lt1"/>
                </a:solidFill>
              </a:rPr>
              <a:t>Pixhawk gives accurate position and orientation</a:t>
            </a:r>
            <a:br>
              <a:rPr lang="en" sz="1800">
                <a:solidFill>
                  <a:schemeClr val="lt1"/>
                </a:solidFill>
              </a:rPr>
            </a:b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ESP32 → Pixhawk </a:t>
            </a:r>
            <a:endParaRPr sz="1800">
              <a:solidFill>
                <a:schemeClr val="lt1"/>
              </a:solidFill>
            </a:endParaRPr>
          </a:p>
          <a:p>
            <a:pPr indent="-342900" lvl="1" marL="914400" rtl="0" algn="l">
              <a:spcBef>
                <a:spcPts val="0"/>
              </a:spcBef>
              <a:spcAft>
                <a:spcPts val="0"/>
              </a:spcAft>
              <a:buClr>
                <a:schemeClr val="lt1"/>
              </a:buClr>
              <a:buSzPts val="1800"/>
              <a:buChar char="○"/>
            </a:pPr>
            <a:r>
              <a:rPr lang="en" sz="1800">
                <a:solidFill>
                  <a:schemeClr val="lt1"/>
                </a:solidFill>
              </a:rPr>
              <a:t>Code written, all connections made</a:t>
            </a:r>
            <a:br>
              <a:rPr lang="en" sz="1800">
                <a:solidFill>
                  <a:schemeClr val="lt1"/>
                </a:solidFill>
              </a:rPr>
            </a:b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Putting </a:t>
            </a:r>
            <a:r>
              <a:rPr lang="en" sz="1800">
                <a:solidFill>
                  <a:schemeClr val="lt1"/>
                </a:solidFill>
              </a:rPr>
              <a:t>everything</a:t>
            </a:r>
            <a:r>
              <a:rPr lang="en" sz="1800">
                <a:solidFill>
                  <a:schemeClr val="lt1"/>
                </a:solidFill>
              </a:rPr>
              <a:t> back in the hulls</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p:txBody>
      </p:sp>
      <p:pic>
        <p:nvPicPr>
          <p:cNvPr id="206" name="Google Shape;206;p29"/>
          <p:cNvPicPr preferRelativeResize="0"/>
          <p:nvPr/>
        </p:nvPicPr>
        <p:blipFill>
          <a:blip r:embed="rId3">
            <a:alphaModFix/>
          </a:blip>
          <a:stretch>
            <a:fillRect/>
          </a:stretch>
        </p:blipFill>
        <p:spPr>
          <a:xfrm>
            <a:off x="6670050" y="499225"/>
            <a:ext cx="2143125" cy="2143125"/>
          </a:xfrm>
          <a:prstGeom prst="rect">
            <a:avLst/>
          </a:prstGeom>
          <a:noFill/>
          <a:ln>
            <a:noFill/>
          </a:ln>
        </p:spPr>
      </p:pic>
      <p:pic>
        <p:nvPicPr>
          <p:cNvPr id="207" name="Google Shape;207;p29"/>
          <p:cNvPicPr preferRelativeResize="0"/>
          <p:nvPr/>
        </p:nvPicPr>
        <p:blipFill>
          <a:blip r:embed="rId4">
            <a:alphaModFix/>
          </a:blip>
          <a:stretch>
            <a:fillRect/>
          </a:stretch>
        </p:blipFill>
        <p:spPr>
          <a:xfrm>
            <a:off x="4934575" y="2837725"/>
            <a:ext cx="1517225" cy="1517225"/>
          </a:xfrm>
          <a:prstGeom prst="rect">
            <a:avLst/>
          </a:prstGeom>
          <a:noFill/>
          <a:ln>
            <a:noFill/>
          </a:ln>
        </p:spPr>
      </p:pic>
      <p:sp>
        <p:nvSpPr>
          <p:cNvPr id="208" name="Google Shape;208;p29"/>
          <p:cNvSpPr/>
          <p:nvPr/>
        </p:nvSpPr>
        <p:spPr>
          <a:xfrm rot="-9894006">
            <a:off x="6921852" y="2961739"/>
            <a:ext cx="1097493" cy="1097493"/>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9" name="Google Shape;209;p29"/>
          <p:cNvPicPr preferRelativeResize="0"/>
          <p:nvPr/>
        </p:nvPicPr>
        <p:blipFill>
          <a:blip r:embed="rId5">
            <a:alphaModFix/>
          </a:blip>
          <a:stretch>
            <a:fillRect/>
          </a:stretch>
        </p:blipFill>
        <p:spPr>
          <a:xfrm rot="-5400000">
            <a:off x="4541450" y="674110"/>
            <a:ext cx="1721801" cy="22957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215" name="Google Shape;215;p30"/>
          <p:cNvSpPr txBox="1"/>
          <p:nvPr/>
        </p:nvSpPr>
        <p:spPr>
          <a:xfrm>
            <a:off x="439375" y="961050"/>
            <a:ext cx="7835100" cy="71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Times New Roman"/>
                <a:ea typeface="Times New Roman"/>
                <a:cs typeface="Times New Roman"/>
                <a:sym typeface="Times New Roman"/>
              </a:rPr>
              <a:t>              ISR: 									                 FAR:</a:t>
            </a:r>
            <a:endParaRPr sz="2000">
              <a:solidFill>
                <a:schemeClr val="lt1"/>
              </a:solidFill>
              <a:latin typeface="Times New Roman"/>
              <a:ea typeface="Times New Roman"/>
              <a:cs typeface="Times New Roman"/>
              <a:sym typeface="Times New Roman"/>
            </a:endParaRPr>
          </a:p>
        </p:txBody>
      </p:sp>
      <p:sp>
        <p:nvSpPr>
          <p:cNvPr id="216" name="Google Shape;216;p30"/>
          <p:cNvSpPr txBox="1"/>
          <p:nvPr/>
        </p:nvSpPr>
        <p:spPr>
          <a:xfrm>
            <a:off x="739800" y="241350"/>
            <a:ext cx="7652100" cy="719700"/>
          </a:xfrm>
          <a:prstGeom prst="rect">
            <a:avLst/>
          </a:prstGeom>
          <a:noFill/>
          <a:ln>
            <a:noFill/>
          </a:ln>
        </p:spPr>
        <p:txBody>
          <a:bodyPr anchorCtr="0" anchor="t" bIns="91425" lIns="91425" spcFirstLastPara="1" rIns="91425" wrap="square" tIns="91425">
            <a:normAutofit fontScale="92500"/>
          </a:bodyPr>
          <a:lstStyle/>
          <a:p>
            <a:pPr indent="0" lvl="0" marL="0" rtl="0" algn="ctr">
              <a:spcBef>
                <a:spcPts val="0"/>
              </a:spcBef>
              <a:spcAft>
                <a:spcPts val="0"/>
              </a:spcAft>
              <a:buNone/>
            </a:pPr>
            <a:r>
              <a:rPr b="1" lang="en" sz="3000">
                <a:solidFill>
                  <a:schemeClr val="lt1"/>
                </a:solidFill>
                <a:latin typeface="Times New Roman"/>
                <a:ea typeface="Times New Roman"/>
                <a:cs typeface="Times New Roman"/>
                <a:sym typeface="Times New Roman"/>
              </a:rPr>
              <a:t>Sensor &amp; Communication Integration (Jetson)</a:t>
            </a:r>
            <a:endParaRPr b="1" sz="3000">
              <a:solidFill>
                <a:schemeClr val="lt1"/>
              </a:solidFill>
              <a:latin typeface="Times New Roman"/>
              <a:ea typeface="Times New Roman"/>
              <a:cs typeface="Times New Roman"/>
              <a:sym typeface="Times New Roman"/>
            </a:endParaRPr>
          </a:p>
        </p:txBody>
      </p:sp>
      <p:pic>
        <p:nvPicPr>
          <p:cNvPr id="217" name="Google Shape;217;p30"/>
          <p:cNvPicPr preferRelativeResize="0"/>
          <p:nvPr/>
        </p:nvPicPr>
        <p:blipFill>
          <a:blip r:embed="rId3">
            <a:alphaModFix/>
          </a:blip>
          <a:stretch>
            <a:fillRect/>
          </a:stretch>
        </p:blipFill>
        <p:spPr>
          <a:xfrm>
            <a:off x="197497" y="1424315"/>
            <a:ext cx="3009900" cy="2999557"/>
          </a:xfrm>
          <a:prstGeom prst="rect">
            <a:avLst/>
          </a:prstGeom>
          <a:noFill/>
          <a:ln>
            <a:noFill/>
          </a:ln>
        </p:spPr>
      </p:pic>
      <p:pic>
        <p:nvPicPr>
          <p:cNvPr id="218" name="Google Shape;218;p30"/>
          <p:cNvPicPr preferRelativeResize="0"/>
          <p:nvPr/>
        </p:nvPicPr>
        <p:blipFill>
          <a:blip r:embed="rId4">
            <a:alphaModFix/>
          </a:blip>
          <a:stretch>
            <a:fillRect/>
          </a:stretch>
        </p:blipFill>
        <p:spPr>
          <a:xfrm>
            <a:off x="5650312" y="1407650"/>
            <a:ext cx="3190875" cy="2895600"/>
          </a:xfrm>
          <a:prstGeom prst="rect">
            <a:avLst/>
          </a:prstGeom>
          <a:noFill/>
          <a:ln>
            <a:noFill/>
          </a:ln>
        </p:spPr>
      </p:pic>
      <p:sp>
        <p:nvSpPr>
          <p:cNvPr id="219" name="Google Shape;219;p30"/>
          <p:cNvSpPr/>
          <p:nvPr/>
        </p:nvSpPr>
        <p:spPr>
          <a:xfrm>
            <a:off x="3546475" y="1213175"/>
            <a:ext cx="1413300" cy="292200"/>
          </a:xfrm>
          <a:prstGeom prst="right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 name="Google Shape;220;p30"/>
          <p:cNvSpPr txBox="1"/>
          <p:nvPr/>
        </p:nvSpPr>
        <p:spPr>
          <a:xfrm>
            <a:off x="3207400" y="1401655"/>
            <a:ext cx="2442900" cy="2895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Char char="●"/>
            </a:pPr>
            <a:r>
              <a:rPr lang="en" sz="1500">
                <a:solidFill>
                  <a:schemeClr val="lt1"/>
                </a:solidFill>
                <a:latin typeface="Times New Roman"/>
                <a:ea typeface="Times New Roman"/>
                <a:cs typeface="Times New Roman"/>
                <a:sym typeface="Times New Roman"/>
              </a:rPr>
              <a:t>Replaced </a:t>
            </a:r>
            <a:r>
              <a:rPr b="1" lang="en" sz="1500">
                <a:solidFill>
                  <a:schemeClr val="lt1"/>
                </a:solidFill>
                <a:latin typeface="Times New Roman"/>
                <a:ea typeface="Times New Roman"/>
                <a:cs typeface="Times New Roman"/>
                <a:sym typeface="Times New Roman"/>
              </a:rPr>
              <a:t>ESP32 → ESP32‑S3</a:t>
            </a:r>
            <a:r>
              <a:rPr lang="en" sz="1500">
                <a:solidFill>
                  <a:schemeClr val="lt1"/>
                </a:solidFill>
                <a:latin typeface="Times New Roman"/>
                <a:ea typeface="Times New Roman"/>
                <a:cs typeface="Times New Roman"/>
                <a:sym typeface="Times New Roman"/>
              </a:rPr>
              <a:t> to support more reliable ESP‑NOW communication for the swarm system</a:t>
            </a:r>
            <a:endParaRPr sz="1500">
              <a:solidFill>
                <a:schemeClr val="lt1"/>
              </a:solidFill>
              <a:latin typeface="Times New Roman"/>
              <a:ea typeface="Times New Roman"/>
              <a:cs typeface="Times New Roman"/>
              <a:sym typeface="Times New Roman"/>
            </a:endParaRPr>
          </a:p>
          <a:p>
            <a:pPr indent="-342900" lvl="0" marL="457200" rtl="0" algn="l">
              <a:spcBef>
                <a:spcPts val="0"/>
              </a:spcBef>
              <a:spcAft>
                <a:spcPts val="0"/>
              </a:spcAft>
              <a:buClr>
                <a:schemeClr val="lt1"/>
              </a:buClr>
              <a:buSzPts val="1800"/>
              <a:buChar char="●"/>
            </a:pPr>
            <a:r>
              <a:rPr lang="en" sz="1500">
                <a:solidFill>
                  <a:schemeClr val="lt1"/>
                </a:solidFill>
                <a:latin typeface="Times New Roman"/>
                <a:ea typeface="Times New Roman"/>
                <a:cs typeface="Times New Roman"/>
                <a:sym typeface="Times New Roman"/>
              </a:rPr>
              <a:t>Added </a:t>
            </a:r>
            <a:r>
              <a:rPr b="1" lang="en" sz="1500">
                <a:solidFill>
                  <a:schemeClr val="lt1"/>
                </a:solidFill>
                <a:latin typeface="Times New Roman"/>
                <a:ea typeface="Times New Roman"/>
                <a:cs typeface="Times New Roman"/>
                <a:sym typeface="Times New Roman"/>
              </a:rPr>
              <a:t>Pixhawk</a:t>
            </a:r>
            <a:r>
              <a:rPr lang="en" sz="1500">
                <a:solidFill>
                  <a:schemeClr val="lt1"/>
                </a:solidFill>
                <a:latin typeface="Times New Roman"/>
                <a:ea typeface="Times New Roman"/>
                <a:cs typeface="Times New Roman"/>
                <a:sym typeface="Times New Roman"/>
              </a:rPr>
              <a:t> to handle motor control, navigation, and sensor timestamping</a:t>
            </a:r>
            <a:endParaRPr sz="1500">
              <a:solidFill>
                <a:schemeClr val="lt1"/>
              </a:solidFill>
              <a:latin typeface="Times New Roman"/>
              <a:ea typeface="Times New Roman"/>
              <a:cs typeface="Times New Roman"/>
              <a:sym typeface="Times New Roman"/>
            </a:endParaRPr>
          </a:p>
          <a:p>
            <a:pPr indent="-342900" lvl="0" marL="457200" rtl="0" algn="l">
              <a:spcBef>
                <a:spcPts val="0"/>
              </a:spcBef>
              <a:spcAft>
                <a:spcPts val="0"/>
              </a:spcAft>
              <a:buClr>
                <a:schemeClr val="lt1"/>
              </a:buClr>
              <a:buSzPts val="1800"/>
              <a:buChar char="●"/>
            </a:pPr>
            <a:r>
              <a:rPr lang="en" sz="1500">
                <a:solidFill>
                  <a:schemeClr val="lt1"/>
                </a:solidFill>
                <a:latin typeface="Times New Roman"/>
                <a:ea typeface="Times New Roman"/>
                <a:cs typeface="Times New Roman"/>
                <a:sym typeface="Times New Roman"/>
              </a:rPr>
              <a:t>Integrated </a:t>
            </a:r>
            <a:r>
              <a:rPr b="1" lang="en" sz="1500">
                <a:solidFill>
                  <a:schemeClr val="lt1"/>
                </a:solidFill>
                <a:latin typeface="Times New Roman"/>
                <a:ea typeface="Times New Roman"/>
                <a:cs typeface="Times New Roman"/>
                <a:sym typeface="Times New Roman"/>
              </a:rPr>
              <a:t>final geo‑overlay sensors</a:t>
            </a:r>
            <a:r>
              <a:rPr lang="en" sz="1500">
                <a:solidFill>
                  <a:schemeClr val="lt1"/>
                </a:solidFill>
                <a:latin typeface="Times New Roman"/>
                <a:ea typeface="Times New Roman"/>
                <a:cs typeface="Times New Roman"/>
                <a:sym typeface="Times New Roman"/>
              </a:rPr>
              <a:t>.</a:t>
            </a:r>
            <a:endParaRPr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endParaRPr>
          </a:p>
        </p:txBody>
      </p:sp>
      <p:sp>
        <p:nvSpPr>
          <p:cNvPr id="221" name="Google Shape;221;p30"/>
          <p:cNvSpPr txBox="1"/>
          <p:nvPr/>
        </p:nvSpPr>
        <p:spPr>
          <a:xfrm>
            <a:off x="5594266" y="4374573"/>
            <a:ext cx="3009900" cy="393600"/>
          </a:xfrm>
          <a:prstGeom prst="rect">
            <a:avLst/>
          </a:prstGeom>
          <a:noFill/>
          <a:ln>
            <a:noFill/>
          </a:ln>
        </p:spPr>
        <p:txBody>
          <a:bodyPr anchorCtr="0" anchor="t" bIns="91425" lIns="91425" spcFirstLastPara="1" rIns="91425" wrap="square" tIns="91425">
            <a:normAutofit fontScale="55000" lnSpcReduction="20000"/>
          </a:bodyPr>
          <a:lstStyle/>
          <a:p>
            <a:pPr indent="0" lvl="0" marL="457200" rtl="0" algn="ctr">
              <a:spcBef>
                <a:spcPts val="0"/>
              </a:spcBef>
              <a:spcAft>
                <a:spcPts val="0"/>
              </a:spcAft>
              <a:buNone/>
            </a:pPr>
            <a:r>
              <a:rPr b="1" lang="en" sz="3000">
                <a:solidFill>
                  <a:schemeClr val="lt1"/>
                </a:solidFill>
                <a:latin typeface="Times New Roman"/>
                <a:ea typeface="Times New Roman"/>
                <a:cs typeface="Times New Roman"/>
                <a:sym typeface="Times New Roman"/>
              </a:rPr>
              <a:t>* Main Hull configuration</a:t>
            </a:r>
            <a:endParaRPr b="1" sz="3000">
              <a:solidFill>
                <a:schemeClr val="lt1"/>
              </a:solidFill>
              <a:latin typeface="Times New Roman"/>
              <a:ea typeface="Times New Roman"/>
              <a:cs typeface="Times New Roman"/>
              <a:sym typeface="Times New Roman"/>
            </a:endParaRPr>
          </a:p>
        </p:txBody>
      </p:sp>
      <p:pic>
        <p:nvPicPr>
          <p:cNvPr id="222" name="Google Shape;222;p30"/>
          <p:cNvPicPr preferRelativeResize="0"/>
          <p:nvPr/>
        </p:nvPicPr>
        <p:blipFill>
          <a:blip r:embed="rId5">
            <a:alphaModFix/>
          </a:blip>
          <a:stretch>
            <a:fillRect/>
          </a:stretch>
        </p:blipFill>
        <p:spPr>
          <a:xfrm>
            <a:off x="8091000" y="1424324"/>
            <a:ext cx="1073275" cy="1073250"/>
          </a:xfrm>
          <a:prstGeom prst="rect">
            <a:avLst/>
          </a:prstGeom>
          <a:noFill/>
          <a:ln>
            <a:noFill/>
          </a:ln>
        </p:spPr>
      </p:pic>
      <p:sp>
        <p:nvSpPr>
          <p:cNvPr id="223" name="Google Shape;223;p30"/>
          <p:cNvSpPr txBox="1"/>
          <p:nvPr/>
        </p:nvSpPr>
        <p:spPr>
          <a:xfrm>
            <a:off x="8282338" y="2102250"/>
            <a:ext cx="690600" cy="44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500">
                <a:solidFill>
                  <a:schemeClr val="dk1"/>
                </a:solidFill>
                <a:latin typeface="Times New Roman"/>
                <a:ea typeface="Times New Roman"/>
                <a:cs typeface="Times New Roman"/>
                <a:sym typeface="Times New Roman"/>
              </a:rPr>
              <a:t>gps</a:t>
            </a:r>
            <a:endParaRPr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1"/>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t/>
            </a:r>
            <a:endParaRPr b="1" sz="3000">
              <a:solidFill>
                <a:schemeClr val="lt1"/>
              </a:solidFill>
              <a:latin typeface="Times New Roman"/>
              <a:ea typeface="Times New Roman"/>
              <a:cs typeface="Times New Roman"/>
              <a:sym typeface="Times New Roman"/>
            </a:endParaRPr>
          </a:p>
        </p:txBody>
      </p:sp>
      <p:sp>
        <p:nvSpPr>
          <p:cNvPr id="229" name="Google Shape;229;p31"/>
          <p:cNvSpPr txBox="1"/>
          <p:nvPr/>
        </p:nvSpPr>
        <p:spPr>
          <a:xfrm>
            <a:off x="1000650" y="-95970"/>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lang="en" sz="3000">
                <a:solidFill>
                  <a:schemeClr val="lt1"/>
                </a:solidFill>
                <a:latin typeface="Times New Roman"/>
                <a:ea typeface="Times New Roman"/>
                <a:cs typeface="Times New Roman"/>
                <a:sym typeface="Times New Roman"/>
              </a:rPr>
              <a:t>Updated Shelf Subassembly</a:t>
            </a:r>
            <a:endParaRPr b="1" sz="3000">
              <a:solidFill>
                <a:schemeClr val="lt1"/>
              </a:solidFill>
              <a:latin typeface="Times New Roman"/>
              <a:ea typeface="Times New Roman"/>
              <a:cs typeface="Times New Roman"/>
              <a:sym typeface="Times New Roman"/>
            </a:endParaRPr>
          </a:p>
        </p:txBody>
      </p:sp>
      <p:pic>
        <p:nvPicPr>
          <p:cNvPr id="230" name="Google Shape;230;p31"/>
          <p:cNvPicPr preferRelativeResize="0"/>
          <p:nvPr/>
        </p:nvPicPr>
        <p:blipFill>
          <a:blip r:embed="rId3">
            <a:alphaModFix/>
          </a:blip>
          <a:stretch>
            <a:fillRect/>
          </a:stretch>
        </p:blipFill>
        <p:spPr>
          <a:xfrm>
            <a:off x="1726675" y="623724"/>
            <a:ext cx="5690626" cy="4407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2"/>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t/>
            </a:r>
            <a:endParaRPr b="1" sz="3000">
              <a:solidFill>
                <a:schemeClr val="lt1"/>
              </a:solidFill>
              <a:latin typeface="Times New Roman"/>
              <a:ea typeface="Times New Roman"/>
              <a:cs typeface="Times New Roman"/>
              <a:sym typeface="Times New Roman"/>
            </a:endParaRPr>
          </a:p>
        </p:txBody>
      </p:sp>
      <p:sp>
        <p:nvSpPr>
          <p:cNvPr id="236" name="Google Shape;236;p32"/>
          <p:cNvSpPr txBox="1"/>
          <p:nvPr/>
        </p:nvSpPr>
        <p:spPr>
          <a:xfrm>
            <a:off x="1000650" y="-95970"/>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lang="en" sz="3000">
                <a:solidFill>
                  <a:schemeClr val="lt1"/>
                </a:solidFill>
                <a:latin typeface="Times New Roman"/>
                <a:ea typeface="Times New Roman"/>
                <a:cs typeface="Times New Roman"/>
                <a:sym typeface="Times New Roman"/>
              </a:rPr>
              <a:t>Updated AQUABOT Assembly</a:t>
            </a:r>
            <a:endParaRPr b="1" sz="3000">
              <a:solidFill>
                <a:schemeClr val="lt1"/>
              </a:solidFill>
              <a:latin typeface="Times New Roman"/>
              <a:ea typeface="Times New Roman"/>
              <a:cs typeface="Times New Roman"/>
              <a:sym typeface="Times New Roman"/>
            </a:endParaRPr>
          </a:p>
        </p:txBody>
      </p:sp>
      <p:pic>
        <p:nvPicPr>
          <p:cNvPr id="237" name="Google Shape;237;p32"/>
          <p:cNvPicPr preferRelativeResize="0"/>
          <p:nvPr/>
        </p:nvPicPr>
        <p:blipFill>
          <a:blip r:embed="rId3">
            <a:alphaModFix/>
          </a:blip>
          <a:stretch>
            <a:fillRect/>
          </a:stretch>
        </p:blipFill>
        <p:spPr>
          <a:xfrm>
            <a:off x="1059483" y="533025"/>
            <a:ext cx="7025049" cy="455422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241" name="Shape 241"/>
        <p:cNvGrpSpPr/>
        <p:nvPr/>
      </p:nvGrpSpPr>
      <p:grpSpPr>
        <a:xfrm>
          <a:off x="0" y="0"/>
          <a:ext cx="0" cy="0"/>
          <a:chOff x="0" y="0"/>
          <a:chExt cx="0" cy="0"/>
        </a:xfrm>
      </p:grpSpPr>
      <p:sp>
        <p:nvSpPr>
          <p:cNvPr id="242" name="Google Shape;242;p33"/>
          <p:cNvSpPr txBox="1"/>
          <p:nvPr/>
        </p:nvSpPr>
        <p:spPr>
          <a:xfrm>
            <a:off x="696900" y="1980300"/>
            <a:ext cx="7750200" cy="8265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5000">
                <a:solidFill>
                  <a:srgbClr val="FFFFFF"/>
                </a:solidFill>
                <a:latin typeface="Times"/>
                <a:ea typeface="Times"/>
                <a:cs typeface="Times"/>
                <a:sym typeface="Times"/>
              </a:rPr>
              <a:t>Verification Results</a:t>
            </a:r>
            <a:endParaRPr sz="2400">
              <a:solidFill>
                <a:srgbClr val="FF0000"/>
              </a:solidFill>
              <a:latin typeface="Times New Roman"/>
              <a:ea typeface="Times New Roman"/>
              <a:cs typeface="Times New Roman"/>
              <a:sym typeface="Times New Roman"/>
            </a:endParaRPr>
          </a:p>
          <a:p>
            <a:pPr indent="0" lvl="0" marL="0" marR="0" rtl="0" algn="ctr">
              <a:lnSpc>
                <a:spcPct val="75000"/>
              </a:lnSpc>
              <a:spcBef>
                <a:spcPts val="0"/>
              </a:spcBef>
              <a:spcAft>
                <a:spcPts val="0"/>
              </a:spcAft>
              <a:buClr>
                <a:srgbClr val="000000"/>
              </a:buClr>
              <a:buSzPts val="1800"/>
              <a:buFont typeface="Arial"/>
              <a:buNone/>
            </a:pPr>
            <a:r>
              <a:t/>
            </a:r>
            <a:endParaRPr b="1" sz="5000">
              <a:solidFill>
                <a:srgbClr val="FFFFFF"/>
              </a:solidFill>
              <a:latin typeface="Times"/>
              <a:ea typeface="Times"/>
              <a:cs typeface="Times"/>
              <a:sym typeface="Times"/>
            </a:endParaRPr>
          </a:p>
          <a:p>
            <a:pPr indent="0" lvl="0" marL="0" marR="0" rtl="0" algn="l">
              <a:lnSpc>
                <a:spcPct val="75000"/>
              </a:lnSpc>
              <a:spcBef>
                <a:spcPts val="0"/>
              </a:spcBef>
              <a:spcAft>
                <a:spcPts val="0"/>
              </a:spcAft>
              <a:buClr>
                <a:srgbClr val="000000"/>
              </a:buClr>
              <a:buSzPts val="1800"/>
              <a:buFont typeface="Arial"/>
              <a:buNone/>
            </a:pPr>
            <a:r>
              <a:t/>
            </a:r>
            <a:endParaRPr b="1" sz="5000">
              <a:solidFill>
                <a:srgbClr val="FFFFFF"/>
              </a:solidFill>
              <a:latin typeface="Times"/>
              <a:ea typeface="Times"/>
              <a:cs typeface="Times"/>
              <a:sym typeface="Times"/>
            </a:endParaRPr>
          </a:p>
          <a:p>
            <a:pPr indent="0" lvl="0" marL="0" marR="0" rtl="0" algn="ctr">
              <a:lnSpc>
                <a:spcPct val="75000"/>
              </a:lnSpc>
              <a:spcBef>
                <a:spcPts val="0"/>
              </a:spcBef>
              <a:spcAft>
                <a:spcPts val="0"/>
              </a:spcAft>
              <a:buClr>
                <a:srgbClr val="000000"/>
              </a:buClr>
              <a:buSzPts val="1800"/>
              <a:buFont typeface="Arial"/>
              <a:buNone/>
            </a:pPr>
            <a:r>
              <a:t/>
            </a:r>
            <a:endParaRPr b="1" sz="3000">
              <a:solidFill>
                <a:srgbClr val="FFFFFF"/>
              </a:solidFill>
              <a:latin typeface="Times"/>
              <a:ea typeface="Times"/>
              <a:cs typeface="Times"/>
              <a:sym typeface="Times"/>
            </a:endParaRPr>
          </a:p>
        </p:txBody>
      </p:sp>
      <p:sp>
        <p:nvSpPr>
          <p:cNvPr id="243" name="Google Shape;243;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249" name="Google Shape;249;p34"/>
          <p:cNvSpPr txBox="1"/>
          <p:nvPr/>
        </p:nvSpPr>
        <p:spPr>
          <a:xfrm>
            <a:off x="0" y="220525"/>
            <a:ext cx="9105600" cy="71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1018"/>
              <a:buNone/>
            </a:pPr>
            <a:r>
              <a:rPr b="1" lang="en" sz="3600">
                <a:solidFill>
                  <a:schemeClr val="lt1"/>
                </a:solidFill>
                <a:latin typeface="Times New Roman"/>
                <a:ea typeface="Times New Roman"/>
                <a:cs typeface="Times New Roman"/>
                <a:sym typeface="Times New Roman"/>
              </a:rPr>
              <a:t>Off-Water Navigation/Propulsion Test Setup</a:t>
            </a:r>
            <a:endParaRPr b="1" sz="3600">
              <a:solidFill>
                <a:schemeClr val="lt1"/>
              </a:solidFill>
              <a:latin typeface="Times New Roman"/>
              <a:ea typeface="Times New Roman"/>
              <a:cs typeface="Times New Roman"/>
              <a:sym typeface="Times New Roman"/>
            </a:endParaRPr>
          </a:p>
        </p:txBody>
      </p:sp>
      <p:sp>
        <p:nvSpPr>
          <p:cNvPr id="250" name="Google Shape;250;p34"/>
          <p:cNvSpPr txBox="1"/>
          <p:nvPr/>
        </p:nvSpPr>
        <p:spPr>
          <a:xfrm>
            <a:off x="457200" y="1719072"/>
            <a:ext cx="3886200" cy="2596800"/>
          </a:xfrm>
          <a:prstGeom prst="rect">
            <a:avLst/>
          </a:prstGeom>
          <a:noFill/>
          <a:ln>
            <a:noFill/>
          </a:ln>
        </p:spPr>
        <p:txBody>
          <a:bodyPr anchorCtr="0" anchor="t" bIns="91425" lIns="91425" spcFirstLastPara="1" rIns="91425" wrap="square" tIns="91425">
            <a:noAutofit/>
          </a:bodyPr>
          <a:lstStyle/>
          <a:p>
            <a:pPr indent="-238760" lvl="0" marL="274320" rtl="0" algn="l">
              <a:lnSpc>
                <a:spcPct val="115000"/>
              </a:lnSpc>
              <a:spcBef>
                <a:spcPts val="200"/>
              </a:spcBef>
              <a:spcAft>
                <a:spcPts val="0"/>
              </a:spcAft>
              <a:buClr>
                <a:srgbClr val="FFFFFF"/>
              </a:buClr>
              <a:buSzPts val="1600"/>
              <a:buFont typeface="Times New Roman"/>
              <a:buChar char="●"/>
            </a:pPr>
            <a:r>
              <a:rPr lang="en" sz="1600">
                <a:solidFill>
                  <a:srgbClr val="FFFFFF"/>
                </a:solidFill>
                <a:latin typeface="Times New Roman"/>
                <a:ea typeface="Times New Roman"/>
                <a:cs typeface="Times New Roman"/>
                <a:sym typeface="Times New Roman"/>
              </a:rPr>
              <a:t>All electronics installed in hull: Jetson Orin Nano, Pixhawk, ESP32, battery</a:t>
            </a:r>
            <a:endParaRPr sz="1600">
              <a:solidFill>
                <a:srgbClr val="FFFFFF"/>
              </a:solidFill>
              <a:latin typeface="Times New Roman"/>
              <a:ea typeface="Times New Roman"/>
              <a:cs typeface="Times New Roman"/>
              <a:sym typeface="Times New Roman"/>
            </a:endParaRPr>
          </a:p>
          <a:p>
            <a:pPr indent="-238760" lvl="0" marL="274320" rtl="0" algn="l">
              <a:lnSpc>
                <a:spcPct val="115000"/>
              </a:lnSpc>
              <a:spcBef>
                <a:spcPts val="0"/>
              </a:spcBef>
              <a:spcAft>
                <a:spcPts val="0"/>
              </a:spcAft>
              <a:buClr>
                <a:srgbClr val="FFFFFF"/>
              </a:buClr>
              <a:buSzPts val="1600"/>
              <a:buFont typeface="Times New Roman"/>
              <a:buChar char="●"/>
            </a:pPr>
            <a:r>
              <a:rPr lang="en" sz="1600">
                <a:solidFill>
                  <a:srgbClr val="FFFFFF"/>
                </a:solidFill>
                <a:latin typeface="Times New Roman"/>
                <a:ea typeface="Times New Roman"/>
                <a:cs typeface="Times New Roman"/>
                <a:sym typeface="Times New Roman"/>
              </a:rPr>
              <a:t>Pixhawk connected to Jetson via MAVProxy (serial → UDP bridge)</a:t>
            </a:r>
            <a:endParaRPr sz="1600">
              <a:solidFill>
                <a:srgbClr val="FFFFFF"/>
              </a:solidFill>
              <a:latin typeface="Times New Roman"/>
              <a:ea typeface="Times New Roman"/>
              <a:cs typeface="Times New Roman"/>
              <a:sym typeface="Times New Roman"/>
            </a:endParaRPr>
          </a:p>
          <a:p>
            <a:pPr indent="-238760" lvl="0" marL="274320" rtl="0" algn="l">
              <a:lnSpc>
                <a:spcPct val="115000"/>
              </a:lnSpc>
              <a:spcBef>
                <a:spcPts val="0"/>
              </a:spcBef>
              <a:spcAft>
                <a:spcPts val="0"/>
              </a:spcAft>
              <a:buClr>
                <a:srgbClr val="FFFFFF"/>
              </a:buClr>
              <a:buSzPts val="1600"/>
              <a:buFont typeface="Times New Roman"/>
              <a:buChar char="●"/>
            </a:pPr>
            <a:r>
              <a:rPr lang="en" sz="1600">
                <a:solidFill>
                  <a:srgbClr val="FFFFFF"/>
                </a:solidFill>
                <a:latin typeface="Times New Roman"/>
                <a:ea typeface="Times New Roman"/>
                <a:cs typeface="Times New Roman"/>
                <a:sym typeface="Times New Roman"/>
              </a:rPr>
              <a:t>GUI hosted on Jetson, accessed remotely via Tailscale VPN</a:t>
            </a:r>
            <a:endParaRPr sz="1600">
              <a:solidFill>
                <a:srgbClr val="FFFFFF"/>
              </a:solidFill>
              <a:latin typeface="Times New Roman"/>
              <a:ea typeface="Times New Roman"/>
              <a:cs typeface="Times New Roman"/>
              <a:sym typeface="Times New Roman"/>
            </a:endParaRPr>
          </a:p>
          <a:p>
            <a:pPr indent="-238760" lvl="0" marL="274320" rtl="0" algn="l">
              <a:lnSpc>
                <a:spcPct val="115000"/>
              </a:lnSpc>
              <a:spcBef>
                <a:spcPts val="0"/>
              </a:spcBef>
              <a:spcAft>
                <a:spcPts val="0"/>
              </a:spcAft>
              <a:buClr>
                <a:srgbClr val="FFFFFF"/>
              </a:buClr>
              <a:buSzPts val="1600"/>
              <a:buFont typeface="Times New Roman"/>
              <a:buChar char="●"/>
            </a:pPr>
            <a:r>
              <a:rPr lang="en" sz="1600">
                <a:solidFill>
                  <a:srgbClr val="FFFFFF"/>
                </a:solidFill>
                <a:latin typeface="Times New Roman"/>
                <a:ea typeface="Times New Roman"/>
                <a:cs typeface="Times New Roman"/>
                <a:sym typeface="Times New Roman"/>
              </a:rPr>
              <a:t>QGroundControl connected over Tailscale for independent telemetry</a:t>
            </a:r>
            <a:endParaRPr sz="1600">
              <a:solidFill>
                <a:schemeClr val="dk2"/>
              </a:solidFill>
              <a:latin typeface="Times New Roman"/>
              <a:ea typeface="Times New Roman"/>
              <a:cs typeface="Times New Roman"/>
              <a:sym typeface="Times New Roman"/>
            </a:endParaRPr>
          </a:p>
        </p:txBody>
      </p:sp>
      <p:sp>
        <p:nvSpPr>
          <p:cNvPr id="251" name="Google Shape;251;p34"/>
          <p:cNvSpPr txBox="1"/>
          <p:nvPr/>
        </p:nvSpPr>
        <p:spPr>
          <a:xfrm>
            <a:off x="4538175" y="1337875"/>
            <a:ext cx="3292500" cy="538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t/>
            </a:r>
            <a:endParaRPr b="1" sz="16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sp>
        <p:nvSpPr>
          <p:cNvPr id="252" name="Google Shape;252;p34"/>
          <p:cNvSpPr txBox="1"/>
          <p:nvPr/>
        </p:nvSpPr>
        <p:spPr>
          <a:xfrm>
            <a:off x="4800600" y="1719072"/>
            <a:ext cx="3886200" cy="2596800"/>
          </a:xfrm>
          <a:prstGeom prst="rect">
            <a:avLst/>
          </a:prstGeom>
          <a:noFill/>
          <a:ln>
            <a:noFill/>
          </a:ln>
        </p:spPr>
        <p:txBody>
          <a:bodyPr anchorCtr="0" anchor="t" bIns="91425" lIns="91425" spcFirstLastPara="1" rIns="91425" wrap="square" tIns="91425">
            <a:noAutofit/>
          </a:bodyPr>
          <a:lstStyle/>
          <a:p>
            <a:pPr indent="-238760" lvl="0" marL="274320" marR="0" rtl="0" algn="l">
              <a:lnSpc>
                <a:spcPct val="115000"/>
              </a:lnSpc>
              <a:spcBef>
                <a:spcPts val="200"/>
              </a:spcBef>
              <a:spcAft>
                <a:spcPts val="0"/>
              </a:spcAft>
              <a:buClr>
                <a:srgbClr val="FFFFFF"/>
              </a:buClr>
              <a:buSzPts val="1600"/>
              <a:buFont typeface="Times New Roman"/>
              <a:buChar char="●"/>
            </a:pPr>
            <a:r>
              <a:rPr lang="en" sz="1600">
                <a:solidFill>
                  <a:srgbClr val="FFFFFF"/>
                </a:solidFill>
                <a:latin typeface="Times New Roman"/>
                <a:ea typeface="Times New Roman"/>
                <a:cs typeface="Times New Roman"/>
                <a:sym typeface="Times New Roman"/>
              </a:rPr>
              <a:t>Verify motor responds to GUI arm + throttle commands (MAVLink RC override)</a:t>
            </a:r>
            <a:endParaRPr sz="1600">
              <a:solidFill>
                <a:srgbClr val="FFFFFF"/>
              </a:solidFill>
              <a:latin typeface="Times New Roman"/>
              <a:ea typeface="Times New Roman"/>
              <a:cs typeface="Times New Roman"/>
              <a:sym typeface="Times New Roman"/>
            </a:endParaRPr>
          </a:p>
          <a:p>
            <a:pPr indent="-238760" lvl="0" marL="274320" marR="0" rtl="0" algn="l">
              <a:lnSpc>
                <a:spcPct val="115000"/>
              </a:lnSpc>
              <a:spcBef>
                <a:spcPts val="0"/>
              </a:spcBef>
              <a:spcAft>
                <a:spcPts val="0"/>
              </a:spcAft>
              <a:buClr>
                <a:srgbClr val="FFFFFF"/>
              </a:buClr>
              <a:buSzPts val="1600"/>
              <a:buFont typeface="Times New Roman"/>
              <a:buChar char="●"/>
            </a:pPr>
            <a:r>
              <a:rPr lang="en" sz="1600">
                <a:solidFill>
                  <a:srgbClr val="FFFFFF"/>
                </a:solidFill>
                <a:latin typeface="Times New Roman"/>
                <a:ea typeface="Times New Roman"/>
                <a:cs typeface="Times New Roman"/>
                <a:sym typeface="Times New Roman"/>
              </a:rPr>
              <a:t>Verify rudder servo responds to GUI directional commands</a:t>
            </a:r>
            <a:endParaRPr sz="1600">
              <a:solidFill>
                <a:srgbClr val="FFFFFF"/>
              </a:solidFill>
              <a:latin typeface="Times New Roman"/>
              <a:ea typeface="Times New Roman"/>
              <a:cs typeface="Times New Roman"/>
              <a:sym typeface="Times New Roman"/>
            </a:endParaRPr>
          </a:p>
          <a:p>
            <a:pPr indent="-238760" lvl="0" marL="274320" marR="0" rtl="0" algn="l">
              <a:lnSpc>
                <a:spcPct val="115000"/>
              </a:lnSpc>
              <a:spcBef>
                <a:spcPts val="0"/>
              </a:spcBef>
              <a:spcAft>
                <a:spcPts val="0"/>
              </a:spcAft>
              <a:buClr>
                <a:srgbClr val="FFFFFF"/>
              </a:buClr>
              <a:buSzPts val="1600"/>
              <a:buFont typeface="Times New Roman"/>
              <a:buChar char="●"/>
            </a:pPr>
            <a:r>
              <a:rPr lang="en" sz="1600">
                <a:solidFill>
                  <a:srgbClr val="FFFFFF"/>
                </a:solidFill>
                <a:latin typeface="Times New Roman"/>
                <a:ea typeface="Times New Roman"/>
                <a:cs typeface="Times New Roman"/>
                <a:sym typeface="Times New Roman"/>
              </a:rPr>
              <a:t>Verify waypoint upload and mission state machine transitions</a:t>
            </a:r>
            <a:endParaRPr sz="1600">
              <a:solidFill>
                <a:srgbClr val="FFFFFF"/>
              </a:solidFill>
              <a:latin typeface="Times New Roman"/>
              <a:ea typeface="Times New Roman"/>
              <a:cs typeface="Times New Roman"/>
              <a:sym typeface="Times New Roman"/>
            </a:endParaRPr>
          </a:p>
          <a:p>
            <a:pPr indent="-238760" lvl="0" marL="274320" marR="0" rtl="0" algn="l">
              <a:lnSpc>
                <a:spcPct val="115000"/>
              </a:lnSpc>
              <a:spcBef>
                <a:spcPts val="0"/>
              </a:spcBef>
              <a:spcAft>
                <a:spcPts val="0"/>
              </a:spcAft>
              <a:buClr>
                <a:srgbClr val="FFFFFF"/>
              </a:buClr>
              <a:buSzPts val="1600"/>
              <a:buFont typeface="Times New Roman"/>
              <a:buChar char="●"/>
            </a:pPr>
            <a:r>
              <a:rPr lang="en" sz="1600">
                <a:solidFill>
                  <a:srgbClr val="FFFFFF"/>
                </a:solidFill>
                <a:latin typeface="Times New Roman"/>
                <a:ea typeface="Times New Roman"/>
                <a:cs typeface="Times New Roman"/>
                <a:sym typeface="Times New Roman"/>
              </a:rPr>
              <a:t>Verify GPS lock and live telemetry display in GUI</a:t>
            </a:r>
            <a:endParaRPr sz="1600">
              <a:solidFill>
                <a:srgbClr val="FFB300"/>
              </a:solidFill>
              <a:latin typeface="Times New Roman"/>
              <a:ea typeface="Times New Roman"/>
              <a:cs typeface="Times New Roman"/>
              <a:sym typeface="Times New Roman"/>
            </a:endParaRPr>
          </a:p>
        </p:txBody>
      </p:sp>
      <p:sp>
        <p:nvSpPr>
          <p:cNvPr id="253" name="Google Shape;253;p34"/>
          <p:cNvSpPr/>
          <p:nvPr/>
        </p:nvSpPr>
        <p:spPr>
          <a:xfrm>
            <a:off x="4800600" y="1271016"/>
            <a:ext cx="3886200" cy="365700"/>
          </a:xfrm>
          <a:prstGeom prst="roundRect">
            <a:avLst>
              <a:gd fmla="val 16667" name="adj"/>
            </a:avLst>
          </a:prstGeom>
          <a:solidFill>
            <a:srgbClr val="5C6BC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600">
                <a:solidFill>
                  <a:srgbClr val="FFFFFF"/>
                </a:solidFill>
                <a:latin typeface="Times New Roman"/>
                <a:ea typeface="Times New Roman"/>
                <a:cs typeface="Times New Roman"/>
                <a:sym typeface="Times New Roman"/>
              </a:rPr>
              <a:t>Test Objectives</a:t>
            </a:r>
            <a:endParaRPr/>
          </a:p>
        </p:txBody>
      </p:sp>
      <p:sp>
        <p:nvSpPr>
          <p:cNvPr id="254" name="Google Shape;254;p34"/>
          <p:cNvSpPr/>
          <p:nvPr/>
        </p:nvSpPr>
        <p:spPr>
          <a:xfrm>
            <a:off x="457200" y="1271016"/>
            <a:ext cx="3886200" cy="365700"/>
          </a:xfrm>
          <a:prstGeom prst="roundRect">
            <a:avLst>
              <a:gd fmla="val 16667" name="adj"/>
            </a:avLst>
          </a:prstGeom>
          <a:solidFill>
            <a:srgbClr val="5C6BC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600">
                <a:solidFill>
                  <a:srgbClr val="FFFFFF"/>
                </a:solidFill>
                <a:latin typeface="Times New Roman"/>
                <a:ea typeface="Times New Roman"/>
                <a:cs typeface="Times New Roman"/>
                <a:sym typeface="Times New Roman"/>
              </a:rPr>
              <a:t>Hardware Configuration</a:t>
            </a:r>
            <a:endParaRPr/>
          </a:p>
        </p:txBody>
      </p:sp>
      <p:pic>
        <p:nvPicPr>
          <p:cNvPr id="255" name="Google Shape;255;p34"/>
          <p:cNvPicPr preferRelativeResize="0"/>
          <p:nvPr/>
        </p:nvPicPr>
        <p:blipFill>
          <a:blip r:embed="rId3">
            <a:alphaModFix/>
          </a:blip>
          <a:stretch>
            <a:fillRect/>
          </a:stretch>
        </p:blipFill>
        <p:spPr>
          <a:xfrm>
            <a:off x="4572000" y="1271016"/>
            <a:ext cx="19050" cy="304495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pic>
        <p:nvPicPr>
          <p:cNvPr id="261" name="Google Shape;261;p35" title="IMG_0557.MOV">
            <a:hlinkClick r:id="rId3"/>
          </p:cNvPr>
          <p:cNvPicPr preferRelativeResize="0"/>
          <p:nvPr/>
        </p:nvPicPr>
        <p:blipFill>
          <a:blip r:embed="rId4">
            <a:alphaModFix/>
          </a:blip>
          <a:stretch>
            <a:fillRect/>
          </a:stretch>
        </p:blipFill>
        <p:spPr>
          <a:xfrm>
            <a:off x="429788" y="1172050"/>
            <a:ext cx="4980601" cy="2799400"/>
          </a:xfrm>
          <a:prstGeom prst="rect">
            <a:avLst/>
          </a:prstGeom>
          <a:noFill/>
          <a:ln>
            <a:noFill/>
          </a:ln>
        </p:spPr>
      </p:pic>
      <p:sp>
        <p:nvSpPr>
          <p:cNvPr id="262" name="Google Shape;262;p35"/>
          <p:cNvSpPr txBox="1"/>
          <p:nvPr/>
        </p:nvSpPr>
        <p:spPr>
          <a:xfrm>
            <a:off x="429800" y="220525"/>
            <a:ext cx="4980600" cy="71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1018"/>
              <a:buNone/>
            </a:pPr>
            <a:r>
              <a:rPr b="1" lang="en" sz="3600">
                <a:solidFill>
                  <a:schemeClr val="lt1"/>
                </a:solidFill>
                <a:latin typeface="Times New Roman"/>
                <a:ea typeface="Times New Roman"/>
                <a:cs typeface="Times New Roman"/>
                <a:sym typeface="Times New Roman"/>
              </a:rPr>
              <a:t>Working Dry-Run</a:t>
            </a:r>
            <a:endParaRPr b="1" sz="3600">
              <a:solidFill>
                <a:schemeClr val="lt1"/>
              </a:solidFill>
              <a:latin typeface="Times New Roman"/>
              <a:ea typeface="Times New Roman"/>
              <a:cs typeface="Times New Roman"/>
              <a:sym typeface="Times New Roman"/>
            </a:endParaRPr>
          </a:p>
        </p:txBody>
      </p:sp>
      <p:pic>
        <p:nvPicPr>
          <p:cNvPr id="263" name="Google Shape;263;p35" title="IMG_0559.MOV">
            <a:hlinkClick r:id="rId5"/>
          </p:cNvPr>
          <p:cNvPicPr preferRelativeResize="0"/>
          <p:nvPr/>
        </p:nvPicPr>
        <p:blipFill>
          <a:blip r:embed="rId6">
            <a:alphaModFix/>
          </a:blip>
          <a:stretch>
            <a:fillRect/>
          </a:stretch>
        </p:blipFill>
        <p:spPr>
          <a:xfrm>
            <a:off x="5874175" y="438225"/>
            <a:ext cx="2760025" cy="42670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1000"/>
                                        <p:tgtEl>
                                          <p:spTgt spid="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269" name="Google Shape;269;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270" name="Google Shape;270;p36"/>
          <p:cNvSpPr txBox="1"/>
          <p:nvPr/>
        </p:nvSpPr>
        <p:spPr>
          <a:xfrm>
            <a:off x="1010771" y="369301"/>
            <a:ext cx="7141500" cy="71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1018"/>
              <a:buNone/>
            </a:pPr>
            <a:r>
              <a:rPr b="1" lang="en" sz="2600">
                <a:solidFill>
                  <a:schemeClr val="lt1"/>
                </a:solidFill>
                <a:latin typeface="Times New Roman"/>
                <a:ea typeface="Times New Roman"/>
                <a:cs typeface="Times New Roman"/>
                <a:sym typeface="Times New Roman"/>
              </a:rPr>
              <a:t>Off-Water Navigation/Propulsion Test — Results</a:t>
            </a:r>
            <a:endParaRPr b="1" sz="2600">
              <a:solidFill>
                <a:schemeClr val="lt1"/>
              </a:solidFill>
              <a:latin typeface="Times New Roman"/>
              <a:ea typeface="Times New Roman"/>
              <a:cs typeface="Times New Roman"/>
              <a:sym typeface="Times New Roman"/>
            </a:endParaRPr>
          </a:p>
          <a:p>
            <a:pPr indent="0" lvl="0" marL="0" rtl="0" algn="ctr">
              <a:spcBef>
                <a:spcPts val="0"/>
              </a:spcBef>
              <a:spcAft>
                <a:spcPts val="0"/>
              </a:spcAft>
              <a:buSzPts val="1018"/>
              <a:buNone/>
            </a:pPr>
            <a:r>
              <a:t/>
            </a:r>
            <a:endParaRPr b="1" sz="3600">
              <a:solidFill>
                <a:schemeClr val="lt1"/>
              </a:solidFill>
              <a:latin typeface="Times New Roman"/>
              <a:ea typeface="Times New Roman"/>
              <a:cs typeface="Times New Roman"/>
              <a:sym typeface="Times New Roman"/>
            </a:endParaRPr>
          </a:p>
        </p:txBody>
      </p:sp>
      <p:sp>
        <p:nvSpPr>
          <p:cNvPr id="271" name="Google Shape;271;p36"/>
          <p:cNvSpPr txBox="1"/>
          <p:nvPr/>
        </p:nvSpPr>
        <p:spPr>
          <a:xfrm>
            <a:off x="457200" y="1719072"/>
            <a:ext cx="3886200" cy="2596800"/>
          </a:xfrm>
          <a:prstGeom prst="rect">
            <a:avLst/>
          </a:prstGeom>
          <a:noFill/>
          <a:ln>
            <a:noFill/>
          </a:ln>
        </p:spPr>
        <p:txBody>
          <a:bodyPr anchorCtr="0" anchor="t" bIns="91425" lIns="91425" spcFirstLastPara="1" rIns="91425" wrap="square" tIns="91425">
            <a:noAutofit/>
          </a:bodyPr>
          <a:lstStyle/>
          <a:p>
            <a:pPr indent="-228600" lvl="0" marL="228600" rtl="0" algn="l">
              <a:lnSpc>
                <a:spcPct val="115000"/>
              </a:lnSpc>
              <a:spcBef>
                <a:spcPts val="300"/>
              </a:spcBef>
              <a:spcAft>
                <a:spcPts val="0"/>
              </a:spcAft>
              <a:buNone/>
            </a:pPr>
            <a:r>
              <a:rPr b="1" lang="en" sz="1600">
                <a:solidFill>
                  <a:srgbClr val="00C853"/>
                </a:solidFill>
                <a:latin typeface="Times New Roman"/>
                <a:ea typeface="Times New Roman"/>
                <a:cs typeface="Times New Roman"/>
                <a:sym typeface="Times New Roman"/>
              </a:rPr>
              <a:t>✓  </a:t>
            </a:r>
            <a:r>
              <a:rPr lang="en" sz="1600">
                <a:solidFill>
                  <a:srgbClr val="FFFFFF"/>
                </a:solidFill>
                <a:latin typeface="Times New Roman"/>
                <a:ea typeface="Times New Roman"/>
                <a:cs typeface="Times New Roman"/>
                <a:sym typeface="Times New Roman"/>
              </a:rPr>
              <a:t>Motor spinning on GUI ARM + throttle (MAVLink RC override)</a:t>
            </a:r>
            <a:endParaRPr sz="1600">
              <a:solidFill>
                <a:srgbClr val="FFFFFF"/>
              </a:solidFill>
              <a:latin typeface="Times New Roman"/>
              <a:ea typeface="Times New Roman"/>
              <a:cs typeface="Times New Roman"/>
              <a:sym typeface="Times New Roman"/>
            </a:endParaRPr>
          </a:p>
          <a:p>
            <a:pPr indent="-228600" lvl="0" marL="228600" rtl="0" algn="l">
              <a:lnSpc>
                <a:spcPct val="115000"/>
              </a:lnSpc>
              <a:spcBef>
                <a:spcPts val="300"/>
              </a:spcBef>
              <a:spcAft>
                <a:spcPts val="0"/>
              </a:spcAft>
              <a:buNone/>
            </a:pPr>
            <a:r>
              <a:rPr b="1" lang="en" sz="1600">
                <a:solidFill>
                  <a:srgbClr val="00C853"/>
                </a:solidFill>
                <a:latin typeface="Times New Roman"/>
                <a:ea typeface="Times New Roman"/>
                <a:cs typeface="Times New Roman"/>
                <a:sym typeface="Times New Roman"/>
              </a:rPr>
              <a:t>✓  </a:t>
            </a:r>
            <a:r>
              <a:rPr lang="en" sz="1600">
                <a:solidFill>
                  <a:srgbClr val="FFFFFF"/>
                </a:solidFill>
                <a:latin typeface="Times New Roman"/>
                <a:ea typeface="Times New Roman"/>
                <a:cs typeface="Times New Roman"/>
                <a:sym typeface="Times New Roman"/>
              </a:rPr>
              <a:t>Rudder servo responding to GUI directional commands</a:t>
            </a:r>
            <a:endParaRPr sz="1600">
              <a:solidFill>
                <a:srgbClr val="FFFFFF"/>
              </a:solidFill>
              <a:latin typeface="Times New Roman"/>
              <a:ea typeface="Times New Roman"/>
              <a:cs typeface="Times New Roman"/>
              <a:sym typeface="Times New Roman"/>
            </a:endParaRPr>
          </a:p>
          <a:p>
            <a:pPr indent="-228600" lvl="0" marL="228600" rtl="0" algn="l">
              <a:lnSpc>
                <a:spcPct val="115000"/>
              </a:lnSpc>
              <a:spcBef>
                <a:spcPts val="300"/>
              </a:spcBef>
              <a:spcAft>
                <a:spcPts val="0"/>
              </a:spcAft>
              <a:buNone/>
            </a:pPr>
            <a:r>
              <a:rPr b="1" lang="en" sz="1600">
                <a:solidFill>
                  <a:srgbClr val="00C853"/>
                </a:solidFill>
                <a:latin typeface="Times New Roman"/>
                <a:ea typeface="Times New Roman"/>
                <a:cs typeface="Times New Roman"/>
                <a:sym typeface="Times New Roman"/>
              </a:rPr>
              <a:t>✓  </a:t>
            </a:r>
            <a:r>
              <a:rPr lang="en" sz="1600">
                <a:solidFill>
                  <a:srgbClr val="FFFFFF"/>
                </a:solidFill>
                <a:latin typeface="Times New Roman"/>
                <a:ea typeface="Times New Roman"/>
                <a:cs typeface="Times New Roman"/>
                <a:sym typeface="Times New Roman"/>
              </a:rPr>
              <a:t>Waypoints uploaded to Pixhawk via GUI mission planner</a:t>
            </a:r>
            <a:endParaRPr sz="1600">
              <a:solidFill>
                <a:srgbClr val="FFFFFF"/>
              </a:solidFill>
              <a:latin typeface="Times New Roman"/>
              <a:ea typeface="Times New Roman"/>
              <a:cs typeface="Times New Roman"/>
              <a:sym typeface="Times New Roman"/>
            </a:endParaRPr>
          </a:p>
          <a:p>
            <a:pPr indent="-228600" lvl="0" marL="228600" rtl="0" algn="l">
              <a:lnSpc>
                <a:spcPct val="115000"/>
              </a:lnSpc>
              <a:spcBef>
                <a:spcPts val="300"/>
              </a:spcBef>
              <a:spcAft>
                <a:spcPts val="0"/>
              </a:spcAft>
              <a:buNone/>
            </a:pPr>
            <a:r>
              <a:rPr b="1" lang="en" sz="1600">
                <a:solidFill>
                  <a:srgbClr val="00C853"/>
                </a:solidFill>
                <a:latin typeface="Times New Roman"/>
                <a:ea typeface="Times New Roman"/>
                <a:cs typeface="Times New Roman"/>
                <a:sym typeface="Times New Roman"/>
              </a:rPr>
              <a:t>✓  </a:t>
            </a:r>
            <a:r>
              <a:rPr lang="en" sz="1600">
                <a:solidFill>
                  <a:srgbClr val="FFFFFF"/>
                </a:solidFill>
                <a:latin typeface="Times New Roman"/>
                <a:ea typeface="Times New Roman"/>
                <a:cs typeface="Times New Roman"/>
                <a:sym typeface="Times New Roman"/>
              </a:rPr>
              <a:t>Mission state machine: idle → uploaded → running → paused</a:t>
            </a:r>
            <a:endParaRPr sz="1600">
              <a:solidFill>
                <a:srgbClr val="FFFFFF"/>
              </a:solidFill>
              <a:latin typeface="Times New Roman"/>
              <a:ea typeface="Times New Roman"/>
              <a:cs typeface="Times New Roman"/>
              <a:sym typeface="Times New Roman"/>
            </a:endParaRPr>
          </a:p>
          <a:p>
            <a:pPr indent="0" lvl="0" marL="0" rtl="0" algn="l">
              <a:lnSpc>
                <a:spcPct val="115000"/>
              </a:lnSpc>
              <a:spcBef>
                <a:spcPts val="300"/>
              </a:spcBef>
              <a:spcAft>
                <a:spcPts val="200"/>
              </a:spcAft>
              <a:buNone/>
            </a:pPr>
            <a:r>
              <a:t/>
            </a:r>
            <a:endParaRPr sz="1600">
              <a:solidFill>
                <a:srgbClr val="FFFFFF"/>
              </a:solidFill>
              <a:latin typeface="Times New Roman"/>
              <a:ea typeface="Times New Roman"/>
              <a:cs typeface="Times New Roman"/>
              <a:sym typeface="Times New Roman"/>
            </a:endParaRPr>
          </a:p>
        </p:txBody>
      </p:sp>
      <p:sp>
        <p:nvSpPr>
          <p:cNvPr id="272" name="Google Shape;272;p36"/>
          <p:cNvSpPr txBox="1"/>
          <p:nvPr/>
        </p:nvSpPr>
        <p:spPr>
          <a:xfrm>
            <a:off x="4538175" y="1337875"/>
            <a:ext cx="3292500" cy="538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t/>
            </a:r>
            <a:endParaRPr b="1" sz="16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sp>
        <p:nvSpPr>
          <p:cNvPr id="273" name="Google Shape;273;p36"/>
          <p:cNvSpPr txBox="1"/>
          <p:nvPr/>
        </p:nvSpPr>
        <p:spPr>
          <a:xfrm>
            <a:off x="4800600" y="1719072"/>
            <a:ext cx="3886200" cy="2596800"/>
          </a:xfrm>
          <a:prstGeom prst="rect">
            <a:avLst/>
          </a:prstGeom>
          <a:noFill/>
          <a:ln>
            <a:noFill/>
          </a:ln>
        </p:spPr>
        <p:txBody>
          <a:bodyPr anchorCtr="0" anchor="t" bIns="91425" lIns="91425" spcFirstLastPara="1" rIns="91425" wrap="square" tIns="91425">
            <a:noAutofit/>
          </a:bodyPr>
          <a:lstStyle/>
          <a:p>
            <a:pPr indent="-228600" lvl="0" marL="228600" rtl="0" algn="l">
              <a:lnSpc>
                <a:spcPct val="115000"/>
              </a:lnSpc>
              <a:spcBef>
                <a:spcPts val="300"/>
              </a:spcBef>
              <a:spcAft>
                <a:spcPts val="0"/>
              </a:spcAft>
              <a:buNone/>
            </a:pPr>
            <a:r>
              <a:rPr b="1" lang="en" sz="1600">
                <a:solidFill>
                  <a:srgbClr val="00C853"/>
                </a:solidFill>
                <a:latin typeface="Times New Roman"/>
                <a:ea typeface="Times New Roman"/>
                <a:cs typeface="Times New Roman"/>
                <a:sym typeface="Times New Roman"/>
              </a:rPr>
              <a:t>✓  </a:t>
            </a:r>
            <a:r>
              <a:rPr lang="en" sz="1600">
                <a:solidFill>
                  <a:srgbClr val="FFFFFF"/>
                </a:solidFill>
                <a:latin typeface="Times New Roman"/>
                <a:ea typeface="Times New Roman"/>
                <a:cs typeface="Times New Roman"/>
                <a:sym typeface="Times New Roman"/>
              </a:rPr>
              <a:t>GPS lock; lat, lon, heading, speed live in GUI</a:t>
            </a:r>
            <a:endParaRPr sz="1600">
              <a:solidFill>
                <a:srgbClr val="FFFFFF"/>
              </a:solidFill>
              <a:latin typeface="Times New Roman"/>
              <a:ea typeface="Times New Roman"/>
              <a:cs typeface="Times New Roman"/>
              <a:sym typeface="Times New Roman"/>
            </a:endParaRPr>
          </a:p>
          <a:p>
            <a:pPr indent="-228600" lvl="0" marL="228600" rtl="0" algn="l">
              <a:lnSpc>
                <a:spcPct val="115000"/>
              </a:lnSpc>
              <a:spcBef>
                <a:spcPts val="300"/>
              </a:spcBef>
              <a:spcAft>
                <a:spcPts val="0"/>
              </a:spcAft>
              <a:buNone/>
            </a:pPr>
            <a:r>
              <a:rPr b="1" lang="en" sz="1600">
                <a:solidFill>
                  <a:srgbClr val="00C853"/>
                </a:solidFill>
                <a:latin typeface="Times New Roman"/>
                <a:ea typeface="Times New Roman"/>
                <a:cs typeface="Times New Roman"/>
                <a:sym typeface="Times New Roman"/>
              </a:rPr>
              <a:t>✓  </a:t>
            </a:r>
            <a:r>
              <a:rPr lang="en" sz="1600">
                <a:solidFill>
                  <a:srgbClr val="FFFFFF"/>
                </a:solidFill>
                <a:latin typeface="Times New Roman"/>
                <a:ea typeface="Times New Roman"/>
                <a:cs typeface="Times New Roman"/>
                <a:sym typeface="Times New Roman"/>
              </a:rPr>
              <a:t>Pixhawk status messages forwarded to GUI in real time</a:t>
            </a:r>
            <a:endParaRPr sz="1600">
              <a:solidFill>
                <a:srgbClr val="FFFFFF"/>
              </a:solidFill>
              <a:latin typeface="Times New Roman"/>
              <a:ea typeface="Times New Roman"/>
              <a:cs typeface="Times New Roman"/>
              <a:sym typeface="Times New Roman"/>
            </a:endParaRPr>
          </a:p>
          <a:p>
            <a:pPr indent="-228600" lvl="0" marL="228600" rtl="0" algn="l">
              <a:lnSpc>
                <a:spcPct val="115000"/>
              </a:lnSpc>
              <a:spcBef>
                <a:spcPts val="300"/>
              </a:spcBef>
              <a:spcAft>
                <a:spcPts val="0"/>
              </a:spcAft>
              <a:buNone/>
            </a:pPr>
            <a:r>
              <a:rPr b="1" lang="en" sz="1600">
                <a:solidFill>
                  <a:srgbClr val="00C853"/>
                </a:solidFill>
                <a:latin typeface="Times New Roman"/>
                <a:ea typeface="Times New Roman"/>
                <a:cs typeface="Times New Roman"/>
                <a:sym typeface="Times New Roman"/>
              </a:rPr>
              <a:t>✓  </a:t>
            </a:r>
            <a:r>
              <a:rPr lang="en" sz="1600">
                <a:solidFill>
                  <a:srgbClr val="FFFFFF"/>
                </a:solidFill>
                <a:latin typeface="Times New Roman"/>
                <a:ea typeface="Times New Roman"/>
                <a:cs typeface="Times New Roman"/>
                <a:sym typeface="Times New Roman"/>
              </a:rPr>
              <a:t>Full remote operation via Tailscale (off-site access)</a:t>
            </a:r>
            <a:endParaRPr sz="1600">
              <a:solidFill>
                <a:srgbClr val="FFFFFF"/>
              </a:solidFill>
              <a:latin typeface="Times New Roman"/>
              <a:ea typeface="Times New Roman"/>
              <a:cs typeface="Times New Roman"/>
              <a:sym typeface="Times New Roman"/>
            </a:endParaRPr>
          </a:p>
          <a:p>
            <a:pPr indent="0" lvl="0" marL="0" rtl="0" algn="l">
              <a:lnSpc>
                <a:spcPct val="115000"/>
              </a:lnSpc>
              <a:spcBef>
                <a:spcPts val="600"/>
              </a:spcBef>
              <a:spcAft>
                <a:spcPts val="0"/>
              </a:spcAft>
              <a:buNone/>
            </a:pPr>
            <a:r>
              <a:rPr i="1" lang="en" sz="1600">
                <a:solidFill>
                  <a:srgbClr val="FFAB40"/>
                </a:solidFill>
                <a:latin typeface="Times New Roman"/>
                <a:ea typeface="Times New Roman"/>
                <a:cs typeface="Times New Roman"/>
                <a:sym typeface="Times New Roman"/>
              </a:rPr>
              <a:t>Remaining: In-water speed and maneuverability validation</a:t>
            </a:r>
            <a:endParaRPr i="1" sz="1600">
              <a:solidFill>
                <a:srgbClr val="FFAB40"/>
              </a:solidFill>
              <a:latin typeface="Times New Roman"/>
              <a:ea typeface="Times New Roman"/>
              <a:cs typeface="Times New Roman"/>
              <a:sym typeface="Times New Roman"/>
            </a:endParaRPr>
          </a:p>
          <a:p>
            <a:pPr indent="0" lvl="0" marL="0" marR="0" rtl="0" algn="l">
              <a:lnSpc>
                <a:spcPct val="115000"/>
              </a:lnSpc>
              <a:spcBef>
                <a:spcPts val="200"/>
              </a:spcBef>
              <a:spcAft>
                <a:spcPts val="0"/>
              </a:spcAft>
              <a:buNone/>
            </a:pPr>
            <a:r>
              <a:t/>
            </a:r>
            <a:endParaRPr sz="1600">
              <a:solidFill>
                <a:srgbClr val="FFFFFF"/>
              </a:solidFill>
              <a:latin typeface="Times New Roman"/>
              <a:ea typeface="Times New Roman"/>
              <a:cs typeface="Times New Roman"/>
              <a:sym typeface="Times New Roman"/>
            </a:endParaRPr>
          </a:p>
          <a:p>
            <a:pPr indent="0" lvl="0" marL="0" rtl="0" algn="l">
              <a:spcBef>
                <a:spcPts val="200"/>
              </a:spcBef>
              <a:spcAft>
                <a:spcPts val="0"/>
              </a:spcAft>
              <a:buNone/>
            </a:pPr>
            <a:r>
              <a:t/>
            </a:r>
            <a:endParaRPr sz="1600">
              <a:solidFill>
                <a:schemeClr val="dk2"/>
              </a:solidFill>
              <a:latin typeface="Times New Roman"/>
              <a:ea typeface="Times New Roman"/>
              <a:cs typeface="Times New Roman"/>
              <a:sym typeface="Times New Roman"/>
            </a:endParaRPr>
          </a:p>
        </p:txBody>
      </p:sp>
      <p:sp>
        <p:nvSpPr>
          <p:cNvPr id="274" name="Google Shape;274;p36"/>
          <p:cNvSpPr/>
          <p:nvPr/>
        </p:nvSpPr>
        <p:spPr>
          <a:xfrm>
            <a:off x="457200" y="1271016"/>
            <a:ext cx="8229600" cy="365700"/>
          </a:xfrm>
          <a:prstGeom prst="roundRect">
            <a:avLst>
              <a:gd fmla="val 16667" name="adj"/>
            </a:avLst>
          </a:prstGeom>
          <a:solidFill>
            <a:srgbClr val="5C6BC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600">
                <a:solidFill>
                  <a:srgbClr val="FFFFFF"/>
                </a:solidFill>
                <a:latin typeface="Times New Roman"/>
                <a:ea typeface="Times New Roman"/>
                <a:cs typeface="Times New Roman"/>
                <a:sym typeface="Times New Roman"/>
              </a:rPr>
              <a:t>Verified Results</a:t>
            </a:r>
            <a:endParaRPr/>
          </a:p>
        </p:txBody>
      </p:sp>
      <p:pic>
        <p:nvPicPr>
          <p:cNvPr id="275" name="Google Shape;275;p36"/>
          <p:cNvPicPr preferRelativeResize="0"/>
          <p:nvPr/>
        </p:nvPicPr>
        <p:blipFill>
          <a:blip r:embed="rId3">
            <a:alphaModFix/>
          </a:blip>
          <a:stretch>
            <a:fillRect/>
          </a:stretch>
        </p:blipFill>
        <p:spPr>
          <a:xfrm>
            <a:off x="4572000" y="1719072"/>
            <a:ext cx="19050" cy="220370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281" name="Google Shape;281;p37"/>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lang="en" sz="3000">
                <a:solidFill>
                  <a:schemeClr val="lt1"/>
                </a:solidFill>
                <a:latin typeface="Times New Roman"/>
                <a:ea typeface="Times New Roman"/>
                <a:cs typeface="Times New Roman"/>
                <a:sym typeface="Times New Roman"/>
              </a:rPr>
              <a:t>Requirements Verified</a:t>
            </a:r>
            <a:endParaRPr b="1" sz="3000">
              <a:solidFill>
                <a:schemeClr val="lt1"/>
              </a:solidFill>
              <a:latin typeface="Times New Roman"/>
              <a:ea typeface="Times New Roman"/>
              <a:cs typeface="Times New Roman"/>
              <a:sym typeface="Times New Roman"/>
            </a:endParaRPr>
          </a:p>
        </p:txBody>
      </p:sp>
      <p:graphicFrame>
        <p:nvGraphicFramePr>
          <p:cNvPr id="282" name="Google Shape;282;p37"/>
          <p:cNvGraphicFramePr/>
          <p:nvPr/>
        </p:nvGraphicFramePr>
        <p:xfrm>
          <a:off x="457200" y="1197864"/>
          <a:ext cx="3000000" cy="3000000"/>
        </p:xfrm>
        <a:graphic>
          <a:graphicData uri="http://schemas.openxmlformats.org/drawingml/2006/table">
            <a:tbl>
              <a:tblPr>
                <a:noFill/>
                <a:tableStyleId>{D249BD4F-0858-46B6-BC2E-1600E3F50066}</a:tableStyleId>
              </a:tblPr>
              <a:tblGrid>
                <a:gridCol w="1762175"/>
                <a:gridCol w="2227425"/>
                <a:gridCol w="2151950"/>
                <a:gridCol w="2088050"/>
              </a:tblGrid>
              <a:tr h="455825">
                <a:tc>
                  <a:txBody>
                    <a:bodyPr/>
                    <a:lstStyle/>
                    <a:p>
                      <a:pPr indent="0" lvl="0" marL="0" rtl="0" algn="ctr">
                        <a:spcBef>
                          <a:spcPts val="0"/>
                        </a:spcBef>
                        <a:spcAft>
                          <a:spcPts val="0"/>
                        </a:spcAft>
                        <a:buNone/>
                      </a:pPr>
                      <a:r>
                        <a:rPr b="1" lang="en">
                          <a:solidFill>
                            <a:schemeClr val="lt1"/>
                          </a:solidFill>
                          <a:latin typeface="Times New Roman"/>
                          <a:ea typeface="Times New Roman"/>
                          <a:cs typeface="Times New Roman"/>
                          <a:sym typeface="Times New Roman"/>
                        </a:rPr>
                        <a:t>Requirement</a:t>
                      </a:r>
                      <a:endParaRPr b="1">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solidFill>
                      <a:srgbClr val="5C6BC0"/>
                    </a:solidFill>
                  </a:tcPr>
                </a:tc>
                <a:tc>
                  <a:txBody>
                    <a:bodyPr/>
                    <a:lstStyle/>
                    <a:p>
                      <a:pPr indent="0" lvl="0" marL="0" rtl="0" algn="ctr">
                        <a:spcBef>
                          <a:spcPts val="0"/>
                        </a:spcBef>
                        <a:spcAft>
                          <a:spcPts val="0"/>
                        </a:spcAft>
                        <a:buNone/>
                      </a:pPr>
                      <a:r>
                        <a:rPr b="1" lang="en">
                          <a:solidFill>
                            <a:schemeClr val="lt1"/>
                          </a:solidFill>
                          <a:latin typeface="Times New Roman"/>
                          <a:ea typeface="Times New Roman"/>
                          <a:cs typeface="Times New Roman"/>
                          <a:sym typeface="Times New Roman"/>
                        </a:rPr>
                        <a:t>Description</a:t>
                      </a:r>
                      <a:endParaRPr b="1">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solidFill>
                      <a:srgbClr val="5C6BC0"/>
                    </a:solidFill>
                  </a:tcPr>
                </a:tc>
                <a:tc>
                  <a:txBody>
                    <a:bodyPr/>
                    <a:lstStyle/>
                    <a:p>
                      <a:pPr indent="0" lvl="0" marL="0" rtl="0" algn="ctr">
                        <a:spcBef>
                          <a:spcPts val="0"/>
                        </a:spcBef>
                        <a:spcAft>
                          <a:spcPts val="0"/>
                        </a:spcAft>
                        <a:buNone/>
                      </a:pPr>
                      <a:r>
                        <a:rPr b="1" lang="en">
                          <a:solidFill>
                            <a:schemeClr val="lt1"/>
                          </a:solidFill>
                          <a:latin typeface="Times New Roman"/>
                          <a:ea typeface="Times New Roman"/>
                          <a:cs typeface="Times New Roman"/>
                          <a:sym typeface="Times New Roman"/>
                        </a:rPr>
                        <a:t>Status</a:t>
                      </a:r>
                      <a:endParaRPr b="1">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solidFill>
                      <a:srgbClr val="5C6BC0"/>
                    </a:solidFill>
                  </a:tcPr>
                </a:tc>
                <a:tc>
                  <a:txBody>
                    <a:bodyPr/>
                    <a:lstStyle/>
                    <a:p>
                      <a:pPr indent="0" lvl="0" marL="0" rtl="0" algn="ctr">
                        <a:spcBef>
                          <a:spcPts val="0"/>
                        </a:spcBef>
                        <a:spcAft>
                          <a:spcPts val="0"/>
                        </a:spcAft>
                        <a:buNone/>
                      </a:pPr>
                      <a:r>
                        <a:rPr b="1" lang="en">
                          <a:solidFill>
                            <a:schemeClr val="lt1"/>
                          </a:solidFill>
                          <a:latin typeface="Times New Roman"/>
                          <a:ea typeface="Times New Roman"/>
                          <a:cs typeface="Times New Roman"/>
                          <a:sym typeface="Times New Roman"/>
                        </a:rPr>
                        <a:t>Remaining Action</a:t>
                      </a:r>
                      <a:endParaRPr b="1">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solidFill>
                      <a:srgbClr val="5C6BC0"/>
                    </a:solidFill>
                  </a:tcPr>
                </a:tc>
              </a:tr>
              <a:tr h="685375">
                <a:tc>
                  <a:txBody>
                    <a:bodyPr/>
                    <a:lstStyle/>
                    <a:p>
                      <a:pPr indent="0" lvl="0" marL="0" rtl="0" algn="ctr">
                        <a:lnSpc>
                          <a:spcPct val="100000"/>
                        </a:lnSpc>
                        <a:spcBef>
                          <a:spcPts val="0"/>
                        </a:spcBef>
                        <a:spcAft>
                          <a:spcPts val="0"/>
                        </a:spcAft>
                        <a:buNone/>
                      </a:pPr>
                      <a:r>
                        <a:rPr lang="en">
                          <a:solidFill>
                            <a:srgbClr val="FFFFFF"/>
                          </a:solidFill>
                          <a:latin typeface="Times New Roman"/>
                          <a:ea typeface="Times New Roman"/>
                          <a:cs typeface="Times New Roman"/>
                          <a:sym typeface="Times New Roman"/>
                        </a:rPr>
                        <a:t>4.1.3 Stability</a:t>
                      </a:r>
                      <a:endParaRPr>
                        <a:solidFill>
                          <a:srgbClr val="FFFFFF"/>
                        </a:solidFill>
                        <a:latin typeface="Times New Roman"/>
                        <a:ea typeface="Times New Roman"/>
                        <a:cs typeface="Times New Roman"/>
                        <a:sym typeface="Times New Roman"/>
                      </a:endParaRPr>
                    </a:p>
                  </a:txBody>
                  <a:tcPr marT="91425" marB="45700" marR="45700" marL="91425" anchor="ctr"/>
                </a:tc>
                <a:tc>
                  <a:txBody>
                    <a:bodyPr/>
                    <a:lstStyle/>
                    <a:p>
                      <a:pPr indent="0" lvl="0" marL="0" rtl="0" algn="ctr">
                        <a:lnSpc>
                          <a:spcPct val="100000"/>
                        </a:lnSpc>
                        <a:spcBef>
                          <a:spcPts val="0"/>
                        </a:spcBef>
                        <a:spcAft>
                          <a:spcPts val="0"/>
                        </a:spcAft>
                        <a:buNone/>
                      </a:pPr>
                      <a:r>
                        <a:rPr lang="en">
                          <a:solidFill>
                            <a:srgbClr val="FFFFFF"/>
                          </a:solidFill>
                          <a:latin typeface="Times New Roman"/>
                          <a:ea typeface="Times New Roman"/>
                          <a:cs typeface="Times New Roman"/>
                          <a:sym typeface="Times New Roman"/>
                        </a:rPr>
                        <a:t>Self-righting and orientation</a:t>
                      </a:r>
                      <a:endParaRPr>
                        <a:solidFill>
                          <a:srgbClr val="FFFFFF"/>
                        </a:solidFill>
                        <a:latin typeface="Times New Roman"/>
                        <a:ea typeface="Times New Roman"/>
                        <a:cs typeface="Times New Roman"/>
                        <a:sym typeface="Times New Roman"/>
                      </a:endParaRPr>
                    </a:p>
                  </a:txBody>
                  <a:tcPr marT="91425" marB="45700" marR="45700" marL="91425" anchor="ctr"/>
                </a:tc>
                <a:tc>
                  <a:txBody>
                    <a:bodyPr/>
                    <a:lstStyle/>
                    <a:p>
                      <a:pPr indent="0" lvl="0" marL="0" rtl="0" algn="ctr">
                        <a:spcBef>
                          <a:spcPts val="0"/>
                        </a:spcBef>
                        <a:spcAft>
                          <a:spcPts val="0"/>
                        </a:spcAft>
                        <a:buClr>
                          <a:schemeClr val="dk1"/>
                        </a:buClr>
                        <a:buSzPts val="1100"/>
                        <a:buFont typeface="Arial"/>
                        <a:buNone/>
                      </a:pPr>
                      <a:r>
                        <a:rPr lang="en">
                          <a:solidFill>
                            <a:srgbClr val="FFB300"/>
                          </a:solidFill>
                          <a:latin typeface="Times New Roman"/>
                          <a:ea typeface="Times New Roman"/>
                          <a:cs typeface="Times New Roman"/>
                          <a:sym typeface="Times New Roman"/>
                        </a:rPr>
                        <a:t>◐ Partial Pass</a:t>
                      </a:r>
                      <a:endParaRPr>
                        <a:solidFill>
                          <a:srgbClr val="00FF00"/>
                        </a:solidFill>
                        <a:latin typeface="Times New Roman"/>
                        <a:ea typeface="Times New Roman"/>
                        <a:cs typeface="Times New Roman"/>
                        <a:sym typeface="Times New Roman"/>
                      </a:endParaRPr>
                    </a:p>
                  </a:txBody>
                  <a:tcPr marT="91425" marB="45700" marR="45700" marL="91425" anchor="ctr"/>
                </a:tc>
                <a:tc>
                  <a:txBody>
                    <a:bodyPr/>
                    <a:lstStyle/>
                    <a:p>
                      <a:pPr indent="0" lvl="0" marL="0" rtl="0" algn="ctr">
                        <a:lnSpc>
                          <a:spcPct val="100000"/>
                        </a:lnSpc>
                        <a:spcBef>
                          <a:spcPts val="0"/>
                        </a:spcBef>
                        <a:spcAft>
                          <a:spcPts val="0"/>
                        </a:spcAft>
                        <a:buNone/>
                      </a:pPr>
                      <a:r>
                        <a:rPr lang="en">
                          <a:solidFill>
                            <a:srgbClr val="FFFFFF"/>
                          </a:solidFill>
                          <a:latin typeface="Times New Roman"/>
                          <a:ea typeface="Times New Roman"/>
                          <a:cs typeface="Times New Roman"/>
                          <a:sym typeface="Times New Roman"/>
                        </a:rPr>
                        <a:t>Verify W</a:t>
                      </a:r>
                      <a:r>
                        <a:rPr lang="en">
                          <a:solidFill>
                            <a:srgbClr val="FFFFFF"/>
                          </a:solidFill>
                          <a:latin typeface="Times New Roman"/>
                          <a:ea typeface="Times New Roman"/>
                          <a:cs typeface="Times New Roman"/>
                          <a:sym typeface="Times New Roman"/>
                        </a:rPr>
                        <a:t>ith</a:t>
                      </a:r>
                      <a:r>
                        <a:rPr lang="en">
                          <a:solidFill>
                            <a:srgbClr val="FFFFFF"/>
                          </a:solidFill>
                          <a:latin typeface="Times New Roman"/>
                          <a:ea typeface="Times New Roman"/>
                          <a:cs typeface="Times New Roman"/>
                          <a:sym typeface="Times New Roman"/>
                        </a:rPr>
                        <a:t> Components</a:t>
                      </a:r>
                      <a:endParaRPr>
                        <a:solidFill>
                          <a:srgbClr val="FFFFFF"/>
                        </a:solidFill>
                        <a:latin typeface="Times New Roman"/>
                        <a:ea typeface="Times New Roman"/>
                        <a:cs typeface="Times New Roman"/>
                        <a:sym typeface="Times New Roman"/>
                      </a:endParaRPr>
                    </a:p>
                  </a:txBody>
                  <a:tcPr marT="91425" marB="45700" marR="45700" marL="91425" anchor="ctr"/>
                </a:tc>
              </a:tr>
              <a:tr h="423275">
                <a:tc>
                  <a:txBody>
                    <a:bodyPr/>
                    <a:lstStyle/>
                    <a:p>
                      <a:pPr indent="0" lvl="0" marL="0" rtl="0" algn="ctr">
                        <a:lnSpc>
                          <a:spcPct val="100000"/>
                        </a:lnSpc>
                        <a:spcBef>
                          <a:spcPts val="0"/>
                        </a:spcBef>
                        <a:spcAft>
                          <a:spcPts val="0"/>
                        </a:spcAft>
                        <a:buNone/>
                      </a:pPr>
                      <a:r>
                        <a:rPr lang="en">
                          <a:solidFill>
                            <a:srgbClr val="FFFFFF"/>
                          </a:solidFill>
                          <a:latin typeface="Times New Roman"/>
                          <a:ea typeface="Times New Roman"/>
                          <a:cs typeface="Times New Roman"/>
                          <a:sym typeface="Times New Roman"/>
                        </a:rPr>
                        <a:t>4.1.2 Speed</a:t>
                      </a:r>
                      <a:endParaRPr>
                        <a:solidFill>
                          <a:srgbClr val="FFFFFF"/>
                        </a:solidFill>
                        <a:latin typeface="Times New Roman"/>
                        <a:ea typeface="Times New Roman"/>
                        <a:cs typeface="Times New Roman"/>
                        <a:sym typeface="Times New Roman"/>
                      </a:endParaRPr>
                    </a:p>
                  </a:txBody>
                  <a:tcPr marT="91425" marB="45700" marR="45700" marL="91425" anchor="ctr"/>
                </a:tc>
                <a:tc>
                  <a:txBody>
                    <a:bodyPr/>
                    <a:lstStyle/>
                    <a:p>
                      <a:pPr indent="0" lvl="0" marL="0" rtl="0" algn="ctr">
                        <a:lnSpc>
                          <a:spcPct val="100000"/>
                        </a:lnSpc>
                        <a:spcBef>
                          <a:spcPts val="0"/>
                        </a:spcBef>
                        <a:spcAft>
                          <a:spcPts val="0"/>
                        </a:spcAft>
                        <a:buNone/>
                      </a:pPr>
                      <a:r>
                        <a:rPr lang="en">
                          <a:solidFill>
                            <a:srgbClr val="FFFFFF"/>
                          </a:solidFill>
                          <a:latin typeface="Times New Roman"/>
                          <a:ea typeface="Times New Roman"/>
                          <a:cs typeface="Times New Roman"/>
                          <a:sym typeface="Times New Roman"/>
                        </a:rPr>
                        <a:t>≥ 2.5 kts threshold</a:t>
                      </a:r>
                      <a:endParaRPr>
                        <a:solidFill>
                          <a:srgbClr val="FFFFFF"/>
                        </a:solidFill>
                        <a:latin typeface="Times New Roman"/>
                        <a:ea typeface="Times New Roman"/>
                        <a:cs typeface="Times New Roman"/>
                        <a:sym typeface="Times New Roman"/>
                      </a:endParaRPr>
                    </a:p>
                  </a:txBody>
                  <a:tcPr marT="91425" marB="45700" marR="45700" marL="91425" anchor="ctr"/>
                </a:tc>
                <a:tc>
                  <a:txBody>
                    <a:bodyPr/>
                    <a:lstStyle/>
                    <a:p>
                      <a:pPr indent="0" lvl="0" marL="0" rtl="0" algn="ctr">
                        <a:lnSpc>
                          <a:spcPct val="100000"/>
                        </a:lnSpc>
                        <a:spcBef>
                          <a:spcPts val="0"/>
                        </a:spcBef>
                        <a:spcAft>
                          <a:spcPts val="0"/>
                        </a:spcAft>
                        <a:buNone/>
                      </a:pPr>
                      <a:r>
                        <a:rPr lang="en">
                          <a:solidFill>
                            <a:srgbClr val="FFB300"/>
                          </a:solidFill>
                          <a:latin typeface="Times New Roman"/>
                          <a:ea typeface="Times New Roman"/>
                          <a:cs typeface="Times New Roman"/>
                          <a:sym typeface="Times New Roman"/>
                        </a:rPr>
                        <a:t>◐ </a:t>
                      </a:r>
                      <a:r>
                        <a:rPr lang="en">
                          <a:solidFill>
                            <a:srgbClr val="FFB300"/>
                          </a:solidFill>
                          <a:latin typeface="Times New Roman"/>
                          <a:ea typeface="Times New Roman"/>
                          <a:cs typeface="Times New Roman"/>
                          <a:sym typeface="Times New Roman"/>
                        </a:rPr>
                        <a:t>Partial Pass</a:t>
                      </a:r>
                      <a:endParaRPr>
                        <a:solidFill>
                          <a:srgbClr val="FFB300"/>
                        </a:solidFill>
                        <a:latin typeface="Times New Roman"/>
                        <a:ea typeface="Times New Roman"/>
                        <a:cs typeface="Times New Roman"/>
                        <a:sym typeface="Times New Roman"/>
                      </a:endParaRPr>
                    </a:p>
                  </a:txBody>
                  <a:tcPr marT="91425" marB="45700" marR="45700" marL="91425" anchor="ctr"/>
                </a:tc>
                <a:tc>
                  <a:txBody>
                    <a:bodyPr/>
                    <a:lstStyle/>
                    <a:p>
                      <a:pPr indent="0" lvl="0" marL="0" rtl="0" algn="ctr">
                        <a:lnSpc>
                          <a:spcPct val="100000"/>
                        </a:lnSpc>
                        <a:spcBef>
                          <a:spcPts val="0"/>
                        </a:spcBef>
                        <a:spcAft>
                          <a:spcPts val="0"/>
                        </a:spcAft>
                        <a:buNone/>
                      </a:pPr>
                      <a:r>
                        <a:rPr lang="en">
                          <a:solidFill>
                            <a:srgbClr val="FFFFFF"/>
                          </a:solidFill>
                          <a:latin typeface="Times New Roman"/>
                          <a:ea typeface="Times New Roman"/>
                          <a:cs typeface="Times New Roman"/>
                          <a:sym typeface="Times New Roman"/>
                        </a:rPr>
                        <a:t>In-water speed run</a:t>
                      </a:r>
                      <a:endParaRPr>
                        <a:solidFill>
                          <a:srgbClr val="FFFFFF"/>
                        </a:solidFill>
                        <a:latin typeface="Times New Roman"/>
                        <a:ea typeface="Times New Roman"/>
                        <a:cs typeface="Times New Roman"/>
                        <a:sym typeface="Times New Roman"/>
                      </a:endParaRPr>
                    </a:p>
                  </a:txBody>
                  <a:tcPr marT="91425" marB="45700" marR="45700" marL="91425" anchor="ctr"/>
                </a:tc>
              </a:tr>
              <a:tr h="685375">
                <a:tc>
                  <a:txBody>
                    <a:bodyPr/>
                    <a:lstStyle/>
                    <a:p>
                      <a:pPr indent="0" lvl="0" marL="0" rtl="0" algn="ctr">
                        <a:lnSpc>
                          <a:spcPct val="100000"/>
                        </a:lnSpc>
                        <a:spcBef>
                          <a:spcPts val="0"/>
                        </a:spcBef>
                        <a:spcAft>
                          <a:spcPts val="0"/>
                        </a:spcAft>
                        <a:buNone/>
                      </a:pPr>
                      <a:r>
                        <a:rPr lang="en">
                          <a:solidFill>
                            <a:srgbClr val="FFFFFF"/>
                          </a:solidFill>
                          <a:latin typeface="Times New Roman"/>
                          <a:ea typeface="Times New Roman"/>
                          <a:cs typeface="Times New Roman"/>
                          <a:sym typeface="Times New Roman"/>
                        </a:rPr>
                        <a:t>4.4.1 Autonomy &amp; Control</a:t>
                      </a:r>
                      <a:endParaRPr>
                        <a:solidFill>
                          <a:srgbClr val="FFFFFF"/>
                        </a:solidFill>
                        <a:latin typeface="Times New Roman"/>
                        <a:ea typeface="Times New Roman"/>
                        <a:cs typeface="Times New Roman"/>
                        <a:sym typeface="Times New Roman"/>
                      </a:endParaRPr>
                    </a:p>
                  </a:txBody>
                  <a:tcPr marT="91425" marB="45700" marR="45700" marL="91425" anchor="ctr"/>
                </a:tc>
                <a:tc>
                  <a:txBody>
                    <a:bodyPr/>
                    <a:lstStyle/>
                    <a:p>
                      <a:pPr indent="0" lvl="0" marL="0" rtl="0" algn="ctr">
                        <a:lnSpc>
                          <a:spcPct val="100000"/>
                        </a:lnSpc>
                        <a:spcBef>
                          <a:spcPts val="0"/>
                        </a:spcBef>
                        <a:spcAft>
                          <a:spcPts val="0"/>
                        </a:spcAft>
                        <a:buNone/>
                      </a:pPr>
                      <a:r>
                        <a:rPr lang="en">
                          <a:solidFill>
                            <a:srgbClr val="FFFFFF"/>
                          </a:solidFill>
                          <a:latin typeface="Times New Roman"/>
                          <a:ea typeface="Times New Roman"/>
                          <a:cs typeface="Times New Roman"/>
                          <a:sym typeface="Times New Roman"/>
                        </a:rPr>
                        <a:t>Autonomous nav + remote control</a:t>
                      </a:r>
                      <a:endParaRPr>
                        <a:solidFill>
                          <a:srgbClr val="FFFFFF"/>
                        </a:solidFill>
                        <a:latin typeface="Times New Roman"/>
                        <a:ea typeface="Times New Roman"/>
                        <a:cs typeface="Times New Roman"/>
                        <a:sym typeface="Times New Roman"/>
                      </a:endParaRPr>
                    </a:p>
                  </a:txBody>
                  <a:tcPr marT="91425" marB="45700" marR="45700" marL="91425" anchor="ctr"/>
                </a:tc>
                <a:tc>
                  <a:txBody>
                    <a:bodyPr/>
                    <a:lstStyle/>
                    <a:p>
                      <a:pPr indent="0" lvl="0" marL="0" rtl="0" algn="ctr">
                        <a:lnSpc>
                          <a:spcPct val="100000"/>
                        </a:lnSpc>
                        <a:spcBef>
                          <a:spcPts val="0"/>
                        </a:spcBef>
                        <a:spcAft>
                          <a:spcPts val="0"/>
                        </a:spcAft>
                        <a:buNone/>
                      </a:pPr>
                      <a:r>
                        <a:rPr lang="en">
                          <a:solidFill>
                            <a:srgbClr val="FFB300"/>
                          </a:solidFill>
                          <a:latin typeface="Times New Roman"/>
                          <a:ea typeface="Times New Roman"/>
                          <a:cs typeface="Times New Roman"/>
                          <a:sym typeface="Times New Roman"/>
                        </a:rPr>
                        <a:t>◐ </a:t>
                      </a:r>
                      <a:r>
                        <a:rPr lang="en">
                          <a:solidFill>
                            <a:srgbClr val="FFB300"/>
                          </a:solidFill>
                          <a:latin typeface="Times New Roman"/>
                          <a:ea typeface="Times New Roman"/>
                          <a:cs typeface="Times New Roman"/>
                          <a:sym typeface="Times New Roman"/>
                        </a:rPr>
                        <a:t>Partial Pass</a:t>
                      </a:r>
                      <a:endParaRPr>
                        <a:solidFill>
                          <a:srgbClr val="FFB300"/>
                        </a:solidFill>
                        <a:latin typeface="Times New Roman"/>
                        <a:ea typeface="Times New Roman"/>
                        <a:cs typeface="Times New Roman"/>
                        <a:sym typeface="Times New Roman"/>
                      </a:endParaRPr>
                    </a:p>
                  </a:txBody>
                  <a:tcPr marT="91425" marB="45700" marR="45700" marL="91425" anchor="ctr"/>
                </a:tc>
                <a:tc>
                  <a:txBody>
                    <a:bodyPr/>
                    <a:lstStyle/>
                    <a:p>
                      <a:pPr indent="0" lvl="0" marL="0" rtl="0" algn="ctr">
                        <a:lnSpc>
                          <a:spcPct val="100000"/>
                        </a:lnSpc>
                        <a:spcBef>
                          <a:spcPts val="0"/>
                        </a:spcBef>
                        <a:spcAft>
                          <a:spcPts val="0"/>
                        </a:spcAft>
                        <a:buNone/>
                      </a:pPr>
                      <a:r>
                        <a:rPr lang="en">
                          <a:solidFill>
                            <a:srgbClr val="FFFFFF"/>
                          </a:solidFill>
                          <a:latin typeface="Times New Roman"/>
                          <a:ea typeface="Times New Roman"/>
                          <a:cs typeface="Times New Roman"/>
                          <a:sym typeface="Times New Roman"/>
                        </a:rPr>
                        <a:t>In-water mission execution</a:t>
                      </a:r>
                      <a:endParaRPr>
                        <a:solidFill>
                          <a:srgbClr val="FFFFFF"/>
                        </a:solidFill>
                        <a:latin typeface="Times New Roman"/>
                        <a:ea typeface="Times New Roman"/>
                        <a:cs typeface="Times New Roman"/>
                        <a:sym typeface="Times New Roman"/>
                      </a:endParaRPr>
                    </a:p>
                  </a:txBody>
                  <a:tcPr marT="91425" marB="45700" marR="45700" marL="91425" anchor="ctr"/>
                </a:tc>
              </a:tr>
              <a:tr h="685375">
                <a:tc>
                  <a:txBody>
                    <a:bodyPr/>
                    <a:lstStyle/>
                    <a:p>
                      <a:pPr indent="0" lvl="0" marL="0" rtl="0" algn="ctr">
                        <a:lnSpc>
                          <a:spcPct val="100000"/>
                        </a:lnSpc>
                        <a:spcBef>
                          <a:spcPts val="0"/>
                        </a:spcBef>
                        <a:spcAft>
                          <a:spcPts val="0"/>
                        </a:spcAft>
                        <a:buNone/>
                      </a:pPr>
                      <a:r>
                        <a:rPr lang="en">
                          <a:solidFill>
                            <a:srgbClr val="FFFFFF"/>
                          </a:solidFill>
                          <a:latin typeface="Times New Roman"/>
                          <a:ea typeface="Times New Roman"/>
                          <a:cs typeface="Times New Roman"/>
                          <a:sym typeface="Times New Roman"/>
                        </a:rPr>
                        <a:t>5.4.3 Data Relay</a:t>
                      </a:r>
                      <a:endParaRPr>
                        <a:solidFill>
                          <a:srgbClr val="FFFFFF"/>
                        </a:solidFill>
                        <a:latin typeface="Times New Roman"/>
                        <a:ea typeface="Times New Roman"/>
                        <a:cs typeface="Times New Roman"/>
                        <a:sym typeface="Times New Roman"/>
                      </a:endParaRPr>
                    </a:p>
                  </a:txBody>
                  <a:tcPr marT="91425" marB="45700" marR="45700" marL="91425" anchor="ctr"/>
                </a:tc>
                <a:tc>
                  <a:txBody>
                    <a:bodyPr/>
                    <a:lstStyle/>
                    <a:p>
                      <a:pPr indent="0" lvl="0" marL="0" rtl="0" algn="ctr">
                        <a:lnSpc>
                          <a:spcPct val="100000"/>
                        </a:lnSpc>
                        <a:spcBef>
                          <a:spcPts val="0"/>
                        </a:spcBef>
                        <a:spcAft>
                          <a:spcPts val="0"/>
                        </a:spcAft>
                        <a:buNone/>
                      </a:pPr>
                      <a:r>
                        <a:rPr lang="en">
                          <a:solidFill>
                            <a:srgbClr val="FFFFFF"/>
                          </a:solidFill>
                          <a:latin typeface="Times New Roman"/>
                          <a:ea typeface="Times New Roman"/>
                          <a:cs typeface="Times New Roman"/>
                          <a:sym typeface="Times New Roman"/>
                        </a:rPr>
                        <a:t>Live telemetry to ground station</a:t>
                      </a:r>
                      <a:endParaRPr>
                        <a:solidFill>
                          <a:srgbClr val="FFFFFF"/>
                        </a:solidFill>
                        <a:latin typeface="Times New Roman"/>
                        <a:ea typeface="Times New Roman"/>
                        <a:cs typeface="Times New Roman"/>
                        <a:sym typeface="Times New Roman"/>
                      </a:endParaRPr>
                    </a:p>
                  </a:txBody>
                  <a:tcPr marT="91425" marB="45700" marR="45700" marL="91425" anchor="ctr"/>
                </a:tc>
                <a:tc>
                  <a:txBody>
                    <a:bodyPr/>
                    <a:lstStyle/>
                    <a:p>
                      <a:pPr indent="0" lvl="0" marL="0" rtl="0" algn="ctr">
                        <a:lnSpc>
                          <a:spcPct val="100000"/>
                        </a:lnSpc>
                        <a:spcBef>
                          <a:spcPts val="0"/>
                        </a:spcBef>
                        <a:spcAft>
                          <a:spcPts val="0"/>
                        </a:spcAft>
                        <a:buNone/>
                      </a:pPr>
                      <a:r>
                        <a:rPr lang="en">
                          <a:solidFill>
                            <a:srgbClr val="00FF00"/>
                          </a:solidFill>
                          <a:latin typeface="Times New Roman"/>
                          <a:ea typeface="Times New Roman"/>
                          <a:cs typeface="Times New Roman"/>
                          <a:sym typeface="Times New Roman"/>
                        </a:rPr>
                        <a:t>✓</a:t>
                      </a:r>
                      <a:r>
                        <a:rPr lang="en">
                          <a:latin typeface="Times New Roman"/>
                          <a:ea typeface="Times New Roman"/>
                          <a:cs typeface="Times New Roman"/>
                          <a:sym typeface="Times New Roman"/>
                        </a:rPr>
                        <a:t> </a:t>
                      </a:r>
                      <a:r>
                        <a:rPr lang="en">
                          <a:solidFill>
                            <a:srgbClr val="00FF00"/>
                          </a:solidFill>
                          <a:latin typeface="Times New Roman"/>
                          <a:ea typeface="Times New Roman"/>
                          <a:cs typeface="Times New Roman"/>
                          <a:sym typeface="Times New Roman"/>
                        </a:rPr>
                        <a:t>Pass</a:t>
                      </a:r>
                      <a:endParaRPr>
                        <a:solidFill>
                          <a:srgbClr val="00FF00"/>
                        </a:solidFill>
                        <a:latin typeface="Times New Roman"/>
                        <a:ea typeface="Times New Roman"/>
                        <a:cs typeface="Times New Roman"/>
                        <a:sym typeface="Times New Roman"/>
                      </a:endParaRPr>
                    </a:p>
                  </a:txBody>
                  <a:tcPr marT="91425" marB="45700" marR="45700" marL="91425" anchor="ctr"/>
                </a:tc>
                <a:tc>
                  <a:txBody>
                    <a:bodyPr/>
                    <a:lstStyle/>
                    <a:p>
                      <a:pPr indent="0" lvl="0" marL="0" rtl="0" algn="ctr">
                        <a:lnSpc>
                          <a:spcPct val="100000"/>
                        </a:lnSpc>
                        <a:spcBef>
                          <a:spcPts val="0"/>
                        </a:spcBef>
                        <a:spcAft>
                          <a:spcPts val="0"/>
                        </a:spcAft>
                        <a:buNone/>
                      </a:pPr>
                      <a:r>
                        <a:rPr lang="en">
                          <a:solidFill>
                            <a:srgbClr val="FFFFFF"/>
                          </a:solidFill>
                          <a:latin typeface="Times New Roman"/>
                          <a:ea typeface="Times New Roman"/>
                          <a:cs typeface="Times New Roman"/>
                          <a:sym typeface="Times New Roman"/>
                        </a:rPr>
                        <a:t>—</a:t>
                      </a:r>
                      <a:endParaRPr>
                        <a:solidFill>
                          <a:srgbClr val="FFFFFF"/>
                        </a:solidFill>
                        <a:latin typeface="Times New Roman"/>
                        <a:ea typeface="Times New Roman"/>
                        <a:cs typeface="Times New Roman"/>
                        <a:sym typeface="Times New Roman"/>
                      </a:endParaRPr>
                    </a:p>
                  </a:txBody>
                  <a:tcPr marT="91425" marB="45700" marR="45700" marL="91425" anchor="ct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288" name="Google Shape;288;p38"/>
          <p:cNvSpPr txBox="1"/>
          <p:nvPr/>
        </p:nvSpPr>
        <p:spPr>
          <a:xfrm>
            <a:off x="19200" y="199700"/>
            <a:ext cx="9105600" cy="71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1018"/>
              <a:buNone/>
            </a:pPr>
            <a:r>
              <a:rPr b="1" lang="en" sz="3600">
                <a:solidFill>
                  <a:schemeClr val="lt1"/>
                </a:solidFill>
                <a:latin typeface="Times New Roman"/>
                <a:ea typeface="Times New Roman"/>
                <a:cs typeface="Times New Roman"/>
                <a:sym typeface="Times New Roman"/>
              </a:rPr>
              <a:t>RC Boat Test Setup*</a:t>
            </a:r>
            <a:endParaRPr b="1" sz="3600">
              <a:solidFill>
                <a:schemeClr val="lt1"/>
              </a:solidFill>
              <a:latin typeface="Times New Roman"/>
              <a:ea typeface="Times New Roman"/>
              <a:cs typeface="Times New Roman"/>
              <a:sym typeface="Times New Roman"/>
            </a:endParaRPr>
          </a:p>
        </p:txBody>
      </p:sp>
      <p:sp>
        <p:nvSpPr>
          <p:cNvPr id="289" name="Google Shape;289;p38"/>
          <p:cNvSpPr txBox="1"/>
          <p:nvPr/>
        </p:nvSpPr>
        <p:spPr>
          <a:xfrm>
            <a:off x="759125" y="1037975"/>
            <a:ext cx="33819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Times New Roman"/>
                <a:ea typeface="Times New Roman"/>
                <a:cs typeface="Times New Roman"/>
                <a:sym typeface="Times New Roman"/>
              </a:rPr>
              <a:t>Tests Needed:</a:t>
            </a:r>
            <a:br>
              <a:rPr lang="en" sz="2000">
                <a:solidFill>
                  <a:schemeClr val="lt1"/>
                </a:solidFill>
                <a:latin typeface="Times New Roman"/>
                <a:ea typeface="Times New Roman"/>
                <a:cs typeface="Times New Roman"/>
                <a:sym typeface="Times New Roman"/>
              </a:rPr>
            </a:b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Inter-Drone communication</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Proper Navigation</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Ensure Total Functionality in a non-workshop environment</a:t>
            </a:r>
            <a:endParaRPr sz="2000">
              <a:solidFill>
                <a:schemeClr val="lt1"/>
              </a:solidFill>
              <a:latin typeface="Times New Roman"/>
              <a:ea typeface="Times New Roman"/>
              <a:cs typeface="Times New Roman"/>
              <a:sym typeface="Times New Roman"/>
            </a:endParaRPr>
          </a:p>
        </p:txBody>
      </p:sp>
      <p:sp>
        <p:nvSpPr>
          <p:cNvPr id="290" name="Google Shape;290;p38"/>
          <p:cNvSpPr txBox="1"/>
          <p:nvPr/>
        </p:nvSpPr>
        <p:spPr>
          <a:xfrm>
            <a:off x="4978175" y="919400"/>
            <a:ext cx="3381900" cy="326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Times New Roman"/>
                <a:ea typeface="Times New Roman"/>
                <a:cs typeface="Times New Roman"/>
                <a:sym typeface="Times New Roman"/>
              </a:rPr>
              <a:t>To Accomplish This:</a:t>
            </a:r>
            <a:br>
              <a:rPr lang="en" sz="2000">
                <a:solidFill>
                  <a:schemeClr val="lt1"/>
                </a:solidFill>
                <a:latin typeface="Times New Roman"/>
                <a:ea typeface="Times New Roman"/>
                <a:cs typeface="Times New Roman"/>
                <a:sym typeface="Times New Roman"/>
              </a:rPr>
            </a:b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Water Test</a:t>
            </a:r>
            <a:endParaRPr sz="2000">
              <a:solidFill>
                <a:schemeClr val="lt1"/>
              </a:solidFill>
              <a:latin typeface="Times New Roman"/>
              <a:ea typeface="Times New Roman"/>
              <a:cs typeface="Times New Roman"/>
              <a:sym typeface="Times New Roman"/>
            </a:endParaRPr>
          </a:p>
          <a:p>
            <a:pPr indent="-355600" lvl="1" marL="9144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Ensure ALL drone functionality</a:t>
            </a:r>
            <a:endParaRPr sz="2000">
              <a:solidFill>
                <a:schemeClr val="lt1"/>
              </a:solidFill>
              <a:latin typeface="Times New Roman"/>
              <a:ea typeface="Times New Roman"/>
              <a:cs typeface="Times New Roman"/>
              <a:sym typeface="Times New Roman"/>
            </a:endParaRPr>
          </a:p>
          <a:p>
            <a:pPr indent="-355600" lvl="1" marL="9144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Demonstrate Proper Navigation</a:t>
            </a:r>
            <a:endParaRPr sz="2000">
              <a:solidFill>
                <a:schemeClr val="lt1"/>
              </a:solidFill>
              <a:latin typeface="Times New Roman"/>
              <a:ea typeface="Times New Roman"/>
              <a:cs typeface="Times New Roman"/>
              <a:sym typeface="Times New Roman"/>
            </a:endParaRPr>
          </a:p>
          <a:p>
            <a:pPr indent="-355600" lvl="1" marL="9144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Demonstrate Inter-Drone Communication</a:t>
            </a:r>
            <a:endParaRPr sz="2000">
              <a:solidFill>
                <a:schemeClr val="lt1"/>
              </a:solidFill>
              <a:latin typeface="Times New Roman"/>
              <a:ea typeface="Times New Roman"/>
              <a:cs typeface="Times New Roman"/>
              <a:sym typeface="Times New Roman"/>
            </a:endParaRPr>
          </a:p>
        </p:txBody>
      </p:sp>
      <p:sp>
        <p:nvSpPr>
          <p:cNvPr id="291" name="Google Shape;291;p38"/>
          <p:cNvSpPr txBox="1"/>
          <p:nvPr/>
        </p:nvSpPr>
        <p:spPr>
          <a:xfrm>
            <a:off x="571700" y="3557750"/>
            <a:ext cx="33819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lt1"/>
                </a:solidFill>
                <a:latin typeface="Times New Roman"/>
                <a:ea typeface="Times New Roman"/>
                <a:cs typeface="Times New Roman"/>
                <a:sym typeface="Times New Roman"/>
              </a:rPr>
              <a:t>Will Verify:</a:t>
            </a:r>
            <a:endParaRPr sz="1700">
              <a:solidFill>
                <a:schemeClr val="lt1"/>
              </a:solidFill>
              <a:latin typeface="Times New Roman"/>
              <a:ea typeface="Times New Roman"/>
              <a:cs typeface="Times New Roman"/>
              <a:sym typeface="Times New Roman"/>
            </a:endParaRPr>
          </a:p>
          <a:p>
            <a:pPr indent="-336550" lvl="0" marL="457200" rtl="0" algn="l">
              <a:spcBef>
                <a:spcPts val="0"/>
              </a:spcBef>
              <a:spcAft>
                <a:spcPts val="0"/>
              </a:spcAft>
              <a:buClr>
                <a:schemeClr val="lt1"/>
              </a:buClr>
              <a:buSzPts val="1700"/>
              <a:buFont typeface="Times New Roman"/>
              <a:buChar char="-"/>
            </a:pPr>
            <a:r>
              <a:rPr lang="en" sz="1700">
                <a:solidFill>
                  <a:schemeClr val="lt1"/>
                </a:solidFill>
                <a:latin typeface="Times New Roman"/>
                <a:ea typeface="Times New Roman"/>
                <a:cs typeface="Times New Roman"/>
                <a:sym typeface="Times New Roman"/>
              </a:rPr>
              <a:t>4.4.1 Autonomy and Control</a:t>
            </a:r>
            <a:endParaRPr sz="1700">
              <a:solidFill>
                <a:schemeClr val="lt1"/>
              </a:solidFill>
              <a:latin typeface="Times New Roman"/>
              <a:ea typeface="Times New Roman"/>
              <a:cs typeface="Times New Roman"/>
              <a:sym typeface="Times New Roman"/>
            </a:endParaRPr>
          </a:p>
          <a:p>
            <a:pPr indent="-336550" lvl="0" marL="457200" rtl="0" algn="l">
              <a:spcBef>
                <a:spcPts val="0"/>
              </a:spcBef>
              <a:spcAft>
                <a:spcPts val="0"/>
              </a:spcAft>
              <a:buClr>
                <a:schemeClr val="lt1"/>
              </a:buClr>
              <a:buSzPts val="1700"/>
              <a:buFont typeface="Times New Roman"/>
              <a:buChar char="-"/>
            </a:pPr>
            <a:r>
              <a:rPr lang="en" sz="1700">
                <a:solidFill>
                  <a:schemeClr val="lt1"/>
                </a:solidFill>
                <a:latin typeface="Times New Roman"/>
                <a:ea typeface="Times New Roman"/>
                <a:cs typeface="Times New Roman"/>
                <a:sym typeface="Times New Roman"/>
              </a:rPr>
              <a:t>5.4.6  Swarm Control</a:t>
            </a:r>
            <a:endParaRPr sz="1700">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297" name="Google Shape;297;p39"/>
          <p:cNvSpPr txBox="1"/>
          <p:nvPr/>
        </p:nvSpPr>
        <p:spPr>
          <a:xfrm>
            <a:off x="664950" y="351550"/>
            <a:ext cx="7814100" cy="531000"/>
          </a:xfrm>
          <a:prstGeom prst="rect">
            <a:avLst/>
          </a:prstGeom>
          <a:noFill/>
          <a:ln>
            <a:noFill/>
          </a:ln>
        </p:spPr>
        <p:txBody>
          <a:bodyPr anchorCtr="0" anchor="t" bIns="91425" lIns="91425" spcFirstLastPara="1" rIns="91425" wrap="square" tIns="91425">
            <a:spAutoFit/>
          </a:bodyPr>
          <a:lstStyle/>
          <a:p>
            <a:pPr indent="0" lvl="0" marL="0" rtl="0" algn="ctr">
              <a:lnSpc>
                <a:spcPct val="75000"/>
              </a:lnSpc>
              <a:spcBef>
                <a:spcPts val="0"/>
              </a:spcBef>
              <a:spcAft>
                <a:spcPts val="0"/>
              </a:spcAft>
              <a:buNone/>
            </a:pPr>
            <a:r>
              <a:rPr b="1" lang="en" sz="3000">
                <a:solidFill>
                  <a:schemeClr val="lt1"/>
                </a:solidFill>
                <a:latin typeface="Times"/>
                <a:ea typeface="Times"/>
                <a:cs typeface="Times"/>
                <a:sym typeface="Times"/>
              </a:rPr>
              <a:t>End to End Remote Operation Test - Setup</a:t>
            </a:r>
            <a:endParaRPr/>
          </a:p>
        </p:txBody>
      </p:sp>
      <p:sp>
        <p:nvSpPr>
          <p:cNvPr id="298" name="Google Shape;298;p39"/>
          <p:cNvSpPr txBox="1"/>
          <p:nvPr/>
        </p:nvSpPr>
        <p:spPr>
          <a:xfrm>
            <a:off x="664950" y="1129075"/>
            <a:ext cx="2458800" cy="3373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lt1"/>
                </a:solidFill>
                <a:latin typeface="Times New Roman"/>
                <a:ea typeface="Times New Roman"/>
                <a:cs typeface="Times New Roman"/>
                <a:sym typeface="Times New Roman"/>
              </a:rPr>
              <a:t>System Set up:</a:t>
            </a:r>
            <a:r>
              <a:rPr lang="en" sz="2100">
                <a:solidFill>
                  <a:schemeClr val="lt1"/>
                </a:solidFill>
                <a:latin typeface="Times New Roman"/>
                <a:ea typeface="Times New Roman"/>
                <a:cs typeface="Times New Roman"/>
                <a:sym typeface="Times New Roman"/>
              </a:rPr>
              <a:t> </a:t>
            </a:r>
            <a:endParaRPr sz="21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Jetson connected to Starlink Network</a:t>
            </a:r>
            <a:endParaRPr sz="19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GUI  hosted on Jetson</a:t>
            </a:r>
            <a:endParaRPr sz="19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Tailscale was connected on Jetson.</a:t>
            </a:r>
            <a:endParaRPr sz="19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lt1"/>
              </a:solidFill>
            </a:endParaRPr>
          </a:p>
        </p:txBody>
      </p:sp>
      <p:sp>
        <p:nvSpPr>
          <p:cNvPr id="299" name="Google Shape;299;p39"/>
          <p:cNvSpPr txBox="1"/>
          <p:nvPr/>
        </p:nvSpPr>
        <p:spPr>
          <a:xfrm>
            <a:off x="3342600" y="1129075"/>
            <a:ext cx="2458800" cy="3373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chemeClr val="lt1"/>
                </a:solidFill>
                <a:latin typeface="Times New Roman"/>
                <a:ea typeface="Times New Roman"/>
                <a:cs typeface="Times New Roman"/>
                <a:sym typeface="Times New Roman"/>
              </a:rPr>
              <a:t>Remote Access</a:t>
            </a:r>
            <a:r>
              <a:rPr b="1" lang="en" sz="2200">
                <a:solidFill>
                  <a:schemeClr val="lt1"/>
                </a:solidFill>
                <a:latin typeface="Times New Roman"/>
                <a:ea typeface="Times New Roman"/>
                <a:cs typeface="Times New Roman"/>
                <a:sym typeface="Times New Roman"/>
              </a:rPr>
              <a:t>: </a:t>
            </a:r>
            <a:endParaRPr b="1" sz="22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Eddy connected to tailscale from Ireland</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Opened GUI through browser</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Char char="●"/>
            </a:pPr>
            <a:r>
              <a:rPr lang="en" sz="2000" u="sng">
                <a:solidFill>
                  <a:schemeClr val="hlink"/>
                </a:solidFill>
                <a:latin typeface="Times New Roman"/>
                <a:ea typeface="Times New Roman"/>
                <a:cs typeface="Times New Roman"/>
                <a:sym typeface="Times New Roman"/>
                <a:hlinkClick r:id="rId3"/>
              </a:rPr>
              <a:t>http://100.67.1.26</a:t>
            </a:r>
            <a:endParaRPr sz="20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2000">
              <a:solidFill>
                <a:schemeClr val="lt1"/>
              </a:solidFill>
            </a:endParaRPr>
          </a:p>
        </p:txBody>
      </p:sp>
      <p:sp>
        <p:nvSpPr>
          <p:cNvPr id="300" name="Google Shape;300;p39"/>
          <p:cNvSpPr txBox="1"/>
          <p:nvPr/>
        </p:nvSpPr>
        <p:spPr>
          <a:xfrm>
            <a:off x="6020250" y="1129075"/>
            <a:ext cx="2458800" cy="3373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lt1"/>
                </a:solidFill>
                <a:latin typeface="Times New Roman"/>
                <a:ea typeface="Times New Roman"/>
                <a:cs typeface="Times New Roman"/>
                <a:sym typeface="Times New Roman"/>
              </a:rPr>
              <a:t>Tested and Recorded</a:t>
            </a:r>
            <a:r>
              <a:rPr b="1" lang="en" sz="2100">
                <a:solidFill>
                  <a:schemeClr val="lt1"/>
                </a:solidFill>
                <a:latin typeface="Times New Roman"/>
                <a:ea typeface="Times New Roman"/>
                <a:cs typeface="Times New Roman"/>
                <a:sym typeface="Times New Roman"/>
              </a:rPr>
              <a:t>: </a:t>
            </a:r>
            <a:endParaRPr b="1" sz="21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Live Video Streaming </a:t>
            </a:r>
            <a:endParaRPr sz="19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Real-time telemetry display</a:t>
            </a:r>
            <a:endParaRPr sz="19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Remote control (record button)</a:t>
            </a:r>
            <a:endParaRPr sz="19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306" name="Google Shape;306;p40"/>
          <p:cNvSpPr txBox="1"/>
          <p:nvPr/>
        </p:nvSpPr>
        <p:spPr>
          <a:xfrm>
            <a:off x="664950" y="189000"/>
            <a:ext cx="7814100" cy="531000"/>
          </a:xfrm>
          <a:prstGeom prst="rect">
            <a:avLst/>
          </a:prstGeom>
          <a:noFill/>
          <a:ln>
            <a:noFill/>
          </a:ln>
        </p:spPr>
        <p:txBody>
          <a:bodyPr anchorCtr="0" anchor="t" bIns="91425" lIns="91425" spcFirstLastPara="1" rIns="91425" wrap="square" tIns="91425">
            <a:spAutoFit/>
          </a:bodyPr>
          <a:lstStyle/>
          <a:p>
            <a:pPr indent="0" lvl="0" marL="0" rtl="0" algn="ctr">
              <a:lnSpc>
                <a:spcPct val="75000"/>
              </a:lnSpc>
              <a:spcBef>
                <a:spcPts val="0"/>
              </a:spcBef>
              <a:spcAft>
                <a:spcPts val="0"/>
              </a:spcAft>
              <a:buNone/>
            </a:pPr>
            <a:r>
              <a:rPr b="1" lang="en" sz="3000">
                <a:solidFill>
                  <a:schemeClr val="lt1"/>
                </a:solidFill>
                <a:latin typeface="Times New Roman"/>
                <a:ea typeface="Times New Roman"/>
                <a:cs typeface="Times New Roman"/>
                <a:sym typeface="Times New Roman"/>
              </a:rPr>
              <a:t>Remote Operation Demo</a:t>
            </a:r>
            <a:endParaRPr>
              <a:solidFill>
                <a:schemeClr val="lt1"/>
              </a:solidFill>
              <a:latin typeface="Times New Roman"/>
              <a:ea typeface="Times New Roman"/>
              <a:cs typeface="Times New Roman"/>
              <a:sym typeface="Times New Roman"/>
            </a:endParaRPr>
          </a:p>
        </p:txBody>
      </p:sp>
      <p:pic>
        <p:nvPicPr>
          <p:cNvPr id="307" name="Google Shape;307;p40" title="Video Project 3 - Made with Clipchamp_1775945851621.mp4">
            <a:hlinkClick r:id="rId3"/>
          </p:cNvPr>
          <p:cNvPicPr preferRelativeResize="0"/>
          <p:nvPr/>
        </p:nvPicPr>
        <p:blipFill>
          <a:blip r:embed="rId4">
            <a:alphaModFix/>
          </a:blip>
          <a:stretch>
            <a:fillRect/>
          </a:stretch>
        </p:blipFill>
        <p:spPr>
          <a:xfrm>
            <a:off x="173525" y="730450"/>
            <a:ext cx="4953050" cy="3714800"/>
          </a:xfrm>
          <a:prstGeom prst="rect">
            <a:avLst/>
          </a:prstGeom>
          <a:noFill/>
          <a:ln>
            <a:noFill/>
          </a:ln>
          <a:effectLst>
            <a:outerShdw blurRad="57150" rotWithShape="0" algn="bl" dir="5400000" dist="19050">
              <a:srgbClr val="000000">
                <a:alpha val="50000"/>
              </a:srgbClr>
            </a:outerShdw>
          </a:effectLst>
        </p:spPr>
      </p:pic>
      <p:sp>
        <p:nvSpPr>
          <p:cNvPr id="308" name="Google Shape;308;p40"/>
          <p:cNvSpPr txBox="1"/>
          <p:nvPr/>
        </p:nvSpPr>
        <p:spPr>
          <a:xfrm>
            <a:off x="5212925" y="730450"/>
            <a:ext cx="3489900" cy="35559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Remote user (Ireland) successfully accessed and controlled GUI</a:t>
            </a:r>
            <a:endParaRPr sz="19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All sensors integrated and displayed in real time (GPS, IMU, temperature, pH, salinity)</a:t>
            </a:r>
            <a:endParaRPr sz="19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Char char="●"/>
            </a:pPr>
            <a:r>
              <a:rPr lang="en" sz="1900">
                <a:solidFill>
                  <a:schemeClr val="lt1"/>
                </a:solidFill>
                <a:latin typeface="Times New Roman"/>
                <a:ea typeface="Times New Roman"/>
                <a:cs typeface="Times New Roman"/>
                <a:sym typeface="Times New Roman"/>
              </a:rPr>
              <a:t>Live video streamed with </a:t>
            </a:r>
            <a:r>
              <a:rPr b="1" lang="en" sz="1900">
                <a:solidFill>
                  <a:schemeClr val="lt1"/>
                </a:solidFill>
                <a:latin typeface="Times New Roman"/>
                <a:ea typeface="Times New Roman"/>
                <a:cs typeface="Times New Roman"/>
                <a:sym typeface="Times New Roman"/>
              </a:rPr>
              <a:t>&lt; 30 ms latency</a:t>
            </a:r>
            <a:endParaRPr b="1" sz="19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Remote recording triggered; video and telemetry saved on Jetson</a:t>
            </a:r>
            <a:endParaRPr sz="1800">
              <a:solidFill>
                <a:schemeClr val="dk2"/>
              </a:solidFill>
            </a:endParaRPr>
          </a:p>
        </p:txBody>
      </p:sp>
      <p:sp>
        <p:nvSpPr>
          <p:cNvPr id="309" name="Google Shape;309;p40"/>
          <p:cNvSpPr txBox="1"/>
          <p:nvPr/>
        </p:nvSpPr>
        <p:spPr>
          <a:xfrm>
            <a:off x="222000" y="4459616"/>
            <a:ext cx="3981300" cy="2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300">
                <a:solidFill>
                  <a:schemeClr val="lt1"/>
                </a:solidFill>
                <a:latin typeface="Times New Roman"/>
                <a:ea typeface="Times New Roman"/>
                <a:cs typeface="Times New Roman"/>
                <a:sym typeface="Times New Roman"/>
              </a:rPr>
              <a:t>*Eddy sharing his screen through zoom in Ireland</a:t>
            </a:r>
            <a:endParaRPr i="1" sz="1300">
              <a:solidFill>
                <a:schemeClr val="lt1"/>
              </a:solidFill>
              <a:latin typeface="Times New Roman"/>
              <a:ea typeface="Times New Roman"/>
              <a:cs typeface="Times New Roman"/>
              <a:sym typeface="Times New Roman"/>
            </a:endParaRPr>
          </a:p>
        </p:txBody>
      </p:sp>
      <p:sp>
        <p:nvSpPr>
          <p:cNvPr id="310" name="Google Shape;310;p40"/>
          <p:cNvSpPr txBox="1"/>
          <p:nvPr/>
        </p:nvSpPr>
        <p:spPr>
          <a:xfrm>
            <a:off x="6080100" y="4459616"/>
            <a:ext cx="3981300" cy="2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Times New Roman"/>
                <a:ea typeface="Times New Roman"/>
                <a:cs typeface="Times New Roman"/>
                <a:sym typeface="Times New Roman"/>
              </a:rPr>
              <a:t>Demo Date : 04/03/2026</a:t>
            </a:r>
            <a:endParaRPr sz="1300">
              <a:solidFill>
                <a:schemeClr val="lt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1000"/>
                                        <p:tgtEl>
                                          <p:spTgt spid="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316" name="Google Shape;316;p41"/>
          <p:cNvSpPr txBox="1"/>
          <p:nvPr/>
        </p:nvSpPr>
        <p:spPr>
          <a:xfrm>
            <a:off x="664950" y="189000"/>
            <a:ext cx="7814100" cy="531000"/>
          </a:xfrm>
          <a:prstGeom prst="rect">
            <a:avLst/>
          </a:prstGeom>
          <a:noFill/>
          <a:ln>
            <a:noFill/>
          </a:ln>
        </p:spPr>
        <p:txBody>
          <a:bodyPr anchorCtr="0" anchor="t" bIns="91425" lIns="91425" spcFirstLastPara="1" rIns="91425" wrap="square" tIns="91425">
            <a:spAutoFit/>
          </a:bodyPr>
          <a:lstStyle/>
          <a:p>
            <a:pPr indent="0" lvl="0" marL="0" rtl="0" algn="ctr">
              <a:lnSpc>
                <a:spcPct val="75000"/>
              </a:lnSpc>
              <a:spcBef>
                <a:spcPts val="0"/>
              </a:spcBef>
              <a:spcAft>
                <a:spcPts val="0"/>
              </a:spcAft>
              <a:buNone/>
            </a:pPr>
            <a:r>
              <a:rPr b="1" lang="en" sz="3000">
                <a:solidFill>
                  <a:schemeClr val="lt1"/>
                </a:solidFill>
                <a:latin typeface="Times New Roman"/>
                <a:ea typeface="Times New Roman"/>
                <a:cs typeface="Times New Roman"/>
                <a:sym typeface="Times New Roman"/>
              </a:rPr>
              <a:t>Remote Recording and Data Synchronization</a:t>
            </a:r>
            <a:endParaRPr>
              <a:solidFill>
                <a:schemeClr val="lt1"/>
              </a:solidFill>
              <a:latin typeface="Times New Roman"/>
              <a:ea typeface="Times New Roman"/>
              <a:cs typeface="Times New Roman"/>
              <a:sym typeface="Times New Roman"/>
            </a:endParaRPr>
          </a:p>
        </p:txBody>
      </p:sp>
      <p:pic>
        <p:nvPicPr>
          <p:cNvPr id="317" name="Google Shape;317;p41"/>
          <p:cNvPicPr preferRelativeResize="0"/>
          <p:nvPr/>
        </p:nvPicPr>
        <p:blipFill>
          <a:blip r:embed="rId3">
            <a:alphaModFix/>
          </a:blip>
          <a:stretch>
            <a:fillRect/>
          </a:stretch>
        </p:blipFill>
        <p:spPr>
          <a:xfrm>
            <a:off x="455375" y="720000"/>
            <a:ext cx="3049849" cy="2027576"/>
          </a:xfrm>
          <a:prstGeom prst="rect">
            <a:avLst/>
          </a:prstGeom>
          <a:noFill/>
          <a:ln>
            <a:noFill/>
          </a:ln>
        </p:spPr>
      </p:pic>
      <p:pic>
        <p:nvPicPr>
          <p:cNvPr id="318" name="Google Shape;318;p41" title="short video recording.mp4">
            <a:hlinkClick r:id="rId4"/>
          </p:cNvPr>
          <p:cNvPicPr preferRelativeResize="0"/>
          <p:nvPr/>
        </p:nvPicPr>
        <p:blipFill>
          <a:blip r:embed="rId5">
            <a:alphaModFix/>
          </a:blip>
          <a:stretch>
            <a:fillRect/>
          </a:stretch>
        </p:blipFill>
        <p:spPr>
          <a:xfrm>
            <a:off x="4594275" y="792125"/>
            <a:ext cx="3348125" cy="1883326"/>
          </a:xfrm>
          <a:prstGeom prst="rect">
            <a:avLst/>
          </a:prstGeom>
          <a:noFill/>
          <a:ln>
            <a:noFill/>
          </a:ln>
        </p:spPr>
      </p:pic>
      <p:pic>
        <p:nvPicPr>
          <p:cNvPr id="319" name="Google Shape;319;p41"/>
          <p:cNvPicPr preferRelativeResize="0"/>
          <p:nvPr/>
        </p:nvPicPr>
        <p:blipFill>
          <a:blip r:embed="rId6">
            <a:alphaModFix/>
          </a:blip>
          <a:stretch>
            <a:fillRect/>
          </a:stretch>
        </p:blipFill>
        <p:spPr>
          <a:xfrm>
            <a:off x="400325" y="3064725"/>
            <a:ext cx="4193951" cy="1276900"/>
          </a:xfrm>
          <a:prstGeom prst="rect">
            <a:avLst/>
          </a:prstGeom>
          <a:noFill/>
          <a:ln>
            <a:noFill/>
          </a:ln>
        </p:spPr>
      </p:pic>
      <p:sp>
        <p:nvSpPr>
          <p:cNvPr id="320" name="Google Shape;320;p41"/>
          <p:cNvSpPr/>
          <p:nvPr/>
        </p:nvSpPr>
        <p:spPr>
          <a:xfrm>
            <a:off x="2584898" y="1025123"/>
            <a:ext cx="443700" cy="456600"/>
          </a:xfrm>
          <a:prstGeom prst="ellipse">
            <a:avLst/>
          </a:prstGeom>
          <a:noFill/>
          <a:ln cap="flat" cmpd="sng" w="28575">
            <a:solidFill>
              <a:srgbClr val="00FF00"/>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1" name="Google Shape;321;p41"/>
          <p:cNvSpPr/>
          <p:nvPr/>
        </p:nvSpPr>
        <p:spPr>
          <a:xfrm>
            <a:off x="2288498" y="1799894"/>
            <a:ext cx="443700" cy="456600"/>
          </a:xfrm>
          <a:prstGeom prst="ellipse">
            <a:avLst/>
          </a:prstGeom>
          <a:noFill/>
          <a:ln cap="flat" cmpd="sng" w="28575">
            <a:solidFill>
              <a:srgbClr val="00FF00"/>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22" name="Google Shape;322;p41"/>
          <p:cNvCxnSpPr>
            <a:stCxn id="321" idx="4"/>
          </p:cNvCxnSpPr>
          <p:nvPr/>
        </p:nvCxnSpPr>
        <p:spPr>
          <a:xfrm flipH="1">
            <a:off x="2288048" y="2256494"/>
            <a:ext cx="222300" cy="1048500"/>
          </a:xfrm>
          <a:prstGeom prst="straightConnector1">
            <a:avLst/>
          </a:prstGeom>
          <a:noFill/>
          <a:ln cap="flat" cmpd="sng" w="19050">
            <a:solidFill>
              <a:srgbClr val="00FF00"/>
            </a:solidFill>
            <a:prstDash val="dash"/>
            <a:round/>
            <a:headEnd len="med" w="med" type="none"/>
            <a:tailEnd len="med" w="med" type="triangle"/>
          </a:ln>
        </p:spPr>
      </p:cxnSp>
      <p:cxnSp>
        <p:nvCxnSpPr>
          <p:cNvPr id="323" name="Google Shape;323;p41"/>
          <p:cNvCxnSpPr>
            <a:stCxn id="320" idx="6"/>
          </p:cNvCxnSpPr>
          <p:nvPr/>
        </p:nvCxnSpPr>
        <p:spPr>
          <a:xfrm>
            <a:off x="3028598" y="1253423"/>
            <a:ext cx="1712700" cy="16200"/>
          </a:xfrm>
          <a:prstGeom prst="straightConnector1">
            <a:avLst/>
          </a:prstGeom>
          <a:noFill/>
          <a:ln cap="flat" cmpd="sng" w="19050">
            <a:solidFill>
              <a:srgbClr val="00FF00"/>
            </a:solidFill>
            <a:prstDash val="dash"/>
            <a:round/>
            <a:headEnd len="med" w="med" type="none"/>
            <a:tailEnd len="med" w="med" type="triangle"/>
          </a:ln>
        </p:spPr>
      </p:cxnSp>
      <p:sp>
        <p:nvSpPr>
          <p:cNvPr id="324" name="Google Shape;324;p41"/>
          <p:cNvSpPr txBox="1"/>
          <p:nvPr/>
        </p:nvSpPr>
        <p:spPr>
          <a:xfrm>
            <a:off x="5071525" y="2896250"/>
            <a:ext cx="3719400" cy="16329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l">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Remote user triggered recording from GUI</a:t>
            </a:r>
            <a:endParaRPr sz="1600">
              <a:solidFill>
                <a:schemeClr val="lt1"/>
              </a:solidFill>
              <a:latin typeface="Times New Roman"/>
              <a:ea typeface="Times New Roman"/>
              <a:cs typeface="Times New Roman"/>
              <a:sym typeface="Times New Roman"/>
            </a:endParaRPr>
          </a:p>
          <a:p>
            <a:pPr indent="-330200" lvl="0" marL="457200" rtl="0" algn="l">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Video and telemetry saved on Jetson </a:t>
            </a:r>
            <a:endParaRPr sz="1600">
              <a:solidFill>
                <a:schemeClr val="lt1"/>
              </a:solidFill>
              <a:latin typeface="Times New Roman"/>
              <a:ea typeface="Times New Roman"/>
              <a:cs typeface="Times New Roman"/>
              <a:sym typeface="Times New Roman"/>
            </a:endParaRPr>
          </a:p>
          <a:p>
            <a:pPr indent="-330200" lvl="0" marL="457200" rtl="0" algn="l">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Synched and saved under same file.</a:t>
            </a:r>
            <a:endParaRPr sz="1600">
              <a:solidFill>
                <a:schemeClr val="lt1"/>
              </a:solidFill>
              <a:latin typeface="Times New Roman"/>
              <a:ea typeface="Times New Roman"/>
              <a:cs typeface="Times New Roman"/>
              <a:sym typeface="Times New Roman"/>
            </a:endParaRPr>
          </a:p>
          <a:p>
            <a:pPr indent="-330200" lvl="0" marL="457200" rtl="0" algn="l">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Confirms</a:t>
            </a:r>
            <a:r>
              <a:rPr lang="en" sz="1600">
                <a:solidFill>
                  <a:schemeClr val="lt1"/>
                </a:solidFill>
                <a:latin typeface="Times New Roman"/>
                <a:ea typeface="Times New Roman"/>
                <a:cs typeface="Times New Roman"/>
                <a:sym typeface="Times New Roman"/>
              </a:rPr>
              <a:t> end to end remote data collection and control.</a:t>
            </a:r>
            <a:endParaRPr sz="1600">
              <a:solidFill>
                <a:schemeClr val="lt1"/>
              </a:solidFill>
              <a:latin typeface="Times New Roman"/>
              <a:ea typeface="Times New Roman"/>
              <a:cs typeface="Times New Roman"/>
              <a:sym typeface="Times New Roman"/>
            </a:endParaRPr>
          </a:p>
        </p:txBody>
      </p:sp>
      <p:sp>
        <p:nvSpPr>
          <p:cNvPr id="325" name="Google Shape;325;p41"/>
          <p:cNvSpPr/>
          <p:nvPr/>
        </p:nvSpPr>
        <p:spPr>
          <a:xfrm>
            <a:off x="2668287" y="1358906"/>
            <a:ext cx="236400" cy="52200"/>
          </a:xfrm>
          <a:prstGeom prst="rect">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6" name="Google Shape;326;p41"/>
          <p:cNvSpPr/>
          <p:nvPr/>
        </p:nvSpPr>
        <p:spPr>
          <a:xfrm>
            <a:off x="2382576" y="1973501"/>
            <a:ext cx="236400" cy="52200"/>
          </a:xfrm>
          <a:prstGeom prst="rect">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7" name="Google Shape;327;p41"/>
          <p:cNvSpPr txBox="1"/>
          <p:nvPr/>
        </p:nvSpPr>
        <p:spPr>
          <a:xfrm>
            <a:off x="328000" y="4459616"/>
            <a:ext cx="3981300" cy="2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Times New Roman"/>
                <a:ea typeface="Times New Roman"/>
                <a:cs typeface="Times New Roman"/>
                <a:sym typeface="Times New Roman"/>
              </a:rPr>
              <a:t>* A little discrepancy with time eddy did start recording before camera turne don</a:t>
            </a:r>
            <a:endParaRPr sz="1300">
              <a:solidFill>
                <a:schemeClr val="lt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1000"/>
                                        <p:tgtEl>
                                          <p:spTgt spid="3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333" name="Google Shape;333;p42"/>
          <p:cNvSpPr txBox="1"/>
          <p:nvPr/>
        </p:nvSpPr>
        <p:spPr>
          <a:xfrm>
            <a:off x="1255650" y="287205"/>
            <a:ext cx="6632700" cy="353700"/>
          </a:xfrm>
          <a:prstGeom prst="rect">
            <a:avLst/>
          </a:prstGeom>
          <a:noFill/>
          <a:ln>
            <a:noFill/>
          </a:ln>
        </p:spPr>
        <p:txBody>
          <a:bodyPr anchorCtr="0" anchor="t" bIns="0" lIns="0" spcFirstLastPara="1" rIns="0" wrap="square" tIns="6350">
            <a:noAutofit/>
          </a:bodyPr>
          <a:lstStyle/>
          <a:p>
            <a:pPr indent="0" lvl="0" marL="0" rtl="0" algn="ctr">
              <a:spcBef>
                <a:spcPts val="0"/>
              </a:spcBef>
              <a:spcAft>
                <a:spcPts val="0"/>
              </a:spcAft>
              <a:buNone/>
            </a:pPr>
            <a:r>
              <a:rPr b="1" lang="en" sz="3000">
                <a:solidFill>
                  <a:srgbClr val="FFFFFF"/>
                </a:solidFill>
                <a:latin typeface="Times"/>
                <a:ea typeface="Times"/>
                <a:cs typeface="Times"/>
                <a:sym typeface="Times"/>
              </a:rPr>
              <a:t>Results</a:t>
            </a:r>
            <a:endParaRPr b="1" sz="3000">
              <a:solidFill>
                <a:srgbClr val="FFFFFF"/>
              </a:solidFill>
              <a:latin typeface="Times"/>
              <a:ea typeface="Times"/>
              <a:cs typeface="Times"/>
              <a:sym typeface="Times"/>
            </a:endParaRPr>
          </a:p>
        </p:txBody>
      </p:sp>
      <p:graphicFrame>
        <p:nvGraphicFramePr>
          <p:cNvPr id="334" name="Google Shape;334;p42"/>
          <p:cNvGraphicFramePr/>
          <p:nvPr/>
        </p:nvGraphicFramePr>
        <p:xfrm>
          <a:off x="1255638" y="950025"/>
          <a:ext cx="3000000" cy="3000000"/>
        </p:xfrm>
        <a:graphic>
          <a:graphicData uri="http://schemas.openxmlformats.org/drawingml/2006/table">
            <a:tbl>
              <a:tblPr>
                <a:noFill/>
                <a:tableStyleId>{D249BD4F-0858-46B6-BC2E-1600E3F50066}</a:tableStyleId>
              </a:tblPr>
              <a:tblGrid>
                <a:gridCol w="2389300"/>
                <a:gridCol w="1934275"/>
                <a:gridCol w="2709300"/>
              </a:tblGrid>
              <a:tr h="381000">
                <a:tc>
                  <a:txBody>
                    <a:bodyPr/>
                    <a:lstStyle/>
                    <a:p>
                      <a:pPr indent="0" lvl="0" marL="0" rtl="0" algn="ctr">
                        <a:spcBef>
                          <a:spcPts val="0"/>
                        </a:spcBef>
                        <a:spcAft>
                          <a:spcPts val="0"/>
                        </a:spcAft>
                        <a:buNone/>
                      </a:pPr>
                      <a:r>
                        <a:rPr b="1" lang="en" sz="1600">
                          <a:solidFill>
                            <a:schemeClr val="lt1"/>
                          </a:solidFill>
                          <a:latin typeface="Times New Roman"/>
                          <a:ea typeface="Times New Roman"/>
                          <a:cs typeface="Times New Roman"/>
                          <a:sym typeface="Times New Roman"/>
                        </a:rPr>
                        <a:t>Requirement</a:t>
                      </a:r>
                      <a:endParaRPr b="1"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c>
                  <a:txBody>
                    <a:bodyPr/>
                    <a:lstStyle/>
                    <a:p>
                      <a:pPr indent="0" lvl="0" marL="0" rtl="0" algn="ctr">
                        <a:spcBef>
                          <a:spcPts val="0"/>
                        </a:spcBef>
                        <a:spcAft>
                          <a:spcPts val="0"/>
                        </a:spcAft>
                        <a:buNone/>
                      </a:pPr>
                      <a:r>
                        <a:rPr b="1" lang="en" sz="1600">
                          <a:solidFill>
                            <a:schemeClr val="lt1"/>
                          </a:solidFill>
                          <a:latin typeface="Times New Roman"/>
                          <a:ea typeface="Times New Roman"/>
                          <a:cs typeface="Times New Roman"/>
                          <a:sym typeface="Times New Roman"/>
                        </a:rPr>
                        <a:t>Status</a:t>
                      </a:r>
                      <a:endParaRPr b="1"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c>
                  <a:txBody>
                    <a:bodyPr/>
                    <a:lstStyle/>
                    <a:p>
                      <a:pPr indent="0" lvl="0" marL="0" rtl="0" algn="ctr">
                        <a:spcBef>
                          <a:spcPts val="0"/>
                        </a:spcBef>
                        <a:spcAft>
                          <a:spcPts val="0"/>
                        </a:spcAft>
                        <a:buNone/>
                      </a:pPr>
                      <a:r>
                        <a:rPr b="1" lang="en" sz="1600">
                          <a:solidFill>
                            <a:schemeClr val="lt1"/>
                          </a:solidFill>
                          <a:latin typeface="Times New Roman"/>
                          <a:ea typeface="Times New Roman"/>
                          <a:cs typeface="Times New Roman"/>
                          <a:sym typeface="Times New Roman"/>
                        </a:rPr>
                        <a:t>Remaining Action</a:t>
                      </a:r>
                      <a:endParaRPr b="1"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r>
              <a:tr h="381000">
                <a:tc>
                  <a:txBody>
                    <a:bodyPr/>
                    <a:lstStyle/>
                    <a:p>
                      <a:pPr indent="0" lvl="0" marL="0" rtl="0" algn="ctr">
                        <a:spcBef>
                          <a:spcPts val="0"/>
                        </a:spcBef>
                        <a:spcAft>
                          <a:spcPts val="0"/>
                        </a:spcAft>
                        <a:buNone/>
                      </a:pPr>
                      <a:r>
                        <a:rPr lang="en" sz="1600">
                          <a:solidFill>
                            <a:schemeClr val="lt1"/>
                          </a:solidFill>
                          <a:latin typeface="Times New Roman"/>
                          <a:ea typeface="Times New Roman"/>
                          <a:cs typeface="Times New Roman"/>
                          <a:sym typeface="Times New Roman"/>
                        </a:rPr>
                        <a:t>5.1.6 Data Collection</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rgbClr val="00FF00"/>
                          </a:solidFill>
                          <a:latin typeface="Times New Roman"/>
                          <a:ea typeface="Times New Roman"/>
                          <a:cs typeface="Times New Roman"/>
                          <a:sym typeface="Times New Roman"/>
                        </a:rPr>
                        <a:t>Pass</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solidFill>
                            <a:schemeClr val="lt1"/>
                          </a:solidFill>
                          <a:latin typeface="Times New Roman"/>
                          <a:ea typeface="Times New Roman"/>
                          <a:cs typeface="Times New Roman"/>
                          <a:sym typeface="Times New Roman"/>
                        </a:rPr>
                        <a:t>5.1.7 Data Mapping</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00FF00"/>
                          </a:solidFill>
                          <a:latin typeface="Times New Roman"/>
                          <a:ea typeface="Times New Roman"/>
                          <a:cs typeface="Times New Roman"/>
                          <a:sym typeface="Times New Roman"/>
                        </a:rPr>
                        <a:t>Pass</a:t>
                      </a:r>
                      <a:r>
                        <a:rPr lang="en" sz="1600">
                          <a:solidFill>
                            <a:schemeClr val="lt1"/>
                          </a:solidFill>
                          <a:latin typeface="Times New Roman"/>
                          <a:ea typeface="Times New Roman"/>
                          <a:cs typeface="Times New Roman"/>
                          <a:sym typeface="Times New Roman"/>
                        </a:rPr>
                        <a:t> </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Clr>
                          <a:schemeClr val="dk1"/>
                        </a:buClr>
                        <a:buSzPts val="1100"/>
                        <a:buFont typeface="Arial"/>
                        <a:buNone/>
                      </a:pPr>
                      <a:r>
                        <a:rPr lang="en" sz="1600">
                          <a:solidFill>
                            <a:schemeClr val="lt1"/>
                          </a:solidFill>
                          <a:latin typeface="Times New Roman"/>
                          <a:ea typeface="Times New Roman"/>
                          <a:cs typeface="Times New Roman"/>
                          <a:sym typeface="Times New Roman"/>
                        </a:rPr>
                        <a:t>5.4.3 Data Relay</a:t>
                      </a:r>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00FF00"/>
                          </a:solidFill>
                          <a:latin typeface="Times New Roman"/>
                          <a:ea typeface="Times New Roman"/>
                          <a:cs typeface="Times New Roman"/>
                          <a:sym typeface="Times New Roman"/>
                        </a:rPr>
                        <a:t>Pass</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Clr>
                          <a:schemeClr val="dk1"/>
                        </a:buClr>
                        <a:buSzPts val="1100"/>
                        <a:buFont typeface="Arial"/>
                        <a:buNone/>
                      </a:pPr>
                      <a:r>
                        <a:rPr lang="en" sz="1600">
                          <a:solidFill>
                            <a:schemeClr val="lt1"/>
                          </a:solidFill>
                          <a:latin typeface="Times New Roman"/>
                          <a:ea typeface="Times New Roman"/>
                          <a:cs typeface="Times New Roman"/>
                          <a:sym typeface="Times New Roman"/>
                        </a:rPr>
                        <a:t>5.4.4 Satellite Uplink</a:t>
                      </a:r>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00FF00"/>
                          </a:solidFill>
                          <a:latin typeface="Times New Roman"/>
                          <a:ea typeface="Times New Roman"/>
                          <a:cs typeface="Times New Roman"/>
                          <a:sym typeface="Times New Roman"/>
                        </a:rPr>
                        <a:t>Pass</a:t>
                      </a:r>
                      <a:endParaRPr sz="1600">
                        <a:solidFill>
                          <a:srgbClr val="00FF00"/>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Clr>
                          <a:schemeClr val="dk1"/>
                        </a:buClr>
                        <a:buSzPts val="1100"/>
                        <a:buFont typeface="Arial"/>
                        <a:buNone/>
                      </a:pPr>
                      <a:r>
                        <a:rPr lang="en" sz="1600">
                          <a:solidFill>
                            <a:schemeClr val="lt1"/>
                          </a:solidFill>
                          <a:latin typeface="Times New Roman"/>
                          <a:ea typeface="Times New Roman"/>
                          <a:cs typeface="Times New Roman"/>
                          <a:sym typeface="Times New Roman"/>
                        </a:rPr>
                        <a:t>5.4.5 Display</a:t>
                      </a:r>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00FF00"/>
                          </a:solidFill>
                          <a:latin typeface="Times New Roman"/>
                          <a:ea typeface="Times New Roman"/>
                          <a:cs typeface="Times New Roman"/>
                          <a:sym typeface="Times New Roman"/>
                        </a:rPr>
                        <a:t>Pass</a:t>
                      </a:r>
                      <a:endParaRPr sz="1600">
                        <a:solidFill>
                          <a:srgbClr val="FFB300"/>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Clr>
                          <a:schemeClr val="dk1"/>
                        </a:buClr>
                        <a:buSzPts val="1100"/>
                        <a:buFont typeface="Arial"/>
                        <a:buNone/>
                      </a:pPr>
                      <a:r>
                        <a:rPr lang="en" sz="1600">
                          <a:solidFill>
                            <a:schemeClr val="lt1"/>
                          </a:solidFill>
                          <a:latin typeface="Times New Roman"/>
                          <a:ea typeface="Times New Roman"/>
                          <a:cs typeface="Times New Roman"/>
                          <a:sym typeface="Times New Roman"/>
                        </a:rPr>
                        <a:t>5.4.1 Autonomy &amp; Control</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FFB300"/>
                          </a:solidFill>
                          <a:latin typeface="Times New Roman"/>
                          <a:ea typeface="Times New Roman"/>
                          <a:cs typeface="Times New Roman"/>
                          <a:sym typeface="Times New Roman"/>
                        </a:rPr>
                        <a:t>Partial Pass</a:t>
                      </a:r>
                      <a:endParaRPr sz="1600">
                        <a:solidFill>
                          <a:srgbClr val="FFB300"/>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lt1"/>
                          </a:solidFill>
                          <a:latin typeface="Times New Roman"/>
                          <a:ea typeface="Times New Roman"/>
                          <a:cs typeface="Times New Roman"/>
                          <a:sym typeface="Times New Roman"/>
                        </a:rPr>
                        <a:t>Validate throttle and waypoint control on-water and remote (Starlink) conditions</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340" name="Google Shape;340;p43"/>
          <p:cNvSpPr txBox="1"/>
          <p:nvPr/>
        </p:nvSpPr>
        <p:spPr>
          <a:xfrm>
            <a:off x="1842600" y="186350"/>
            <a:ext cx="5458800" cy="877200"/>
          </a:xfrm>
          <a:prstGeom prst="rect">
            <a:avLst/>
          </a:prstGeom>
          <a:noFill/>
          <a:ln>
            <a:noFill/>
          </a:ln>
        </p:spPr>
        <p:txBody>
          <a:bodyPr anchorCtr="0" anchor="ctr" bIns="91425" lIns="91425" spcFirstLastPara="1" rIns="91425" wrap="square" tIns="91425">
            <a:noAutofit/>
          </a:bodyPr>
          <a:lstStyle/>
          <a:p>
            <a:pPr indent="0" lvl="0" marL="0" rtl="0" algn="ctr">
              <a:lnSpc>
                <a:spcPct val="75000"/>
              </a:lnSpc>
              <a:spcBef>
                <a:spcPts val="0"/>
              </a:spcBef>
              <a:spcAft>
                <a:spcPts val="0"/>
              </a:spcAft>
              <a:buNone/>
            </a:pPr>
            <a:r>
              <a:rPr b="1" lang="en" sz="3000">
                <a:solidFill>
                  <a:schemeClr val="lt1"/>
                </a:solidFill>
                <a:latin typeface="Times"/>
                <a:ea typeface="Times"/>
                <a:cs typeface="Times"/>
                <a:sym typeface="Times"/>
              </a:rPr>
              <a:t>Communication</a:t>
            </a:r>
            <a:r>
              <a:rPr b="1" lang="en" sz="3000">
                <a:solidFill>
                  <a:schemeClr val="lt1"/>
                </a:solidFill>
                <a:latin typeface="Times"/>
                <a:ea typeface="Times"/>
                <a:cs typeface="Times"/>
                <a:sym typeface="Times"/>
              </a:rPr>
              <a:t> Subsystem Verification - Setup</a:t>
            </a:r>
            <a:endParaRPr b="1" sz="3000">
              <a:solidFill>
                <a:schemeClr val="lt1"/>
              </a:solidFill>
              <a:latin typeface="Times"/>
              <a:ea typeface="Times"/>
              <a:cs typeface="Times"/>
              <a:sym typeface="Times"/>
            </a:endParaRPr>
          </a:p>
        </p:txBody>
      </p:sp>
      <p:sp>
        <p:nvSpPr>
          <p:cNvPr id="341" name="Google Shape;341;p43"/>
          <p:cNvSpPr txBox="1"/>
          <p:nvPr/>
        </p:nvSpPr>
        <p:spPr>
          <a:xfrm>
            <a:off x="457200" y="1719072"/>
            <a:ext cx="3886200" cy="2596800"/>
          </a:xfrm>
          <a:prstGeom prst="rect">
            <a:avLst/>
          </a:prstGeom>
          <a:noFill/>
          <a:ln>
            <a:noFill/>
          </a:ln>
        </p:spPr>
        <p:txBody>
          <a:bodyPr anchorCtr="0" anchor="t" bIns="91425" lIns="91425" spcFirstLastPara="1" rIns="91425" wrap="square" tIns="91425">
            <a:noAutofit/>
          </a:bodyPr>
          <a:lstStyle/>
          <a:p>
            <a:pPr indent="-213360" lvl="0" marL="274320" rtl="0" algn="l">
              <a:lnSpc>
                <a:spcPct val="115000"/>
              </a:lnSpc>
              <a:spcBef>
                <a:spcPts val="200"/>
              </a:spcBef>
              <a:spcAft>
                <a:spcPts val="0"/>
              </a:spcAft>
              <a:buClr>
                <a:srgbClr val="FFFFFF"/>
              </a:buClr>
              <a:buSzPts val="1200"/>
              <a:buFont typeface="Times New Roman"/>
              <a:buChar char="●"/>
            </a:pPr>
            <a:r>
              <a:rPr lang="en">
                <a:solidFill>
                  <a:srgbClr val="FFFFFF"/>
                </a:solidFill>
                <a:latin typeface="Times New Roman"/>
                <a:ea typeface="Times New Roman"/>
                <a:cs typeface="Times New Roman"/>
                <a:sym typeface="Times New Roman"/>
              </a:rPr>
              <a:t>Jetson Orin Nano running GUI backend (Flask + WebSocket) + WebRTC video</a:t>
            </a:r>
            <a:endParaRPr>
              <a:solidFill>
                <a:srgbClr val="FFFFFF"/>
              </a:solidFill>
              <a:latin typeface="Times New Roman"/>
              <a:ea typeface="Times New Roman"/>
              <a:cs typeface="Times New Roman"/>
              <a:sym typeface="Times New Roman"/>
            </a:endParaRPr>
          </a:p>
          <a:p>
            <a:pPr indent="-213360" lvl="0" marL="274320" rtl="0" algn="l">
              <a:lnSpc>
                <a:spcPct val="115000"/>
              </a:lnSpc>
              <a:spcBef>
                <a:spcPts val="0"/>
              </a:spcBef>
              <a:spcAft>
                <a:spcPts val="0"/>
              </a:spcAft>
              <a:buClr>
                <a:srgbClr val="FFFFFF"/>
              </a:buClr>
              <a:buSzPts val="1200"/>
              <a:buFont typeface="Times New Roman"/>
              <a:buChar char="●"/>
            </a:pPr>
            <a:r>
              <a:rPr lang="en">
                <a:solidFill>
                  <a:srgbClr val="FFFFFF"/>
                </a:solidFill>
                <a:latin typeface="Times New Roman"/>
                <a:ea typeface="Times New Roman"/>
                <a:cs typeface="Times New Roman"/>
                <a:sym typeface="Times New Roman"/>
              </a:rPr>
              <a:t>MAVProxy routing Pixhawk MAVLink to QGC + GUI over Tailscale UDP</a:t>
            </a:r>
            <a:endParaRPr>
              <a:solidFill>
                <a:srgbClr val="FFFFFF"/>
              </a:solidFill>
              <a:latin typeface="Times New Roman"/>
              <a:ea typeface="Times New Roman"/>
              <a:cs typeface="Times New Roman"/>
              <a:sym typeface="Times New Roman"/>
            </a:endParaRPr>
          </a:p>
          <a:p>
            <a:pPr indent="-213360" lvl="0" marL="274320" rtl="0" algn="l">
              <a:lnSpc>
                <a:spcPct val="115000"/>
              </a:lnSpc>
              <a:spcBef>
                <a:spcPts val="0"/>
              </a:spcBef>
              <a:spcAft>
                <a:spcPts val="0"/>
              </a:spcAft>
              <a:buClr>
                <a:srgbClr val="FFFFFF"/>
              </a:buClr>
              <a:buSzPts val="1200"/>
              <a:buFont typeface="Times New Roman"/>
              <a:buChar char="●"/>
            </a:pPr>
            <a:r>
              <a:rPr lang="en">
                <a:solidFill>
                  <a:srgbClr val="FFFFFF"/>
                </a:solidFill>
                <a:latin typeface="Times New Roman"/>
                <a:ea typeface="Times New Roman"/>
                <a:cs typeface="Times New Roman"/>
                <a:sym typeface="Times New Roman"/>
              </a:rPr>
              <a:t>Tailscale VPN encrypted tunnel for remote operator access</a:t>
            </a:r>
            <a:endParaRPr>
              <a:solidFill>
                <a:srgbClr val="FFFFFF"/>
              </a:solidFill>
              <a:latin typeface="Times New Roman"/>
              <a:ea typeface="Times New Roman"/>
              <a:cs typeface="Times New Roman"/>
              <a:sym typeface="Times New Roman"/>
            </a:endParaRPr>
          </a:p>
          <a:p>
            <a:pPr indent="-213360" lvl="0" marL="274320" rtl="0" algn="l">
              <a:lnSpc>
                <a:spcPct val="115000"/>
              </a:lnSpc>
              <a:spcBef>
                <a:spcPts val="0"/>
              </a:spcBef>
              <a:spcAft>
                <a:spcPts val="0"/>
              </a:spcAft>
              <a:buClr>
                <a:srgbClr val="FFFFFF"/>
              </a:buClr>
              <a:buSzPts val="1200"/>
              <a:buFont typeface="Times New Roman"/>
              <a:buChar char="●"/>
            </a:pPr>
            <a:r>
              <a:rPr lang="en">
                <a:solidFill>
                  <a:srgbClr val="FFFFFF"/>
                </a:solidFill>
                <a:latin typeface="Times New Roman"/>
                <a:ea typeface="Times New Roman"/>
                <a:cs typeface="Times New Roman"/>
                <a:sym typeface="Times New Roman"/>
              </a:rPr>
              <a:t>WebRTC peer connection for live video (IMX219, 1280×720)</a:t>
            </a:r>
            <a:endParaRPr>
              <a:solidFill>
                <a:srgbClr val="FFFFFF"/>
              </a:solidFill>
              <a:latin typeface="Times New Roman"/>
              <a:ea typeface="Times New Roman"/>
              <a:cs typeface="Times New Roman"/>
              <a:sym typeface="Times New Roman"/>
            </a:endParaRPr>
          </a:p>
          <a:p>
            <a:pPr indent="-213360" lvl="0" marL="274320" rtl="0" algn="l">
              <a:lnSpc>
                <a:spcPct val="115000"/>
              </a:lnSpc>
              <a:spcBef>
                <a:spcPts val="0"/>
              </a:spcBef>
              <a:spcAft>
                <a:spcPts val="0"/>
              </a:spcAft>
              <a:buClr>
                <a:srgbClr val="FFFFFF"/>
              </a:buClr>
              <a:buSzPts val="1200"/>
              <a:buFont typeface="Times New Roman"/>
              <a:buChar char="●"/>
            </a:pPr>
            <a:r>
              <a:rPr lang="en">
                <a:solidFill>
                  <a:srgbClr val="FFFFFF"/>
                </a:solidFill>
                <a:latin typeface="Times New Roman"/>
                <a:ea typeface="Times New Roman"/>
                <a:cs typeface="Times New Roman"/>
                <a:sym typeface="Times New Roman"/>
              </a:rPr>
              <a:t>ESP-NOW swarm layer (ESP32) verified separately</a:t>
            </a:r>
            <a:endParaRPr>
              <a:solidFill>
                <a:srgbClr val="FFFFFF"/>
              </a:solidFill>
              <a:latin typeface="Times New Roman"/>
              <a:ea typeface="Times New Roman"/>
              <a:cs typeface="Times New Roman"/>
              <a:sym typeface="Times New Roman"/>
            </a:endParaRPr>
          </a:p>
        </p:txBody>
      </p:sp>
      <p:sp>
        <p:nvSpPr>
          <p:cNvPr id="342" name="Google Shape;342;p43"/>
          <p:cNvSpPr txBox="1"/>
          <p:nvPr/>
        </p:nvSpPr>
        <p:spPr>
          <a:xfrm>
            <a:off x="4538175" y="1337875"/>
            <a:ext cx="3292500" cy="538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t/>
            </a:r>
            <a:endParaRPr b="1" sz="16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sp>
        <p:nvSpPr>
          <p:cNvPr id="343" name="Google Shape;343;p43"/>
          <p:cNvSpPr txBox="1"/>
          <p:nvPr/>
        </p:nvSpPr>
        <p:spPr>
          <a:xfrm>
            <a:off x="4800600" y="1719072"/>
            <a:ext cx="3886200" cy="259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200"/>
              </a:spcBef>
              <a:spcAft>
                <a:spcPts val="0"/>
              </a:spcAft>
              <a:buNone/>
            </a:pPr>
            <a:r>
              <a:rPr b="1" lang="en">
                <a:solidFill>
                  <a:srgbClr val="FFAB40"/>
                </a:solidFill>
                <a:latin typeface="Times New Roman"/>
                <a:ea typeface="Times New Roman"/>
                <a:cs typeface="Times New Roman"/>
                <a:sym typeface="Times New Roman"/>
              </a:rPr>
              <a:t>Command Path</a:t>
            </a:r>
            <a:endParaRPr b="1">
              <a:solidFill>
                <a:srgbClr val="FFAB40"/>
              </a:solidFill>
              <a:latin typeface="Times New Roman"/>
              <a:ea typeface="Times New Roman"/>
              <a:cs typeface="Times New Roman"/>
              <a:sym typeface="Times New Roman"/>
            </a:endParaRPr>
          </a:p>
          <a:p>
            <a:pPr indent="0" lvl="0" marL="0" marR="0" rtl="0" algn="l">
              <a:lnSpc>
                <a:spcPct val="115000"/>
              </a:lnSpc>
              <a:spcBef>
                <a:spcPts val="200"/>
              </a:spcBef>
              <a:spcAft>
                <a:spcPts val="0"/>
              </a:spcAft>
              <a:buNone/>
            </a:pPr>
            <a:r>
              <a:rPr lang="en">
                <a:solidFill>
                  <a:srgbClr val="FFFFFF"/>
                </a:solidFill>
                <a:latin typeface="Times New Roman"/>
                <a:ea typeface="Times New Roman"/>
                <a:cs typeface="Times New Roman"/>
                <a:sym typeface="Times New Roman"/>
              </a:rPr>
              <a:t>Browser → Tailscale → Jetson → MAVLink → Pixhawk → Motor/Servo</a:t>
            </a:r>
            <a:endParaRPr>
              <a:solidFill>
                <a:srgbClr val="FFFFFF"/>
              </a:solidFill>
              <a:latin typeface="Times New Roman"/>
              <a:ea typeface="Times New Roman"/>
              <a:cs typeface="Times New Roman"/>
              <a:sym typeface="Times New Roman"/>
            </a:endParaRPr>
          </a:p>
          <a:p>
            <a:pPr indent="0" lvl="0" marL="0" marR="0" rtl="0" algn="l">
              <a:lnSpc>
                <a:spcPct val="115000"/>
              </a:lnSpc>
              <a:spcBef>
                <a:spcPts val="200"/>
              </a:spcBef>
              <a:spcAft>
                <a:spcPts val="0"/>
              </a:spcAft>
              <a:buNone/>
            </a:pPr>
            <a:r>
              <a:rPr b="1" lang="en">
                <a:solidFill>
                  <a:srgbClr val="FFAB40"/>
                </a:solidFill>
                <a:latin typeface="Times New Roman"/>
                <a:ea typeface="Times New Roman"/>
                <a:cs typeface="Times New Roman"/>
                <a:sym typeface="Times New Roman"/>
              </a:rPr>
              <a:t>Telemetry Path</a:t>
            </a:r>
            <a:endParaRPr b="1">
              <a:solidFill>
                <a:srgbClr val="FFAB40"/>
              </a:solidFill>
              <a:latin typeface="Times New Roman"/>
              <a:ea typeface="Times New Roman"/>
              <a:cs typeface="Times New Roman"/>
              <a:sym typeface="Times New Roman"/>
            </a:endParaRPr>
          </a:p>
          <a:p>
            <a:pPr indent="0" lvl="0" marL="0" marR="0" rtl="0" algn="l">
              <a:lnSpc>
                <a:spcPct val="115000"/>
              </a:lnSpc>
              <a:spcBef>
                <a:spcPts val="200"/>
              </a:spcBef>
              <a:spcAft>
                <a:spcPts val="0"/>
              </a:spcAft>
              <a:buNone/>
            </a:pPr>
            <a:r>
              <a:rPr lang="en">
                <a:solidFill>
                  <a:srgbClr val="FFFFFF"/>
                </a:solidFill>
                <a:latin typeface="Times New Roman"/>
                <a:ea typeface="Times New Roman"/>
                <a:cs typeface="Times New Roman"/>
                <a:sym typeface="Times New Roman"/>
              </a:rPr>
              <a:t>Pixhawk → Jetson → WebSocket → GUI (GPS, heading, speed)</a:t>
            </a:r>
            <a:endParaRPr>
              <a:solidFill>
                <a:srgbClr val="FFFFFF"/>
              </a:solidFill>
              <a:latin typeface="Times New Roman"/>
              <a:ea typeface="Times New Roman"/>
              <a:cs typeface="Times New Roman"/>
              <a:sym typeface="Times New Roman"/>
            </a:endParaRPr>
          </a:p>
          <a:p>
            <a:pPr indent="0" lvl="0" marL="0" marR="0" rtl="0" algn="l">
              <a:lnSpc>
                <a:spcPct val="115000"/>
              </a:lnSpc>
              <a:spcBef>
                <a:spcPts val="200"/>
              </a:spcBef>
              <a:spcAft>
                <a:spcPts val="0"/>
              </a:spcAft>
              <a:buNone/>
            </a:pPr>
            <a:r>
              <a:rPr b="1" lang="en">
                <a:solidFill>
                  <a:srgbClr val="FFAB40"/>
                </a:solidFill>
                <a:latin typeface="Times New Roman"/>
                <a:ea typeface="Times New Roman"/>
                <a:cs typeface="Times New Roman"/>
                <a:sym typeface="Times New Roman"/>
              </a:rPr>
              <a:t>Video Path</a:t>
            </a:r>
            <a:endParaRPr b="1">
              <a:solidFill>
                <a:srgbClr val="FFAB40"/>
              </a:solidFill>
              <a:latin typeface="Times New Roman"/>
              <a:ea typeface="Times New Roman"/>
              <a:cs typeface="Times New Roman"/>
              <a:sym typeface="Times New Roman"/>
            </a:endParaRPr>
          </a:p>
          <a:p>
            <a:pPr indent="0" lvl="0" marL="0" marR="0" rtl="0" algn="l">
              <a:lnSpc>
                <a:spcPct val="115000"/>
              </a:lnSpc>
              <a:spcBef>
                <a:spcPts val="200"/>
              </a:spcBef>
              <a:spcAft>
                <a:spcPts val="0"/>
              </a:spcAft>
              <a:buNone/>
            </a:pPr>
            <a:r>
              <a:rPr lang="en">
                <a:solidFill>
                  <a:srgbClr val="FFFFFF"/>
                </a:solidFill>
                <a:latin typeface="Times New Roman"/>
                <a:ea typeface="Times New Roman"/>
                <a:cs typeface="Times New Roman"/>
                <a:sym typeface="Times New Roman"/>
              </a:rPr>
              <a:t>IMX219 → GStreamer → aiortc → WebRTC → Browser</a:t>
            </a:r>
            <a:endParaRPr>
              <a:solidFill>
                <a:srgbClr val="FFFFFF"/>
              </a:solidFill>
              <a:latin typeface="Times New Roman"/>
              <a:ea typeface="Times New Roman"/>
              <a:cs typeface="Times New Roman"/>
              <a:sym typeface="Times New Roman"/>
            </a:endParaRPr>
          </a:p>
          <a:p>
            <a:pPr indent="0" lvl="0" marL="0" marR="0" rtl="0" algn="l">
              <a:lnSpc>
                <a:spcPct val="115000"/>
              </a:lnSpc>
              <a:spcBef>
                <a:spcPts val="200"/>
              </a:spcBef>
              <a:spcAft>
                <a:spcPts val="0"/>
              </a:spcAft>
              <a:buNone/>
            </a:pPr>
            <a:r>
              <a:t/>
            </a:r>
            <a:endParaRPr>
              <a:solidFill>
                <a:srgbClr val="FFFFFF"/>
              </a:solidFill>
              <a:latin typeface="Times New Roman"/>
              <a:ea typeface="Times New Roman"/>
              <a:cs typeface="Times New Roman"/>
              <a:sym typeface="Times New Roman"/>
            </a:endParaRPr>
          </a:p>
          <a:p>
            <a:pPr indent="0" lvl="0" marL="0" rtl="0" algn="l">
              <a:spcBef>
                <a:spcPts val="200"/>
              </a:spcBef>
              <a:spcAft>
                <a:spcPts val="0"/>
              </a:spcAft>
              <a:buNone/>
            </a:pPr>
            <a:r>
              <a:t/>
            </a:r>
            <a:endParaRPr sz="1800">
              <a:solidFill>
                <a:schemeClr val="dk2"/>
              </a:solidFill>
              <a:latin typeface="Times New Roman"/>
              <a:ea typeface="Times New Roman"/>
              <a:cs typeface="Times New Roman"/>
              <a:sym typeface="Times New Roman"/>
            </a:endParaRPr>
          </a:p>
        </p:txBody>
      </p:sp>
      <p:sp>
        <p:nvSpPr>
          <p:cNvPr id="344" name="Google Shape;344;p43"/>
          <p:cNvSpPr/>
          <p:nvPr/>
        </p:nvSpPr>
        <p:spPr>
          <a:xfrm>
            <a:off x="4800600" y="1271016"/>
            <a:ext cx="3886200" cy="365700"/>
          </a:xfrm>
          <a:prstGeom prst="roundRect">
            <a:avLst>
              <a:gd fmla="val 16667" name="adj"/>
            </a:avLst>
          </a:prstGeom>
          <a:solidFill>
            <a:srgbClr val="5C6BC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600">
                <a:solidFill>
                  <a:srgbClr val="FFFFFF"/>
                </a:solidFill>
                <a:latin typeface="Times New Roman"/>
                <a:ea typeface="Times New Roman"/>
                <a:cs typeface="Times New Roman"/>
                <a:sym typeface="Times New Roman"/>
              </a:rPr>
              <a:t>What Was Verified</a:t>
            </a:r>
            <a:endParaRPr/>
          </a:p>
        </p:txBody>
      </p:sp>
      <p:sp>
        <p:nvSpPr>
          <p:cNvPr id="345" name="Google Shape;345;p43"/>
          <p:cNvSpPr/>
          <p:nvPr/>
        </p:nvSpPr>
        <p:spPr>
          <a:xfrm>
            <a:off x="457200" y="1271016"/>
            <a:ext cx="3886200" cy="365700"/>
          </a:xfrm>
          <a:prstGeom prst="roundRect">
            <a:avLst>
              <a:gd fmla="val 16667" name="adj"/>
            </a:avLst>
          </a:prstGeom>
          <a:solidFill>
            <a:srgbClr val="5C6BC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600">
                <a:solidFill>
                  <a:srgbClr val="FFFFFF"/>
                </a:solidFill>
                <a:latin typeface="Times New Roman"/>
                <a:ea typeface="Times New Roman"/>
                <a:cs typeface="Times New Roman"/>
                <a:sym typeface="Times New Roman"/>
              </a:rPr>
              <a:t>System Configuration Tested</a:t>
            </a:r>
            <a:endParaRPr b="1" sz="1600">
              <a:solidFill>
                <a:srgbClr val="FFFFFF"/>
              </a:solidFill>
              <a:latin typeface="Times New Roman"/>
              <a:ea typeface="Times New Roman"/>
              <a:cs typeface="Times New Roman"/>
              <a:sym typeface="Times New Roman"/>
            </a:endParaRPr>
          </a:p>
        </p:txBody>
      </p:sp>
      <p:pic>
        <p:nvPicPr>
          <p:cNvPr id="346" name="Google Shape;346;p43"/>
          <p:cNvPicPr preferRelativeResize="0"/>
          <p:nvPr/>
        </p:nvPicPr>
        <p:blipFill>
          <a:blip r:embed="rId3">
            <a:alphaModFix/>
          </a:blip>
          <a:stretch>
            <a:fillRect/>
          </a:stretch>
        </p:blipFill>
        <p:spPr>
          <a:xfrm>
            <a:off x="4572000" y="1271016"/>
            <a:ext cx="19050" cy="304495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graphicFrame>
        <p:nvGraphicFramePr>
          <p:cNvPr id="352" name="Google Shape;352;p44"/>
          <p:cNvGraphicFramePr/>
          <p:nvPr/>
        </p:nvGraphicFramePr>
        <p:xfrm>
          <a:off x="457200" y="1127441"/>
          <a:ext cx="3000000" cy="3000000"/>
        </p:xfrm>
        <a:graphic>
          <a:graphicData uri="http://schemas.openxmlformats.org/drawingml/2006/table">
            <a:tbl>
              <a:tblPr>
                <a:noFill/>
                <a:tableStyleId>{D249BD4F-0858-46B6-BC2E-1600E3F50066}</a:tableStyleId>
              </a:tblPr>
              <a:tblGrid>
                <a:gridCol w="2258600"/>
                <a:gridCol w="1452750"/>
                <a:gridCol w="4518250"/>
              </a:tblGrid>
              <a:tr h="366500">
                <a:tc>
                  <a:txBody>
                    <a:bodyPr/>
                    <a:lstStyle/>
                    <a:p>
                      <a:pPr indent="0" lvl="0" marL="0" rtl="0" algn="ctr">
                        <a:spcBef>
                          <a:spcPts val="0"/>
                        </a:spcBef>
                        <a:spcAft>
                          <a:spcPts val="0"/>
                        </a:spcAft>
                        <a:buNone/>
                      </a:pPr>
                      <a:r>
                        <a:rPr b="1" lang="en">
                          <a:solidFill>
                            <a:schemeClr val="lt1"/>
                          </a:solidFill>
                          <a:latin typeface="Times New Roman"/>
                          <a:ea typeface="Times New Roman"/>
                          <a:cs typeface="Times New Roman"/>
                          <a:sym typeface="Times New Roman"/>
                        </a:rPr>
                        <a:t>Requirement</a:t>
                      </a:r>
                      <a:endParaRPr b="1">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c>
                  <a:txBody>
                    <a:bodyPr/>
                    <a:lstStyle/>
                    <a:p>
                      <a:pPr indent="0" lvl="0" marL="0" rtl="0" algn="ctr">
                        <a:spcBef>
                          <a:spcPts val="0"/>
                        </a:spcBef>
                        <a:spcAft>
                          <a:spcPts val="0"/>
                        </a:spcAft>
                        <a:buNone/>
                      </a:pPr>
                      <a:r>
                        <a:rPr b="1" lang="en">
                          <a:solidFill>
                            <a:schemeClr val="lt1"/>
                          </a:solidFill>
                          <a:latin typeface="Times New Roman"/>
                          <a:ea typeface="Times New Roman"/>
                          <a:cs typeface="Times New Roman"/>
                          <a:sym typeface="Times New Roman"/>
                        </a:rPr>
                        <a:t>Status</a:t>
                      </a:r>
                      <a:endParaRPr b="1">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c>
                  <a:txBody>
                    <a:bodyPr/>
                    <a:lstStyle/>
                    <a:p>
                      <a:pPr indent="0" lvl="0" marL="0" rtl="0" algn="ctr">
                        <a:spcBef>
                          <a:spcPts val="0"/>
                        </a:spcBef>
                        <a:spcAft>
                          <a:spcPts val="0"/>
                        </a:spcAft>
                        <a:buNone/>
                      </a:pPr>
                      <a:r>
                        <a:rPr b="1" lang="en">
                          <a:solidFill>
                            <a:schemeClr val="lt1"/>
                          </a:solidFill>
                          <a:latin typeface="Times New Roman"/>
                          <a:ea typeface="Times New Roman"/>
                          <a:cs typeface="Times New Roman"/>
                          <a:sym typeface="Times New Roman"/>
                        </a:rPr>
                        <a:t>Notes</a:t>
                      </a:r>
                      <a:endParaRPr b="1">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r>
              <a:tr h="366500">
                <a:tc>
                  <a:txBody>
                    <a:bodyPr/>
                    <a:lstStyle/>
                    <a:p>
                      <a:pPr indent="0" lvl="0" marL="0" rtl="0" algn="ctr">
                        <a:spcBef>
                          <a:spcPts val="0"/>
                        </a:spcBef>
                        <a:spcAft>
                          <a:spcPts val="0"/>
                        </a:spcAft>
                        <a:buNone/>
                      </a:pPr>
                      <a:r>
                        <a:rPr lang="en">
                          <a:solidFill>
                            <a:schemeClr val="lt1"/>
                          </a:solidFill>
                          <a:latin typeface="Times New Roman"/>
                          <a:ea typeface="Times New Roman"/>
                          <a:cs typeface="Times New Roman"/>
                          <a:sym typeface="Times New Roman"/>
                        </a:rPr>
                        <a:t>5.3.1 Survivability</a:t>
                      </a:r>
                      <a:endParaRPr>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rgbClr val="FFB300"/>
                          </a:solidFill>
                          <a:latin typeface="Times New Roman"/>
                          <a:ea typeface="Times New Roman"/>
                          <a:cs typeface="Times New Roman"/>
                          <a:sym typeface="Times New Roman"/>
                        </a:rPr>
                        <a:t>◐ Partial </a:t>
                      </a:r>
                      <a:endParaRPr>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solidFill>
                            <a:srgbClr val="FFFFFF"/>
                          </a:solidFill>
                          <a:latin typeface="Times New Roman"/>
                          <a:ea typeface="Times New Roman"/>
                          <a:cs typeface="Times New Roman"/>
                          <a:sym typeface="Times New Roman"/>
                        </a:rPr>
                        <a:t>0% packet loss on bench; wave/open water TBD</a:t>
                      </a:r>
                      <a:endParaRPr>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66500">
                <a:tc>
                  <a:txBody>
                    <a:bodyPr/>
                    <a:lstStyle/>
                    <a:p>
                      <a:pPr indent="0" lvl="0" marL="0" rtl="0" algn="ctr">
                        <a:spcBef>
                          <a:spcPts val="0"/>
                        </a:spcBef>
                        <a:spcAft>
                          <a:spcPts val="0"/>
                        </a:spcAft>
                        <a:buNone/>
                      </a:pPr>
                      <a:r>
                        <a:rPr lang="en">
                          <a:solidFill>
                            <a:schemeClr val="lt1"/>
                          </a:solidFill>
                          <a:latin typeface="Times New Roman"/>
                          <a:ea typeface="Times New Roman"/>
                          <a:cs typeface="Times New Roman"/>
                          <a:sym typeface="Times New Roman"/>
                        </a:rPr>
                        <a:t>5.4.3 Data Relay</a:t>
                      </a:r>
                      <a:endParaRPr>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rgbClr val="00FF00"/>
                          </a:solidFill>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 </a:t>
                      </a:r>
                      <a:r>
                        <a:rPr lang="en">
                          <a:solidFill>
                            <a:srgbClr val="00FF00"/>
                          </a:solidFill>
                          <a:latin typeface="Times New Roman"/>
                          <a:ea typeface="Times New Roman"/>
                          <a:cs typeface="Times New Roman"/>
                          <a:sym typeface="Times New Roman"/>
                        </a:rPr>
                        <a:t>Pass</a:t>
                      </a:r>
                      <a:endParaRPr>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GPS, heading, speed, sensor data live in GUI</a:t>
                      </a:r>
                      <a:endParaRPr>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410900">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Times New Roman"/>
                          <a:ea typeface="Times New Roman"/>
                          <a:cs typeface="Times New Roman"/>
                          <a:sym typeface="Times New Roman"/>
                        </a:rPr>
                        <a:t>4.4.1 Autonomy &amp; Control</a:t>
                      </a:r>
                      <a:endParaRPr>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rgbClr val="FFB300"/>
                          </a:solidFill>
                          <a:latin typeface="Times New Roman"/>
                          <a:ea typeface="Times New Roman"/>
                          <a:cs typeface="Times New Roman"/>
                          <a:sym typeface="Times New Roman"/>
                        </a:rPr>
                        <a:t>◐ Partial </a:t>
                      </a:r>
                      <a:endParaRPr>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Commands confirmed; in-water autonomous run pending</a:t>
                      </a:r>
                      <a:endParaRPr>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8850">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Times New Roman"/>
                          <a:ea typeface="Times New Roman"/>
                          <a:cs typeface="Times New Roman"/>
                          <a:sym typeface="Times New Roman"/>
                        </a:rPr>
                        <a:t>5.4.2 Inter-Drone Comms</a:t>
                      </a:r>
                      <a:endParaRPr>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rgbClr val="00FF00"/>
                          </a:solidFill>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 </a:t>
                      </a:r>
                      <a:r>
                        <a:rPr lang="en">
                          <a:solidFill>
                            <a:srgbClr val="00FF00"/>
                          </a:solidFill>
                          <a:latin typeface="Times New Roman"/>
                          <a:ea typeface="Times New Roman"/>
                          <a:cs typeface="Times New Roman"/>
                          <a:sym typeface="Times New Roman"/>
                        </a:rPr>
                        <a:t>Pass</a:t>
                      </a:r>
                      <a:endParaRPr>
                        <a:solidFill>
                          <a:srgbClr val="00FF00"/>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ESP-NOW verified at range</a:t>
                      </a:r>
                      <a:endParaRPr>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623050">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Times New Roman"/>
                          <a:ea typeface="Times New Roman"/>
                          <a:cs typeface="Times New Roman"/>
                          <a:sym typeface="Times New Roman"/>
                        </a:rPr>
                        <a:t>5.4.6 Swarm Control</a:t>
                      </a:r>
                      <a:endParaRPr>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rgbClr val="FFB300"/>
                          </a:solidFill>
                          <a:latin typeface="Times New Roman"/>
                          <a:ea typeface="Times New Roman"/>
                          <a:cs typeface="Times New Roman"/>
                          <a:sym typeface="Times New Roman"/>
                        </a:rPr>
                        <a:t>◐ Partial </a:t>
                      </a:r>
                      <a:endParaRPr>
                        <a:solidFill>
                          <a:srgbClr val="FFB300"/>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ESP-NOW layer complete; obstacle avoidance coded, pending ultrasonic sensor hardware test</a:t>
                      </a:r>
                      <a:endParaRPr>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66500">
                <a:tc>
                  <a:txBody>
                    <a:bodyPr/>
                    <a:lstStyle/>
                    <a:p>
                      <a:pPr indent="0" lvl="0" marL="0" rtl="0" algn="ctr">
                        <a:spcBef>
                          <a:spcPts val="0"/>
                        </a:spcBef>
                        <a:spcAft>
                          <a:spcPts val="0"/>
                        </a:spcAft>
                        <a:buNone/>
                      </a:pPr>
                      <a:r>
                        <a:rPr lang="en">
                          <a:solidFill>
                            <a:schemeClr val="lt1"/>
                          </a:solidFill>
                          <a:latin typeface="Times New Roman"/>
                          <a:ea typeface="Times New Roman"/>
                          <a:cs typeface="Times New Roman"/>
                          <a:sym typeface="Times New Roman"/>
                        </a:rPr>
                        <a:t>5.4.4 Satellite Uplink</a:t>
                      </a:r>
                      <a:endParaRPr>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rgbClr val="00FF00"/>
                          </a:solidFill>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 </a:t>
                      </a:r>
                      <a:r>
                        <a:rPr lang="en">
                          <a:solidFill>
                            <a:srgbClr val="00FF00"/>
                          </a:solidFill>
                          <a:latin typeface="Times New Roman"/>
                          <a:ea typeface="Times New Roman"/>
                          <a:cs typeface="Times New Roman"/>
                          <a:sym typeface="Times New Roman"/>
                        </a:rPr>
                        <a:t>Pass</a:t>
                      </a:r>
                      <a:endParaRPr>
                        <a:solidFill>
                          <a:srgbClr val="FFB300"/>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solidFill>
                            <a:srgbClr val="FFFFFF"/>
                          </a:solidFill>
                          <a:latin typeface="Times New Roman"/>
                          <a:ea typeface="Times New Roman"/>
                          <a:cs typeface="Times New Roman"/>
                          <a:sym typeface="Times New Roman"/>
                        </a:rPr>
                        <a:t>Tailscale + Starlink remote access confirmed</a:t>
                      </a:r>
                      <a:endParaRPr>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66500">
                <a:tc>
                  <a:txBody>
                    <a:bodyPr/>
                    <a:lstStyle/>
                    <a:p>
                      <a:pPr indent="0" lvl="0" marL="0" rtl="0" algn="ctr">
                        <a:spcBef>
                          <a:spcPts val="0"/>
                        </a:spcBef>
                        <a:spcAft>
                          <a:spcPts val="0"/>
                        </a:spcAft>
                        <a:buNone/>
                      </a:pPr>
                      <a:r>
                        <a:rPr lang="en">
                          <a:solidFill>
                            <a:schemeClr val="lt1"/>
                          </a:solidFill>
                          <a:latin typeface="Times New Roman"/>
                          <a:ea typeface="Times New Roman"/>
                          <a:cs typeface="Times New Roman"/>
                          <a:sym typeface="Times New Roman"/>
                        </a:rPr>
                        <a:t>5.4.5 Display</a:t>
                      </a:r>
                      <a:endParaRPr>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rgbClr val="00FF00"/>
                          </a:solidFill>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 </a:t>
                      </a:r>
                      <a:r>
                        <a:rPr lang="en">
                          <a:solidFill>
                            <a:srgbClr val="00FF00"/>
                          </a:solidFill>
                          <a:latin typeface="Times New Roman"/>
                          <a:ea typeface="Times New Roman"/>
                          <a:cs typeface="Times New Roman"/>
                          <a:sym typeface="Times New Roman"/>
                        </a:rPr>
                        <a:t>Pass</a:t>
                      </a:r>
                      <a:endParaRPr>
                        <a:solidFill>
                          <a:srgbClr val="FFB300"/>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solidFill>
                            <a:srgbClr val="FFFFFF"/>
                          </a:solidFill>
                          <a:latin typeface="Times New Roman"/>
                          <a:ea typeface="Times New Roman"/>
                          <a:cs typeface="Times New Roman"/>
                          <a:sym typeface="Times New Roman"/>
                        </a:rPr>
                        <a:t>Live video + telemetry GUI confirmed working</a:t>
                      </a:r>
                      <a:endParaRPr>
                        <a:solidFill>
                          <a:schemeClr val="lt1"/>
                        </a:solidFill>
                        <a:latin typeface="Times New Roman"/>
                        <a:ea typeface="Times New Roman"/>
                        <a:cs typeface="Times New Roman"/>
                        <a:sym typeface="Times New Roman"/>
                      </a:endParaRPr>
                    </a:p>
                  </a:txBody>
                  <a:tcPr marT="91425" marB="45700" marR="45700"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bl>
          </a:graphicData>
        </a:graphic>
      </p:graphicFrame>
      <p:sp>
        <p:nvSpPr>
          <p:cNvPr id="353" name="Google Shape;353;p44"/>
          <p:cNvSpPr txBox="1"/>
          <p:nvPr/>
        </p:nvSpPr>
        <p:spPr>
          <a:xfrm>
            <a:off x="1440152" y="376123"/>
            <a:ext cx="6263700" cy="576000"/>
          </a:xfrm>
          <a:prstGeom prst="rect">
            <a:avLst/>
          </a:prstGeom>
          <a:noFill/>
          <a:ln>
            <a:noFill/>
          </a:ln>
        </p:spPr>
        <p:txBody>
          <a:bodyPr anchorCtr="0" anchor="ctr" bIns="91425" lIns="91425" spcFirstLastPara="1" rIns="91425" wrap="square" tIns="91425">
            <a:noAutofit/>
          </a:bodyPr>
          <a:lstStyle/>
          <a:p>
            <a:pPr indent="0" lvl="0" marL="0" rtl="0" algn="ctr">
              <a:lnSpc>
                <a:spcPct val="75000"/>
              </a:lnSpc>
              <a:spcBef>
                <a:spcPts val="0"/>
              </a:spcBef>
              <a:spcAft>
                <a:spcPts val="0"/>
              </a:spcAft>
              <a:buNone/>
            </a:pPr>
            <a:r>
              <a:rPr b="1" lang="en" sz="3000">
                <a:solidFill>
                  <a:schemeClr val="lt1"/>
                </a:solidFill>
                <a:latin typeface="Times"/>
                <a:ea typeface="Times"/>
                <a:cs typeface="Times"/>
                <a:sym typeface="Times"/>
              </a:rPr>
              <a:t>Communication Subsystem - Results</a:t>
            </a:r>
            <a:endParaRPr b="1" sz="3000">
              <a:solidFill>
                <a:schemeClr val="lt1"/>
              </a:solidFill>
              <a:latin typeface="Times"/>
              <a:ea typeface="Times"/>
              <a:cs typeface="Times"/>
              <a:sym typeface="Time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357" name="Shape 357"/>
        <p:cNvGrpSpPr/>
        <p:nvPr/>
      </p:nvGrpSpPr>
      <p:grpSpPr>
        <a:xfrm>
          <a:off x="0" y="0"/>
          <a:ext cx="0" cy="0"/>
          <a:chOff x="0" y="0"/>
          <a:chExt cx="0" cy="0"/>
        </a:xfrm>
      </p:grpSpPr>
      <p:sp>
        <p:nvSpPr>
          <p:cNvPr id="358" name="Google Shape;358;p45"/>
          <p:cNvSpPr txBox="1"/>
          <p:nvPr/>
        </p:nvSpPr>
        <p:spPr>
          <a:xfrm>
            <a:off x="2190600" y="13725"/>
            <a:ext cx="4762800" cy="6321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3000">
                <a:solidFill>
                  <a:srgbClr val="FFFFFF"/>
                </a:solidFill>
                <a:latin typeface="Times"/>
                <a:ea typeface="Times"/>
                <a:cs typeface="Times"/>
                <a:sym typeface="Times"/>
              </a:rPr>
              <a:t>Sensors </a:t>
            </a:r>
            <a:r>
              <a:rPr b="1" lang="en" sz="3000">
                <a:solidFill>
                  <a:schemeClr val="lt1"/>
                </a:solidFill>
                <a:latin typeface="Times"/>
                <a:ea typeface="Times"/>
                <a:cs typeface="Times"/>
                <a:sym typeface="Times"/>
              </a:rPr>
              <a:t>Verification Plan</a:t>
            </a:r>
            <a:endParaRPr b="1" sz="3000">
              <a:solidFill>
                <a:srgbClr val="FFFFFF"/>
              </a:solidFill>
              <a:latin typeface="Times"/>
              <a:ea typeface="Times"/>
              <a:cs typeface="Times"/>
              <a:sym typeface="Times"/>
            </a:endParaRPr>
          </a:p>
        </p:txBody>
      </p:sp>
      <p:sp>
        <p:nvSpPr>
          <p:cNvPr id="359" name="Google Shape;359;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pic>
        <p:nvPicPr>
          <p:cNvPr id="360" name="Google Shape;360;p45"/>
          <p:cNvPicPr preferRelativeResize="0"/>
          <p:nvPr/>
        </p:nvPicPr>
        <p:blipFill>
          <a:blip r:embed="rId3">
            <a:alphaModFix/>
          </a:blip>
          <a:stretch>
            <a:fillRect/>
          </a:stretch>
        </p:blipFill>
        <p:spPr>
          <a:xfrm>
            <a:off x="152400" y="507400"/>
            <a:ext cx="1955950" cy="1008909"/>
          </a:xfrm>
          <a:prstGeom prst="rect">
            <a:avLst/>
          </a:prstGeom>
          <a:noFill/>
          <a:ln>
            <a:noFill/>
          </a:ln>
        </p:spPr>
      </p:pic>
      <p:pic>
        <p:nvPicPr>
          <p:cNvPr id="361" name="Google Shape;361;p45"/>
          <p:cNvPicPr preferRelativeResize="0"/>
          <p:nvPr/>
        </p:nvPicPr>
        <p:blipFill>
          <a:blip r:embed="rId4">
            <a:alphaModFix/>
          </a:blip>
          <a:stretch>
            <a:fillRect/>
          </a:stretch>
        </p:blipFill>
        <p:spPr>
          <a:xfrm>
            <a:off x="2108350" y="507400"/>
            <a:ext cx="719199" cy="1008901"/>
          </a:xfrm>
          <a:prstGeom prst="rect">
            <a:avLst/>
          </a:prstGeom>
          <a:noFill/>
          <a:ln>
            <a:noFill/>
          </a:ln>
        </p:spPr>
      </p:pic>
      <p:pic>
        <p:nvPicPr>
          <p:cNvPr id="362" name="Google Shape;362;p45"/>
          <p:cNvPicPr preferRelativeResize="0"/>
          <p:nvPr/>
        </p:nvPicPr>
        <p:blipFill>
          <a:blip r:embed="rId5">
            <a:alphaModFix/>
          </a:blip>
          <a:stretch>
            <a:fillRect/>
          </a:stretch>
        </p:blipFill>
        <p:spPr>
          <a:xfrm>
            <a:off x="152400" y="1603475"/>
            <a:ext cx="1348909" cy="1008900"/>
          </a:xfrm>
          <a:prstGeom prst="rect">
            <a:avLst/>
          </a:prstGeom>
          <a:noFill/>
          <a:ln>
            <a:noFill/>
          </a:ln>
        </p:spPr>
      </p:pic>
      <p:pic>
        <p:nvPicPr>
          <p:cNvPr id="363" name="Google Shape;363;p45"/>
          <p:cNvPicPr preferRelativeResize="0"/>
          <p:nvPr/>
        </p:nvPicPr>
        <p:blipFill>
          <a:blip r:embed="rId6">
            <a:alphaModFix/>
          </a:blip>
          <a:stretch>
            <a:fillRect/>
          </a:stretch>
        </p:blipFill>
        <p:spPr>
          <a:xfrm>
            <a:off x="152400" y="2699550"/>
            <a:ext cx="1817674" cy="1008900"/>
          </a:xfrm>
          <a:prstGeom prst="rect">
            <a:avLst/>
          </a:prstGeom>
          <a:noFill/>
          <a:ln>
            <a:noFill/>
          </a:ln>
        </p:spPr>
      </p:pic>
      <p:sp>
        <p:nvSpPr>
          <p:cNvPr id="364" name="Google Shape;364;p45"/>
          <p:cNvSpPr txBox="1"/>
          <p:nvPr/>
        </p:nvSpPr>
        <p:spPr>
          <a:xfrm>
            <a:off x="2827550" y="718700"/>
            <a:ext cx="1133400" cy="15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Times New Roman"/>
                <a:ea typeface="Times New Roman"/>
                <a:cs typeface="Times New Roman"/>
                <a:sym typeface="Times New Roman"/>
              </a:rPr>
              <a:t>pH Probe</a:t>
            </a:r>
            <a:endParaRPr sz="1800">
              <a:solidFill>
                <a:schemeClr val="lt1"/>
              </a:solidFill>
              <a:latin typeface="Times New Roman"/>
              <a:ea typeface="Times New Roman"/>
              <a:cs typeface="Times New Roman"/>
              <a:sym typeface="Times New Roman"/>
            </a:endParaRPr>
          </a:p>
        </p:txBody>
      </p:sp>
      <p:sp>
        <p:nvSpPr>
          <p:cNvPr id="365" name="Google Shape;365;p45"/>
          <p:cNvSpPr txBox="1"/>
          <p:nvPr/>
        </p:nvSpPr>
        <p:spPr>
          <a:xfrm>
            <a:off x="1501300" y="1911125"/>
            <a:ext cx="22668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Times New Roman"/>
                <a:ea typeface="Times New Roman"/>
                <a:cs typeface="Times New Roman"/>
                <a:sym typeface="Times New Roman"/>
              </a:rPr>
              <a:t>Temperature Probe</a:t>
            </a:r>
            <a:endParaRPr sz="1800">
              <a:solidFill>
                <a:schemeClr val="lt1"/>
              </a:solidFill>
              <a:latin typeface="Times New Roman"/>
              <a:ea typeface="Times New Roman"/>
              <a:cs typeface="Times New Roman"/>
              <a:sym typeface="Times New Roman"/>
            </a:endParaRPr>
          </a:p>
        </p:txBody>
      </p:sp>
      <p:sp>
        <p:nvSpPr>
          <p:cNvPr id="366" name="Google Shape;366;p45"/>
          <p:cNvSpPr txBox="1"/>
          <p:nvPr/>
        </p:nvSpPr>
        <p:spPr>
          <a:xfrm>
            <a:off x="1970075" y="3007200"/>
            <a:ext cx="22668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Times New Roman"/>
                <a:ea typeface="Times New Roman"/>
                <a:cs typeface="Times New Roman"/>
                <a:sym typeface="Times New Roman"/>
              </a:rPr>
              <a:t>Conductivity Probe</a:t>
            </a:r>
            <a:endParaRPr sz="1800">
              <a:solidFill>
                <a:schemeClr val="lt1"/>
              </a:solidFill>
              <a:latin typeface="Times New Roman"/>
              <a:ea typeface="Times New Roman"/>
              <a:cs typeface="Times New Roman"/>
              <a:sym typeface="Times New Roman"/>
            </a:endParaRPr>
          </a:p>
        </p:txBody>
      </p:sp>
      <p:cxnSp>
        <p:nvCxnSpPr>
          <p:cNvPr id="367" name="Google Shape;367;p45"/>
          <p:cNvCxnSpPr/>
          <p:nvPr/>
        </p:nvCxnSpPr>
        <p:spPr>
          <a:xfrm flipH="1" rot="10800000">
            <a:off x="3960950" y="951475"/>
            <a:ext cx="1449000" cy="4500"/>
          </a:xfrm>
          <a:prstGeom prst="straightConnector1">
            <a:avLst/>
          </a:prstGeom>
          <a:noFill/>
          <a:ln cap="flat" cmpd="sng" w="9525">
            <a:solidFill>
              <a:schemeClr val="lt1"/>
            </a:solidFill>
            <a:prstDash val="solid"/>
            <a:round/>
            <a:headEnd len="med" w="med" type="none"/>
            <a:tailEnd len="med" w="med" type="triangle"/>
          </a:ln>
        </p:spPr>
      </p:cxnSp>
      <p:cxnSp>
        <p:nvCxnSpPr>
          <p:cNvPr id="368" name="Google Shape;368;p45"/>
          <p:cNvCxnSpPr/>
          <p:nvPr/>
        </p:nvCxnSpPr>
        <p:spPr>
          <a:xfrm flipH="1" rot="10800000">
            <a:off x="3491950" y="954250"/>
            <a:ext cx="1787100" cy="1191300"/>
          </a:xfrm>
          <a:prstGeom prst="bentConnector3">
            <a:avLst>
              <a:gd fmla="val 60977" name="adj1"/>
            </a:avLst>
          </a:prstGeom>
          <a:noFill/>
          <a:ln cap="flat" cmpd="sng" w="9525">
            <a:solidFill>
              <a:schemeClr val="lt1"/>
            </a:solidFill>
            <a:prstDash val="solid"/>
            <a:round/>
            <a:headEnd len="med" w="med" type="none"/>
            <a:tailEnd len="med" w="med" type="none"/>
          </a:ln>
        </p:spPr>
      </p:cxnSp>
      <p:cxnSp>
        <p:nvCxnSpPr>
          <p:cNvPr id="369" name="Google Shape;369;p45"/>
          <p:cNvCxnSpPr/>
          <p:nvPr/>
        </p:nvCxnSpPr>
        <p:spPr>
          <a:xfrm rot="-5400000">
            <a:off x="3070500" y="1782300"/>
            <a:ext cx="2339400" cy="682800"/>
          </a:xfrm>
          <a:prstGeom prst="bentConnector3">
            <a:avLst>
              <a:gd fmla="val 0" name="adj1"/>
            </a:avLst>
          </a:prstGeom>
          <a:noFill/>
          <a:ln cap="flat" cmpd="sng" w="9525">
            <a:solidFill>
              <a:schemeClr val="lt1"/>
            </a:solidFill>
            <a:prstDash val="solid"/>
            <a:round/>
            <a:headEnd len="med" w="med" type="none"/>
            <a:tailEnd len="med" w="med" type="none"/>
          </a:ln>
        </p:spPr>
      </p:cxnSp>
      <p:sp>
        <p:nvSpPr>
          <p:cNvPr id="370" name="Google Shape;370;p45"/>
          <p:cNvSpPr txBox="1"/>
          <p:nvPr/>
        </p:nvSpPr>
        <p:spPr>
          <a:xfrm>
            <a:off x="5409950" y="645825"/>
            <a:ext cx="3487200" cy="110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Times New Roman"/>
                <a:ea typeface="Times New Roman"/>
                <a:cs typeface="Times New Roman"/>
                <a:sym typeface="Times New Roman"/>
              </a:rPr>
              <a:t>CSV File in Format:</a:t>
            </a:r>
            <a:endParaRPr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chemeClr val="lt1"/>
                </a:solidFill>
                <a:latin typeface="Times New Roman"/>
                <a:ea typeface="Times New Roman"/>
                <a:cs typeface="Times New Roman"/>
                <a:sym typeface="Times New Roman"/>
              </a:rPr>
              <a:t>Date,Time, Lat., Long., Speed, GPS Fix, Temp., Cond., pH.</a:t>
            </a:r>
            <a:endParaRPr sz="1800">
              <a:solidFill>
                <a:schemeClr val="lt1"/>
              </a:solidFill>
              <a:latin typeface="Times New Roman"/>
              <a:ea typeface="Times New Roman"/>
              <a:cs typeface="Times New Roman"/>
              <a:sym typeface="Times New Roman"/>
            </a:endParaRPr>
          </a:p>
        </p:txBody>
      </p:sp>
      <p:pic>
        <p:nvPicPr>
          <p:cNvPr id="371" name="Google Shape;371;p45" title="20260412_161259.jpeg"/>
          <p:cNvPicPr preferRelativeResize="0"/>
          <p:nvPr/>
        </p:nvPicPr>
        <p:blipFill>
          <a:blip r:embed="rId7">
            <a:alphaModFix/>
          </a:blip>
          <a:stretch>
            <a:fillRect/>
          </a:stretch>
        </p:blipFill>
        <p:spPr>
          <a:xfrm rot="-5400000">
            <a:off x="5852425" y="1524800"/>
            <a:ext cx="2318006" cy="30906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377" name="Google Shape;377;p46"/>
          <p:cNvSpPr txBox="1"/>
          <p:nvPr/>
        </p:nvSpPr>
        <p:spPr>
          <a:xfrm>
            <a:off x="1255638" y="120605"/>
            <a:ext cx="6632700" cy="353700"/>
          </a:xfrm>
          <a:prstGeom prst="rect">
            <a:avLst/>
          </a:prstGeom>
          <a:noFill/>
          <a:ln>
            <a:noFill/>
          </a:ln>
        </p:spPr>
        <p:txBody>
          <a:bodyPr anchorCtr="0" anchor="t" bIns="0" lIns="0" spcFirstLastPara="1" rIns="0" wrap="square" tIns="6350">
            <a:noAutofit/>
          </a:bodyPr>
          <a:lstStyle/>
          <a:p>
            <a:pPr indent="0" lvl="0" marL="0" rtl="0" algn="ctr">
              <a:spcBef>
                <a:spcPts val="0"/>
              </a:spcBef>
              <a:spcAft>
                <a:spcPts val="0"/>
              </a:spcAft>
              <a:buNone/>
            </a:pPr>
            <a:r>
              <a:rPr b="1" lang="en" sz="3000">
                <a:solidFill>
                  <a:srgbClr val="FFFFFF"/>
                </a:solidFill>
                <a:latin typeface="Times"/>
                <a:ea typeface="Times"/>
                <a:cs typeface="Times"/>
                <a:sym typeface="Times"/>
              </a:rPr>
              <a:t>Results</a:t>
            </a:r>
            <a:endParaRPr b="1" sz="3000">
              <a:solidFill>
                <a:srgbClr val="FFFFFF"/>
              </a:solidFill>
              <a:latin typeface="Times"/>
              <a:ea typeface="Times"/>
              <a:cs typeface="Times"/>
              <a:sym typeface="Times"/>
            </a:endParaRPr>
          </a:p>
        </p:txBody>
      </p:sp>
      <p:graphicFrame>
        <p:nvGraphicFramePr>
          <p:cNvPr id="378" name="Google Shape;378;p46"/>
          <p:cNvGraphicFramePr/>
          <p:nvPr/>
        </p:nvGraphicFramePr>
        <p:xfrm>
          <a:off x="1055550" y="2243425"/>
          <a:ext cx="3000000" cy="3000000"/>
        </p:xfrm>
        <a:graphic>
          <a:graphicData uri="http://schemas.openxmlformats.org/drawingml/2006/table">
            <a:tbl>
              <a:tblPr>
                <a:noFill/>
                <a:tableStyleId>{D249BD4F-0858-46B6-BC2E-1600E3F50066}</a:tableStyleId>
              </a:tblPr>
              <a:tblGrid>
                <a:gridCol w="2389300"/>
                <a:gridCol w="1934275"/>
                <a:gridCol w="2709300"/>
              </a:tblGrid>
              <a:tr h="381000">
                <a:tc>
                  <a:txBody>
                    <a:bodyPr/>
                    <a:lstStyle/>
                    <a:p>
                      <a:pPr indent="0" lvl="0" marL="0" rtl="0" algn="ctr">
                        <a:spcBef>
                          <a:spcPts val="0"/>
                        </a:spcBef>
                        <a:spcAft>
                          <a:spcPts val="0"/>
                        </a:spcAft>
                        <a:buNone/>
                      </a:pPr>
                      <a:r>
                        <a:rPr b="1" lang="en" sz="1600">
                          <a:solidFill>
                            <a:schemeClr val="lt1"/>
                          </a:solidFill>
                          <a:latin typeface="Times New Roman"/>
                          <a:ea typeface="Times New Roman"/>
                          <a:cs typeface="Times New Roman"/>
                          <a:sym typeface="Times New Roman"/>
                        </a:rPr>
                        <a:t>Requirement</a:t>
                      </a:r>
                      <a:endParaRPr b="1"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c>
                  <a:txBody>
                    <a:bodyPr/>
                    <a:lstStyle/>
                    <a:p>
                      <a:pPr indent="0" lvl="0" marL="0" rtl="0" algn="ctr">
                        <a:spcBef>
                          <a:spcPts val="0"/>
                        </a:spcBef>
                        <a:spcAft>
                          <a:spcPts val="0"/>
                        </a:spcAft>
                        <a:buNone/>
                      </a:pPr>
                      <a:r>
                        <a:rPr b="1" lang="en" sz="1600">
                          <a:solidFill>
                            <a:schemeClr val="lt1"/>
                          </a:solidFill>
                          <a:latin typeface="Times New Roman"/>
                          <a:ea typeface="Times New Roman"/>
                          <a:cs typeface="Times New Roman"/>
                          <a:sym typeface="Times New Roman"/>
                        </a:rPr>
                        <a:t>Status</a:t>
                      </a:r>
                      <a:endParaRPr b="1"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c>
                  <a:txBody>
                    <a:bodyPr/>
                    <a:lstStyle/>
                    <a:p>
                      <a:pPr indent="0" lvl="0" marL="0" rtl="0" algn="ctr">
                        <a:spcBef>
                          <a:spcPts val="0"/>
                        </a:spcBef>
                        <a:spcAft>
                          <a:spcPts val="0"/>
                        </a:spcAft>
                        <a:buNone/>
                      </a:pPr>
                      <a:r>
                        <a:rPr b="1" lang="en" sz="1600">
                          <a:solidFill>
                            <a:schemeClr val="lt1"/>
                          </a:solidFill>
                          <a:latin typeface="Times New Roman"/>
                          <a:ea typeface="Times New Roman"/>
                          <a:cs typeface="Times New Roman"/>
                          <a:sym typeface="Times New Roman"/>
                        </a:rPr>
                        <a:t>Remaining Action</a:t>
                      </a:r>
                      <a:endParaRPr b="1"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r>
              <a:tr h="381000">
                <a:tc>
                  <a:txBody>
                    <a:bodyPr/>
                    <a:lstStyle/>
                    <a:p>
                      <a:pPr indent="0" lvl="0" marL="0" rtl="0" algn="ctr">
                        <a:spcBef>
                          <a:spcPts val="0"/>
                        </a:spcBef>
                        <a:spcAft>
                          <a:spcPts val="0"/>
                        </a:spcAft>
                        <a:buNone/>
                      </a:pPr>
                      <a:r>
                        <a:rPr lang="en" sz="1600">
                          <a:solidFill>
                            <a:schemeClr val="lt1"/>
                          </a:solidFill>
                          <a:latin typeface="Times New Roman"/>
                          <a:ea typeface="Times New Roman"/>
                          <a:cs typeface="Times New Roman"/>
                          <a:sym typeface="Times New Roman"/>
                        </a:rPr>
                        <a:t>5.1.6 Data Collection</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rgbClr val="00FF00"/>
                          </a:solidFill>
                          <a:latin typeface="Times New Roman"/>
                          <a:ea typeface="Times New Roman"/>
                          <a:cs typeface="Times New Roman"/>
                          <a:sym typeface="Times New Roman"/>
                        </a:rPr>
                        <a:t>Pass</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Times New Roman"/>
                          <a:ea typeface="Times New Roman"/>
                          <a:cs typeface="Times New Roman"/>
                          <a:sym typeface="Times New Roman"/>
                        </a:rPr>
                        <a:t>None</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01725">
                <a:tc>
                  <a:txBody>
                    <a:bodyPr/>
                    <a:lstStyle/>
                    <a:p>
                      <a:pPr indent="0" lvl="0" marL="0" rtl="0" algn="ctr">
                        <a:spcBef>
                          <a:spcPts val="0"/>
                        </a:spcBef>
                        <a:spcAft>
                          <a:spcPts val="0"/>
                        </a:spcAft>
                        <a:buNone/>
                      </a:pPr>
                      <a:r>
                        <a:rPr lang="en" sz="1600">
                          <a:solidFill>
                            <a:schemeClr val="lt1"/>
                          </a:solidFill>
                          <a:latin typeface="Times New Roman"/>
                          <a:ea typeface="Times New Roman"/>
                          <a:cs typeface="Times New Roman"/>
                          <a:sym typeface="Times New Roman"/>
                        </a:rPr>
                        <a:t>5.4.5 Display</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00FF00"/>
                          </a:solidFill>
                          <a:latin typeface="Times New Roman"/>
                          <a:ea typeface="Times New Roman"/>
                          <a:cs typeface="Times New Roman"/>
                          <a:sym typeface="Times New Roman"/>
                        </a:rPr>
                        <a:t>Pass</a:t>
                      </a:r>
                      <a:r>
                        <a:rPr lang="en" sz="1600">
                          <a:solidFill>
                            <a:schemeClr val="lt1"/>
                          </a:solidFill>
                          <a:latin typeface="Times New Roman"/>
                          <a:ea typeface="Times New Roman"/>
                          <a:cs typeface="Times New Roman"/>
                          <a:sym typeface="Times New Roman"/>
                        </a:rPr>
                        <a:t> </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Times New Roman"/>
                          <a:ea typeface="Times New Roman"/>
                          <a:cs typeface="Times New Roman"/>
                          <a:sym typeface="Times New Roman"/>
                        </a:rPr>
                        <a:t>None</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Clr>
                          <a:schemeClr val="dk1"/>
                        </a:buClr>
                        <a:buSzPts val="1100"/>
                        <a:buFont typeface="Arial"/>
                        <a:buNone/>
                      </a:pPr>
                      <a:r>
                        <a:rPr lang="en" sz="1600">
                          <a:solidFill>
                            <a:schemeClr val="lt1"/>
                          </a:solidFill>
                          <a:latin typeface="Times New Roman"/>
                          <a:ea typeface="Times New Roman"/>
                          <a:cs typeface="Times New Roman"/>
                          <a:sym typeface="Times New Roman"/>
                        </a:rPr>
                        <a:t>5.2.4 Payload Mount</a:t>
                      </a:r>
                      <a:r>
                        <a:rPr lang="en" sz="1600">
                          <a:solidFill>
                            <a:schemeClr val="lt1"/>
                          </a:solidFill>
                          <a:latin typeface="Times New Roman"/>
                          <a:ea typeface="Times New Roman"/>
                          <a:cs typeface="Times New Roman"/>
                          <a:sym typeface="Times New Roman"/>
                        </a:rPr>
                        <a:t>s</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00FF00"/>
                          </a:solidFill>
                          <a:latin typeface="Times New Roman"/>
                          <a:ea typeface="Times New Roman"/>
                          <a:cs typeface="Times New Roman"/>
                          <a:sym typeface="Times New Roman"/>
                        </a:rPr>
                        <a:t>Pass</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Times New Roman"/>
                          <a:ea typeface="Times New Roman"/>
                          <a:cs typeface="Times New Roman"/>
                          <a:sym typeface="Times New Roman"/>
                        </a:rPr>
                        <a:t>None</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Clr>
                          <a:schemeClr val="dk1"/>
                        </a:buClr>
                        <a:buSzPts val="1100"/>
                        <a:buFont typeface="Arial"/>
                        <a:buNone/>
                      </a:pPr>
                      <a:r>
                        <a:rPr lang="en" sz="1600">
                          <a:solidFill>
                            <a:schemeClr val="lt1"/>
                          </a:solidFill>
                          <a:latin typeface="Times New Roman"/>
                          <a:ea typeface="Times New Roman"/>
                          <a:cs typeface="Times New Roman"/>
                          <a:sym typeface="Times New Roman"/>
                        </a:rPr>
                        <a:t>5.3.2 Waterproofing</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rgbClr val="FFB300"/>
                          </a:solidFill>
                          <a:latin typeface="Times New Roman"/>
                          <a:ea typeface="Times New Roman"/>
                          <a:cs typeface="Times New Roman"/>
                          <a:sym typeface="Times New Roman"/>
                        </a:rPr>
                        <a:t>◐ Partial </a:t>
                      </a:r>
                      <a:endParaRPr sz="1600">
                        <a:solidFill>
                          <a:srgbClr val="00FF00"/>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Times New Roman"/>
                          <a:ea typeface="Times New Roman"/>
                          <a:cs typeface="Times New Roman"/>
                          <a:sym typeface="Times New Roman"/>
                        </a:rPr>
                        <a:t>Testing In Motion</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bl>
          </a:graphicData>
        </a:graphic>
      </p:graphicFrame>
      <p:sp>
        <p:nvSpPr>
          <p:cNvPr id="379" name="Google Shape;379;p46"/>
          <p:cNvSpPr txBox="1"/>
          <p:nvPr/>
        </p:nvSpPr>
        <p:spPr>
          <a:xfrm>
            <a:off x="630300" y="589200"/>
            <a:ext cx="7883400" cy="15393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0"/>
              </a:spcAft>
              <a:buNone/>
            </a:pPr>
            <a:r>
              <a:rPr b="1" lang="en" sz="1700">
                <a:solidFill>
                  <a:schemeClr val="lt1"/>
                </a:solidFill>
                <a:latin typeface="Times New Roman"/>
                <a:ea typeface="Times New Roman"/>
                <a:cs typeface="Times New Roman"/>
                <a:sym typeface="Times New Roman"/>
              </a:rPr>
              <a:t>Temperature Sensor:</a:t>
            </a:r>
            <a:r>
              <a:rPr lang="en" sz="1700">
                <a:solidFill>
                  <a:schemeClr val="lt1"/>
                </a:solidFill>
                <a:latin typeface="Times New Roman"/>
                <a:ea typeface="Times New Roman"/>
                <a:cs typeface="Times New Roman"/>
                <a:sym typeface="Times New Roman"/>
              </a:rPr>
              <a:t> Requires slight offset and scaling, tested in two temperatures against a certified liquid-in-glass thermometer (ice water (33°F) warm water (200°F))</a:t>
            </a:r>
            <a:endParaRPr sz="1700">
              <a:solidFill>
                <a:schemeClr val="lt1"/>
              </a:solidFill>
              <a:latin typeface="Times New Roman"/>
              <a:ea typeface="Times New Roman"/>
              <a:cs typeface="Times New Roman"/>
              <a:sym typeface="Times New Roman"/>
            </a:endParaRPr>
          </a:p>
          <a:p>
            <a:pPr indent="0" lvl="0" marL="0" rtl="0" algn="l">
              <a:spcBef>
                <a:spcPts val="1200"/>
              </a:spcBef>
              <a:spcAft>
                <a:spcPts val="0"/>
              </a:spcAft>
              <a:buNone/>
            </a:pPr>
            <a:r>
              <a:rPr b="1" lang="en" sz="1700">
                <a:solidFill>
                  <a:schemeClr val="lt1"/>
                </a:solidFill>
                <a:latin typeface="Times New Roman"/>
                <a:ea typeface="Times New Roman"/>
                <a:cs typeface="Times New Roman"/>
                <a:sym typeface="Times New Roman"/>
              </a:rPr>
              <a:t>pH Sensor: </a:t>
            </a:r>
            <a:r>
              <a:rPr lang="en" sz="1700">
                <a:solidFill>
                  <a:schemeClr val="lt1"/>
                </a:solidFill>
                <a:latin typeface="Times New Roman"/>
                <a:ea typeface="Times New Roman"/>
                <a:cs typeface="Times New Roman"/>
                <a:sym typeface="Times New Roman"/>
              </a:rPr>
              <a:t>Accurate, did not need calibration. Tested in ph 4. 7, and 11.</a:t>
            </a:r>
            <a:endParaRPr sz="1700">
              <a:solidFill>
                <a:schemeClr val="lt1"/>
              </a:solidFill>
              <a:latin typeface="Times New Roman"/>
              <a:ea typeface="Times New Roman"/>
              <a:cs typeface="Times New Roman"/>
              <a:sym typeface="Times New Roman"/>
            </a:endParaRPr>
          </a:p>
          <a:p>
            <a:pPr indent="0" lvl="0" marL="0" rtl="0" algn="l">
              <a:spcBef>
                <a:spcPts val="1200"/>
              </a:spcBef>
              <a:spcAft>
                <a:spcPts val="1200"/>
              </a:spcAft>
              <a:buNone/>
            </a:pPr>
            <a:r>
              <a:rPr b="1" lang="en" sz="1700">
                <a:solidFill>
                  <a:schemeClr val="lt1"/>
                </a:solidFill>
                <a:latin typeface="Times New Roman"/>
                <a:ea typeface="Times New Roman"/>
                <a:cs typeface="Times New Roman"/>
                <a:sym typeface="Times New Roman"/>
              </a:rPr>
              <a:t>Conductivity Sensor:</a:t>
            </a:r>
            <a:r>
              <a:rPr lang="en" sz="1700">
                <a:solidFill>
                  <a:schemeClr val="lt1"/>
                </a:solidFill>
                <a:latin typeface="Times New Roman"/>
                <a:ea typeface="Times New Roman"/>
                <a:cs typeface="Times New Roman"/>
                <a:sym typeface="Times New Roman"/>
              </a:rPr>
              <a:t> Requires slight scaling. Tested in air and in 1413 S/cm</a:t>
            </a:r>
            <a:endParaRPr sz="1700">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383" name="Shape 383"/>
        <p:cNvGrpSpPr/>
        <p:nvPr/>
      </p:nvGrpSpPr>
      <p:grpSpPr>
        <a:xfrm>
          <a:off x="0" y="0"/>
          <a:ext cx="0" cy="0"/>
          <a:chOff x="0" y="0"/>
          <a:chExt cx="0" cy="0"/>
        </a:xfrm>
      </p:grpSpPr>
      <p:sp>
        <p:nvSpPr>
          <p:cNvPr id="384" name="Google Shape;384;p47"/>
          <p:cNvSpPr txBox="1"/>
          <p:nvPr/>
        </p:nvSpPr>
        <p:spPr>
          <a:xfrm>
            <a:off x="696900" y="1683042"/>
            <a:ext cx="7750200" cy="6321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5000">
                <a:solidFill>
                  <a:srgbClr val="FFFFFF"/>
                </a:solidFill>
                <a:latin typeface="Times"/>
                <a:ea typeface="Times"/>
                <a:cs typeface="Times"/>
                <a:sym typeface="Times"/>
              </a:rPr>
              <a:t>Lessons Learned </a:t>
            </a:r>
            <a:endParaRPr b="1" sz="5000">
              <a:solidFill>
                <a:srgbClr val="FFFFFF"/>
              </a:solidFill>
              <a:latin typeface="Times"/>
              <a:ea typeface="Times"/>
              <a:cs typeface="Times"/>
              <a:sym typeface="Times"/>
            </a:endParaRPr>
          </a:p>
          <a:p>
            <a:pPr indent="0" lvl="0" marL="0" marR="0" rtl="0" algn="ctr">
              <a:lnSpc>
                <a:spcPct val="75000"/>
              </a:lnSpc>
              <a:spcBef>
                <a:spcPts val="0"/>
              </a:spcBef>
              <a:spcAft>
                <a:spcPts val="0"/>
              </a:spcAft>
              <a:buClr>
                <a:srgbClr val="000000"/>
              </a:buClr>
              <a:buSzPts val="1800"/>
              <a:buFont typeface="Arial"/>
              <a:buNone/>
            </a:pPr>
            <a:r>
              <a:rPr b="1" lang="en" sz="5000">
                <a:solidFill>
                  <a:srgbClr val="FFFFFF"/>
                </a:solidFill>
                <a:latin typeface="Times"/>
                <a:ea typeface="Times"/>
                <a:cs typeface="Times"/>
                <a:sym typeface="Times"/>
              </a:rPr>
              <a:t>&amp; Next Steps</a:t>
            </a:r>
            <a:endParaRPr b="1" sz="5000">
              <a:solidFill>
                <a:srgbClr val="FFFFFF"/>
              </a:solidFill>
              <a:latin typeface="Times"/>
              <a:ea typeface="Times"/>
              <a:cs typeface="Times"/>
              <a:sym typeface="Times"/>
            </a:endParaRPr>
          </a:p>
          <a:p>
            <a:pPr indent="0" lvl="0" marL="0" marR="0" rtl="0" algn="ctr">
              <a:lnSpc>
                <a:spcPct val="75000"/>
              </a:lnSpc>
              <a:spcBef>
                <a:spcPts val="0"/>
              </a:spcBef>
              <a:spcAft>
                <a:spcPts val="0"/>
              </a:spcAft>
              <a:buClr>
                <a:srgbClr val="000000"/>
              </a:buClr>
              <a:buSzPts val="1800"/>
              <a:buFont typeface="Arial"/>
              <a:buNone/>
            </a:pPr>
            <a:r>
              <a:t/>
            </a:r>
            <a:endParaRPr b="1" sz="3000">
              <a:solidFill>
                <a:srgbClr val="FFFFFF"/>
              </a:solidFill>
              <a:latin typeface="Times"/>
              <a:ea typeface="Times"/>
              <a:cs typeface="Times"/>
              <a:sym typeface="Times"/>
            </a:endParaRPr>
          </a:p>
        </p:txBody>
      </p:sp>
      <p:sp>
        <p:nvSpPr>
          <p:cNvPr id="385" name="Google Shape;385;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389" name="Shape 389"/>
        <p:cNvGrpSpPr/>
        <p:nvPr/>
      </p:nvGrpSpPr>
      <p:grpSpPr>
        <a:xfrm>
          <a:off x="0" y="0"/>
          <a:ext cx="0" cy="0"/>
          <a:chOff x="0" y="0"/>
          <a:chExt cx="0" cy="0"/>
        </a:xfrm>
      </p:grpSpPr>
      <p:sp>
        <p:nvSpPr>
          <p:cNvPr id="390" name="Google Shape;390;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391" name="Google Shape;391;p48"/>
          <p:cNvSpPr txBox="1"/>
          <p:nvPr>
            <p:ph idx="4294967295" type="ctrTitle"/>
          </p:nvPr>
        </p:nvSpPr>
        <p:spPr>
          <a:xfrm>
            <a:off x="2590788" y="0"/>
            <a:ext cx="3962400" cy="486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Calibri"/>
              <a:buNone/>
            </a:pPr>
            <a:r>
              <a:rPr b="1" lang="en" sz="3000">
                <a:solidFill>
                  <a:srgbClr val="FFFFFF"/>
                </a:solidFill>
                <a:latin typeface="Times"/>
                <a:ea typeface="Times"/>
                <a:cs typeface="Times"/>
                <a:sym typeface="Times"/>
              </a:rPr>
              <a:t>Lessons Learned</a:t>
            </a:r>
            <a:endParaRPr i="0" sz="3000" u="none" cap="none" strike="noStrike">
              <a:solidFill>
                <a:srgbClr val="FFFFFF"/>
              </a:solidFill>
              <a:latin typeface="Times"/>
              <a:ea typeface="Times"/>
              <a:cs typeface="Times"/>
              <a:sym typeface="Times"/>
            </a:endParaRPr>
          </a:p>
        </p:txBody>
      </p:sp>
      <p:sp>
        <p:nvSpPr>
          <p:cNvPr id="392" name="Google Shape;392;p48"/>
          <p:cNvSpPr txBox="1"/>
          <p:nvPr/>
        </p:nvSpPr>
        <p:spPr>
          <a:xfrm>
            <a:off x="0" y="609840"/>
            <a:ext cx="8553900" cy="4167600"/>
          </a:xfrm>
          <a:prstGeom prst="rect">
            <a:avLst/>
          </a:prstGeom>
          <a:noFill/>
          <a:ln>
            <a:noFill/>
          </a:ln>
        </p:spPr>
        <p:txBody>
          <a:bodyPr anchorCtr="0" anchor="t" bIns="91425" lIns="91425" spcFirstLastPara="1" rIns="91425" wrap="square" tIns="91425">
            <a:spAutoFit/>
          </a:bodyPr>
          <a:lstStyle/>
          <a:p>
            <a:pPr indent="-349250" lvl="0" marL="914400" rtl="0" algn="l">
              <a:lnSpc>
                <a:spcPct val="150000"/>
              </a:lnSpc>
              <a:spcBef>
                <a:spcPts val="1200"/>
              </a:spcBef>
              <a:spcAft>
                <a:spcPts val="0"/>
              </a:spcAft>
              <a:buClr>
                <a:schemeClr val="lt1"/>
              </a:buClr>
              <a:buSzPts val="1900"/>
              <a:buFont typeface="Times New Roman"/>
              <a:buChar char="●"/>
            </a:pPr>
            <a:r>
              <a:rPr b="1" lang="en" sz="1900">
                <a:solidFill>
                  <a:schemeClr val="lt1"/>
                </a:solidFill>
                <a:latin typeface="Times New Roman"/>
                <a:ea typeface="Times New Roman"/>
                <a:cs typeface="Times New Roman"/>
                <a:sym typeface="Times New Roman"/>
              </a:rPr>
              <a:t>Interdisciplinary communication was critical for aligning engineering decisions across subsystems</a:t>
            </a:r>
            <a:endParaRPr b="1" sz="1900">
              <a:solidFill>
                <a:schemeClr val="lt1"/>
              </a:solidFill>
              <a:latin typeface="Times New Roman"/>
              <a:ea typeface="Times New Roman"/>
              <a:cs typeface="Times New Roman"/>
              <a:sym typeface="Times New Roman"/>
            </a:endParaRPr>
          </a:p>
          <a:p>
            <a:pPr indent="-349250" lvl="0" marL="914400" rtl="0" algn="l">
              <a:lnSpc>
                <a:spcPct val="150000"/>
              </a:lnSpc>
              <a:spcBef>
                <a:spcPts val="0"/>
              </a:spcBef>
              <a:spcAft>
                <a:spcPts val="0"/>
              </a:spcAft>
              <a:buClr>
                <a:schemeClr val="lt1"/>
              </a:buClr>
              <a:buSzPts val="1900"/>
              <a:buFont typeface="Times New Roman"/>
              <a:buChar char="●"/>
            </a:pPr>
            <a:r>
              <a:rPr b="1" lang="en" sz="1900">
                <a:solidFill>
                  <a:schemeClr val="lt1"/>
                </a:solidFill>
                <a:latin typeface="Times New Roman"/>
                <a:ea typeface="Times New Roman"/>
                <a:cs typeface="Times New Roman"/>
                <a:sym typeface="Times New Roman"/>
              </a:rPr>
              <a:t>Early modeling and prototyping helped reduce technical risk and guide design decisions</a:t>
            </a:r>
            <a:endParaRPr b="1" sz="1900">
              <a:solidFill>
                <a:schemeClr val="lt1"/>
              </a:solidFill>
              <a:latin typeface="Times New Roman"/>
              <a:ea typeface="Times New Roman"/>
              <a:cs typeface="Times New Roman"/>
              <a:sym typeface="Times New Roman"/>
            </a:endParaRPr>
          </a:p>
          <a:p>
            <a:pPr indent="-349250" lvl="0" marL="914400" rtl="0" algn="l">
              <a:lnSpc>
                <a:spcPct val="150000"/>
              </a:lnSpc>
              <a:spcBef>
                <a:spcPts val="0"/>
              </a:spcBef>
              <a:spcAft>
                <a:spcPts val="0"/>
              </a:spcAft>
              <a:buClr>
                <a:schemeClr val="lt1"/>
              </a:buClr>
              <a:buSzPts val="1900"/>
              <a:buFont typeface="Times New Roman"/>
              <a:buChar char="●"/>
            </a:pPr>
            <a:r>
              <a:rPr b="1" lang="en" sz="1900">
                <a:solidFill>
                  <a:schemeClr val="lt1"/>
                </a:solidFill>
                <a:latin typeface="Times New Roman"/>
                <a:ea typeface="Times New Roman"/>
                <a:cs typeface="Times New Roman"/>
                <a:sym typeface="Times New Roman"/>
              </a:rPr>
              <a:t>How to best manage everyone’s work-styles and different approaches</a:t>
            </a:r>
            <a:endParaRPr b="1" sz="1900">
              <a:solidFill>
                <a:schemeClr val="lt1"/>
              </a:solidFill>
              <a:latin typeface="Times New Roman"/>
              <a:ea typeface="Times New Roman"/>
              <a:cs typeface="Times New Roman"/>
              <a:sym typeface="Times New Roman"/>
            </a:endParaRPr>
          </a:p>
          <a:p>
            <a:pPr indent="-349250" lvl="0" marL="914400" rtl="0" algn="l">
              <a:lnSpc>
                <a:spcPct val="150000"/>
              </a:lnSpc>
              <a:spcBef>
                <a:spcPts val="0"/>
              </a:spcBef>
              <a:spcAft>
                <a:spcPts val="0"/>
              </a:spcAft>
              <a:buClr>
                <a:schemeClr val="lt1"/>
              </a:buClr>
              <a:buSzPts val="1900"/>
              <a:buFont typeface="Times New Roman"/>
              <a:buChar char="●"/>
            </a:pPr>
            <a:r>
              <a:rPr b="1" lang="en" sz="1900">
                <a:solidFill>
                  <a:schemeClr val="lt1"/>
                </a:solidFill>
                <a:latin typeface="Times New Roman"/>
                <a:ea typeface="Times New Roman"/>
                <a:cs typeface="Times New Roman"/>
                <a:sym typeface="Times New Roman"/>
              </a:rPr>
              <a:t>It was important to remain realistic about scope and make tradeoffs based on time and resources</a:t>
            </a:r>
            <a:endParaRPr b="1" sz="1900">
              <a:solidFill>
                <a:schemeClr val="lt1"/>
              </a:solidFill>
              <a:latin typeface="Times New Roman"/>
              <a:ea typeface="Times New Roman"/>
              <a:cs typeface="Times New Roman"/>
              <a:sym typeface="Times New Roman"/>
            </a:endParaRPr>
          </a:p>
          <a:p>
            <a:pPr indent="-349250" lvl="0" marL="914400" rtl="0" algn="l">
              <a:lnSpc>
                <a:spcPct val="150000"/>
              </a:lnSpc>
              <a:spcBef>
                <a:spcPts val="0"/>
              </a:spcBef>
              <a:spcAft>
                <a:spcPts val="0"/>
              </a:spcAft>
              <a:buClr>
                <a:schemeClr val="lt1"/>
              </a:buClr>
              <a:buSzPts val="1900"/>
              <a:buFont typeface="Times New Roman"/>
              <a:buChar char="●"/>
            </a:pPr>
            <a:r>
              <a:rPr b="1" lang="en" sz="1900">
                <a:solidFill>
                  <a:schemeClr val="lt1"/>
                </a:solidFill>
                <a:latin typeface="Times New Roman"/>
                <a:ea typeface="Times New Roman"/>
                <a:cs typeface="Times New Roman"/>
                <a:sym typeface="Times New Roman"/>
              </a:rPr>
              <a:t>Navigating conflicting client input required balancing requirements with feasibility</a:t>
            </a:r>
            <a:endParaRPr b="1" sz="19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398" name="Google Shape;398;p49"/>
          <p:cNvSpPr txBox="1"/>
          <p:nvPr>
            <p:ph idx="4294967295" type="ctrTitle"/>
          </p:nvPr>
        </p:nvSpPr>
        <p:spPr>
          <a:xfrm>
            <a:off x="1121823" y="168700"/>
            <a:ext cx="7434900" cy="486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Calibri"/>
              <a:buNone/>
            </a:pPr>
            <a:r>
              <a:rPr b="1" lang="en" sz="3000">
                <a:solidFill>
                  <a:srgbClr val="FFFFFF"/>
                </a:solidFill>
                <a:latin typeface="Times"/>
                <a:ea typeface="Times"/>
                <a:cs typeface="Times"/>
                <a:sym typeface="Times"/>
              </a:rPr>
              <a:t>Next Steps &amp; Getting to Design Day</a:t>
            </a:r>
            <a:endParaRPr i="0" sz="3000" u="none" cap="none" strike="noStrike">
              <a:solidFill>
                <a:srgbClr val="FFFFFF"/>
              </a:solidFill>
              <a:latin typeface="Times"/>
              <a:ea typeface="Times"/>
              <a:cs typeface="Times"/>
              <a:sym typeface="Times"/>
            </a:endParaRPr>
          </a:p>
        </p:txBody>
      </p:sp>
      <p:sp>
        <p:nvSpPr>
          <p:cNvPr id="399" name="Google Shape;399;p49"/>
          <p:cNvSpPr txBox="1"/>
          <p:nvPr/>
        </p:nvSpPr>
        <p:spPr>
          <a:xfrm>
            <a:off x="295050" y="778500"/>
            <a:ext cx="8553900" cy="3324600"/>
          </a:xfrm>
          <a:prstGeom prst="rect">
            <a:avLst/>
          </a:prstGeom>
          <a:noFill/>
          <a:ln>
            <a:noFill/>
          </a:ln>
        </p:spPr>
        <p:txBody>
          <a:bodyPr anchorCtr="0" anchor="t" bIns="91425" lIns="91425" spcFirstLastPara="1" rIns="91425" wrap="square" tIns="91425">
            <a:spAutoFit/>
          </a:bodyPr>
          <a:lstStyle/>
          <a:p>
            <a:pPr indent="-336550" lvl="0" marL="457200" rtl="0" algn="l">
              <a:spcBef>
                <a:spcPts val="1200"/>
              </a:spcBef>
              <a:spcAft>
                <a:spcPts val="0"/>
              </a:spcAft>
              <a:buClr>
                <a:schemeClr val="lt1"/>
              </a:buClr>
              <a:buSzPts val="1700"/>
              <a:buFont typeface="Times New Roman"/>
              <a:buAutoNum type="arabicPeriod"/>
            </a:pPr>
            <a:r>
              <a:rPr b="1" lang="en" sz="1700">
                <a:solidFill>
                  <a:schemeClr val="lt1"/>
                </a:solidFill>
                <a:latin typeface="Times New Roman"/>
                <a:ea typeface="Times New Roman"/>
                <a:cs typeface="Times New Roman"/>
                <a:sym typeface="Times New Roman"/>
              </a:rPr>
              <a:t>Assembly </a:t>
            </a:r>
            <a:endParaRPr b="1" sz="1700">
              <a:solidFill>
                <a:schemeClr val="lt1"/>
              </a:solidFill>
              <a:latin typeface="Times New Roman"/>
              <a:ea typeface="Times New Roman"/>
              <a:cs typeface="Times New Roman"/>
              <a:sym typeface="Times New Roman"/>
            </a:endParaRPr>
          </a:p>
          <a:p>
            <a:pPr indent="-336550" lvl="0" marL="914400" rtl="0" algn="l">
              <a:spcBef>
                <a:spcPts val="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Finalize sealing of mounts</a:t>
            </a:r>
            <a:endParaRPr b="1" sz="1700">
              <a:solidFill>
                <a:schemeClr val="lt1"/>
              </a:solidFill>
              <a:latin typeface="Times New Roman"/>
              <a:ea typeface="Times New Roman"/>
              <a:cs typeface="Times New Roman"/>
              <a:sym typeface="Times New Roman"/>
            </a:endParaRPr>
          </a:p>
          <a:p>
            <a:pPr indent="-336550" lvl="0" marL="914400" rtl="0" algn="l">
              <a:spcBef>
                <a:spcPts val="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Secure electronics stack in place</a:t>
            </a:r>
            <a:endParaRPr b="1" sz="1700">
              <a:solidFill>
                <a:schemeClr val="lt1"/>
              </a:solidFill>
              <a:latin typeface="Times New Roman"/>
              <a:ea typeface="Times New Roman"/>
              <a:cs typeface="Times New Roman"/>
              <a:sym typeface="Times New Roman"/>
            </a:endParaRPr>
          </a:p>
          <a:p>
            <a:pPr indent="-336550" lvl="0" marL="457200" rtl="0" algn="l">
              <a:spcBef>
                <a:spcPts val="0"/>
              </a:spcBef>
              <a:spcAft>
                <a:spcPts val="0"/>
              </a:spcAft>
              <a:buClr>
                <a:schemeClr val="lt1"/>
              </a:buClr>
              <a:buSzPts val="1700"/>
              <a:buFont typeface="Times New Roman"/>
              <a:buAutoNum type="arabicPeriod"/>
            </a:pPr>
            <a:r>
              <a:rPr b="1" lang="en" sz="1700">
                <a:solidFill>
                  <a:schemeClr val="lt1"/>
                </a:solidFill>
                <a:latin typeface="Times New Roman"/>
                <a:ea typeface="Times New Roman"/>
                <a:cs typeface="Times New Roman"/>
                <a:sym typeface="Times New Roman"/>
              </a:rPr>
              <a:t>Testing</a:t>
            </a:r>
            <a:endParaRPr b="1" sz="1700">
              <a:solidFill>
                <a:schemeClr val="lt1"/>
              </a:solidFill>
              <a:latin typeface="Times New Roman"/>
              <a:ea typeface="Times New Roman"/>
              <a:cs typeface="Times New Roman"/>
              <a:sym typeface="Times New Roman"/>
            </a:endParaRPr>
          </a:p>
          <a:p>
            <a:pPr indent="-336550" lvl="0" marL="914400" rtl="0" algn="l">
              <a:spcBef>
                <a:spcPts val="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Water Test 1 (Monday)</a:t>
            </a:r>
            <a:endParaRPr b="1" sz="1700">
              <a:solidFill>
                <a:schemeClr val="lt1"/>
              </a:solidFill>
              <a:latin typeface="Times New Roman"/>
              <a:ea typeface="Times New Roman"/>
              <a:cs typeface="Times New Roman"/>
              <a:sym typeface="Times New Roman"/>
            </a:endParaRPr>
          </a:p>
          <a:p>
            <a:pPr indent="-336550" lvl="0" marL="914400" rtl="0" algn="l">
              <a:spcBef>
                <a:spcPts val="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Water Test 2 w/ Remote Control from Ireland (Tuesday)</a:t>
            </a:r>
            <a:endParaRPr b="1" sz="1700">
              <a:solidFill>
                <a:schemeClr val="lt1"/>
              </a:solidFill>
              <a:latin typeface="Times New Roman"/>
              <a:ea typeface="Times New Roman"/>
              <a:cs typeface="Times New Roman"/>
              <a:sym typeface="Times New Roman"/>
            </a:endParaRPr>
          </a:p>
          <a:p>
            <a:pPr indent="-336550" lvl="0" marL="457200" rtl="0" algn="l">
              <a:spcBef>
                <a:spcPts val="0"/>
              </a:spcBef>
              <a:spcAft>
                <a:spcPts val="0"/>
              </a:spcAft>
              <a:buClr>
                <a:schemeClr val="lt1"/>
              </a:buClr>
              <a:buSzPts val="1700"/>
              <a:buFont typeface="Times New Roman"/>
              <a:buAutoNum type="arabicPeriod"/>
            </a:pPr>
            <a:r>
              <a:rPr b="1" lang="en" sz="1700">
                <a:solidFill>
                  <a:schemeClr val="lt1"/>
                </a:solidFill>
                <a:latin typeface="Times New Roman"/>
                <a:ea typeface="Times New Roman"/>
                <a:cs typeface="Times New Roman"/>
                <a:sym typeface="Times New Roman"/>
              </a:rPr>
              <a:t>Prepare Design Day Materials/Final Assignments</a:t>
            </a:r>
            <a:endParaRPr b="1" sz="1700">
              <a:solidFill>
                <a:schemeClr val="lt1"/>
              </a:solidFill>
              <a:latin typeface="Times New Roman"/>
              <a:ea typeface="Times New Roman"/>
              <a:cs typeface="Times New Roman"/>
              <a:sym typeface="Times New Roman"/>
            </a:endParaRPr>
          </a:p>
          <a:p>
            <a:pPr indent="-336550" lvl="0" marL="914400" rtl="0" algn="l">
              <a:spcBef>
                <a:spcPts val="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Video &amp; Imagery</a:t>
            </a:r>
            <a:endParaRPr b="1" sz="1700">
              <a:solidFill>
                <a:schemeClr val="lt1"/>
              </a:solidFill>
              <a:latin typeface="Times New Roman"/>
              <a:ea typeface="Times New Roman"/>
              <a:cs typeface="Times New Roman"/>
              <a:sym typeface="Times New Roman"/>
            </a:endParaRPr>
          </a:p>
          <a:p>
            <a:pPr indent="-336550" lvl="0" marL="914400" rtl="0" algn="l">
              <a:spcBef>
                <a:spcPts val="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Awards Applications</a:t>
            </a:r>
            <a:endParaRPr b="1" sz="1700">
              <a:solidFill>
                <a:schemeClr val="lt1"/>
              </a:solidFill>
              <a:latin typeface="Times New Roman"/>
              <a:ea typeface="Times New Roman"/>
              <a:cs typeface="Times New Roman"/>
              <a:sym typeface="Times New Roman"/>
            </a:endParaRPr>
          </a:p>
          <a:p>
            <a:pPr indent="-336550" lvl="0" marL="914400" rtl="0" algn="l">
              <a:spcBef>
                <a:spcPts val="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Poster</a:t>
            </a:r>
            <a:endParaRPr b="1" sz="1700">
              <a:solidFill>
                <a:schemeClr val="lt1"/>
              </a:solidFill>
              <a:latin typeface="Times New Roman"/>
              <a:ea typeface="Times New Roman"/>
              <a:cs typeface="Times New Roman"/>
              <a:sym typeface="Times New Roman"/>
            </a:endParaRPr>
          </a:p>
          <a:p>
            <a:pPr indent="-336550" lvl="0" marL="914400" rtl="0" algn="l">
              <a:spcBef>
                <a:spcPts val="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Customer Satisfaction Report</a:t>
            </a:r>
            <a:endParaRPr b="1" sz="1700">
              <a:solidFill>
                <a:schemeClr val="lt1"/>
              </a:solidFill>
              <a:latin typeface="Times New Roman"/>
              <a:ea typeface="Times New Roman"/>
              <a:cs typeface="Times New Roman"/>
              <a:sym typeface="Times New Roman"/>
            </a:endParaRPr>
          </a:p>
          <a:p>
            <a:pPr indent="-336550" lvl="0" marL="914400" rtl="0" algn="l">
              <a:spcBef>
                <a:spcPts val="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Final Report</a:t>
            </a:r>
            <a:endParaRPr b="1" sz="17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403" name="Shape 403"/>
        <p:cNvGrpSpPr/>
        <p:nvPr/>
      </p:nvGrpSpPr>
      <p:grpSpPr>
        <a:xfrm>
          <a:off x="0" y="0"/>
          <a:ext cx="0" cy="0"/>
          <a:chOff x="0" y="0"/>
          <a:chExt cx="0" cy="0"/>
        </a:xfrm>
      </p:grpSpPr>
      <p:sp>
        <p:nvSpPr>
          <p:cNvPr id="404" name="Google Shape;404;p50"/>
          <p:cNvSpPr txBox="1"/>
          <p:nvPr/>
        </p:nvSpPr>
        <p:spPr>
          <a:xfrm>
            <a:off x="779100" y="1831925"/>
            <a:ext cx="7750200" cy="6321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4800">
                <a:solidFill>
                  <a:srgbClr val="FFFFFF"/>
                </a:solidFill>
                <a:latin typeface="Times"/>
                <a:ea typeface="Times"/>
                <a:cs typeface="Times"/>
                <a:sym typeface="Times"/>
              </a:rPr>
              <a:t>Budget</a:t>
            </a:r>
            <a:endParaRPr b="1" sz="3000">
              <a:solidFill>
                <a:srgbClr val="FFFFFF"/>
              </a:solidFill>
              <a:latin typeface="Times"/>
              <a:ea typeface="Times"/>
              <a:cs typeface="Times"/>
              <a:sym typeface="Times"/>
            </a:endParaRPr>
          </a:p>
        </p:txBody>
      </p:sp>
      <p:sp>
        <p:nvSpPr>
          <p:cNvPr id="405" name="Google Shape;405;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409" name="Shape 409"/>
        <p:cNvGrpSpPr/>
        <p:nvPr/>
      </p:nvGrpSpPr>
      <p:grpSpPr>
        <a:xfrm>
          <a:off x="0" y="0"/>
          <a:ext cx="0" cy="0"/>
          <a:chOff x="0" y="0"/>
          <a:chExt cx="0" cy="0"/>
        </a:xfrm>
      </p:grpSpPr>
      <p:sp>
        <p:nvSpPr>
          <p:cNvPr id="410" name="Google Shape;410;p51"/>
          <p:cNvSpPr txBox="1"/>
          <p:nvPr>
            <p:ph idx="4294967295" type="title"/>
          </p:nvPr>
        </p:nvSpPr>
        <p:spPr>
          <a:xfrm>
            <a:off x="371850" y="2"/>
            <a:ext cx="8400300" cy="573000"/>
          </a:xfrm>
          <a:prstGeom prst="rect">
            <a:avLst/>
          </a:prstGeom>
          <a:noFill/>
          <a:ln>
            <a:noFill/>
          </a:ln>
        </p:spPr>
        <p:txBody>
          <a:bodyPr anchorCtr="0" anchor="ctr" bIns="0" lIns="0" spcFirstLastPara="1" rIns="0" wrap="square" tIns="6350">
            <a:noAutofit/>
          </a:bodyPr>
          <a:lstStyle/>
          <a:p>
            <a:pPr indent="0" lvl="0" marL="0" rtl="0" algn="ctr">
              <a:lnSpc>
                <a:spcPct val="75000"/>
              </a:lnSpc>
              <a:spcBef>
                <a:spcPts val="0"/>
              </a:spcBef>
              <a:spcAft>
                <a:spcPts val="0"/>
              </a:spcAft>
              <a:buClr>
                <a:schemeClr val="dk1"/>
              </a:buClr>
              <a:buSzPts val="600"/>
              <a:buFont typeface="Arial"/>
              <a:buNone/>
            </a:pPr>
            <a:r>
              <a:rPr b="1" lang="en" sz="3000">
                <a:solidFill>
                  <a:schemeClr val="lt1"/>
                </a:solidFill>
                <a:latin typeface="Times"/>
                <a:ea typeface="Times"/>
                <a:cs typeface="Times"/>
                <a:sym typeface="Times"/>
              </a:rPr>
              <a:t>Cost Analysis</a:t>
            </a:r>
            <a:endParaRPr i="0" sz="2400" u="none" cap="none" strike="noStrike">
              <a:solidFill>
                <a:srgbClr val="FFFFFF"/>
              </a:solidFill>
              <a:latin typeface="Times"/>
              <a:ea typeface="Times"/>
              <a:cs typeface="Times"/>
              <a:sym typeface="Times"/>
            </a:endParaRPr>
          </a:p>
        </p:txBody>
      </p:sp>
      <p:sp>
        <p:nvSpPr>
          <p:cNvPr id="411" name="Google Shape;411;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pic>
        <p:nvPicPr>
          <p:cNvPr id="412" name="Google Shape;412;p51"/>
          <p:cNvPicPr preferRelativeResize="0"/>
          <p:nvPr/>
        </p:nvPicPr>
        <p:blipFill>
          <a:blip r:embed="rId3">
            <a:alphaModFix/>
          </a:blip>
          <a:stretch>
            <a:fillRect/>
          </a:stretch>
        </p:blipFill>
        <p:spPr>
          <a:xfrm>
            <a:off x="2100275" y="667575"/>
            <a:ext cx="4943475" cy="1944825"/>
          </a:xfrm>
          <a:prstGeom prst="rect">
            <a:avLst/>
          </a:prstGeom>
          <a:noFill/>
          <a:ln>
            <a:noFill/>
          </a:ln>
        </p:spPr>
      </p:pic>
      <p:pic>
        <p:nvPicPr>
          <p:cNvPr id="413" name="Google Shape;413;p51"/>
          <p:cNvPicPr preferRelativeResize="0"/>
          <p:nvPr/>
        </p:nvPicPr>
        <p:blipFill>
          <a:blip r:embed="rId4">
            <a:alphaModFix/>
          </a:blip>
          <a:stretch>
            <a:fillRect/>
          </a:stretch>
        </p:blipFill>
        <p:spPr>
          <a:xfrm>
            <a:off x="2100263" y="2706975"/>
            <a:ext cx="4943475" cy="14668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417" name="Shape 417"/>
        <p:cNvGrpSpPr/>
        <p:nvPr/>
      </p:nvGrpSpPr>
      <p:grpSpPr>
        <a:xfrm>
          <a:off x="0" y="0"/>
          <a:ext cx="0" cy="0"/>
          <a:chOff x="0" y="0"/>
          <a:chExt cx="0" cy="0"/>
        </a:xfrm>
      </p:grpSpPr>
      <p:sp>
        <p:nvSpPr>
          <p:cNvPr id="418" name="Google Shape;418;p52"/>
          <p:cNvSpPr txBox="1"/>
          <p:nvPr/>
        </p:nvSpPr>
        <p:spPr>
          <a:xfrm>
            <a:off x="779100" y="1831925"/>
            <a:ext cx="7750200" cy="6321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4800">
                <a:solidFill>
                  <a:srgbClr val="FFFFFF"/>
                </a:solidFill>
                <a:latin typeface="Times"/>
                <a:ea typeface="Times"/>
                <a:cs typeface="Times"/>
                <a:sym typeface="Times"/>
              </a:rPr>
              <a:t>Deliverables</a:t>
            </a:r>
            <a:endParaRPr b="1" sz="3000">
              <a:solidFill>
                <a:srgbClr val="FFFFFF"/>
              </a:solidFill>
              <a:latin typeface="Times"/>
              <a:ea typeface="Times"/>
              <a:cs typeface="Times"/>
              <a:sym typeface="Times"/>
            </a:endParaRPr>
          </a:p>
        </p:txBody>
      </p:sp>
      <p:sp>
        <p:nvSpPr>
          <p:cNvPr id="419" name="Google Shape;419;p5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423" name="Shape 423"/>
        <p:cNvGrpSpPr/>
        <p:nvPr/>
      </p:nvGrpSpPr>
      <p:grpSpPr>
        <a:xfrm>
          <a:off x="0" y="0"/>
          <a:ext cx="0" cy="0"/>
          <a:chOff x="0" y="0"/>
          <a:chExt cx="0" cy="0"/>
        </a:xfrm>
      </p:grpSpPr>
      <p:sp>
        <p:nvSpPr>
          <p:cNvPr id="424" name="Google Shape;424;p53"/>
          <p:cNvSpPr txBox="1"/>
          <p:nvPr>
            <p:ph idx="4294967295" type="ctrTitle"/>
          </p:nvPr>
        </p:nvSpPr>
        <p:spPr>
          <a:xfrm>
            <a:off x="2590788" y="-85300"/>
            <a:ext cx="3962400" cy="486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Calibri"/>
              <a:buNone/>
            </a:pPr>
            <a:r>
              <a:rPr b="1" lang="en" sz="3000">
                <a:solidFill>
                  <a:srgbClr val="FFFFFF"/>
                </a:solidFill>
                <a:latin typeface="Times"/>
                <a:ea typeface="Times"/>
                <a:cs typeface="Times"/>
                <a:sym typeface="Times"/>
              </a:rPr>
              <a:t>Deliverables</a:t>
            </a:r>
            <a:endParaRPr i="0" sz="3000" u="none" cap="none" strike="noStrike">
              <a:solidFill>
                <a:srgbClr val="FFFFFF"/>
              </a:solidFill>
              <a:latin typeface="Times"/>
              <a:ea typeface="Times"/>
              <a:cs typeface="Times"/>
              <a:sym typeface="Times"/>
            </a:endParaRPr>
          </a:p>
        </p:txBody>
      </p:sp>
      <p:sp>
        <p:nvSpPr>
          <p:cNvPr id="425" name="Google Shape;425;p5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426" name="Google Shape;426;p53"/>
          <p:cNvSpPr txBox="1"/>
          <p:nvPr/>
        </p:nvSpPr>
        <p:spPr>
          <a:xfrm>
            <a:off x="812550" y="227150"/>
            <a:ext cx="7518900" cy="43560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0"/>
              </a:spcAft>
              <a:buNone/>
            </a:pPr>
            <a:r>
              <a:rPr b="1" lang="en" sz="1700">
                <a:solidFill>
                  <a:schemeClr val="lt1"/>
                </a:solidFill>
                <a:latin typeface="Times New Roman"/>
                <a:ea typeface="Times New Roman"/>
                <a:cs typeface="Times New Roman"/>
                <a:sym typeface="Times New Roman"/>
              </a:rPr>
              <a:t>Documentation :</a:t>
            </a:r>
            <a:endParaRPr b="1" sz="1700">
              <a:solidFill>
                <a:schemeClr val="lt1"/>
              </a:solidFill>
              <a:latin typeface="Times New Roman"/>
              <a:ea typeface="Times New Roman"/>
              <a:cs typeface="Times New Roman"/>
              <a:sym typeface="Times New Roman"/>
            </a:endParaRPr>
          </a:p>
          <a:p>
            <a:pPr indent="-336550" lvl="0" marL="457200" rtl="0" algn="l">
              <a:spcBef>
                <a:spcPts val="1200"/>
              </a:spcBef>
              <a:spcAft>
                <a:spcPts val="0"/>
              </a:spcAft>
              <a:buClr>
                <a:schemeClr val="lt1"/>
              </a:buClr>
              <a:buSzPts val="1700"/>
              <a:buFont typeface="Times New Roman"/>
              <a:buChar char="●"/>
            </a:pPr>
            <a:r>
              <a:rPr lang="en" sz="1700">
                <a:solidFill>
                  <a:schemeClr val="lt1"/>
                </a:solidFill>
                <a:latin typeface="Times New Roman"/>
                <a:ea typeface="Times New Roman"/>
                <a:cs typeface="Times New Roman"/>
                <a:sym typeface="Times New Roman"/>
              </a:rPr>
              <a:t>Final Report</a:t>
            </a:r>
            <a:endParaRPr sz="1700">
              <a:solidFill>
                <a:schemeClr val="lt1"/>
              </a:solidFill>
              <a:latin typeface="Times New Roman"/>
              <a:ea typeface="Times New Roman"/>
              <a:cs typeface="Times New Roman"/>
              <a:sym typeface="Times New Roman"/>
            </a:endParaRPr>
          </a:p>
          <a:p>
            <a:pPr indent="-336550" lvl="0" marL="457200" rtl="0" algn="l">
              <a:spcBef>
                <a:spcPts val="0"/>
              </a:spcBef>
              <a:spcAft>
                <a:spcPts val="0"/>
              </a:spcAft>
              <a:buClr>
                <a:schemeClr val="lt1"/>
              </a:buClr>
              <a:buSzPts val="1700"/>
              <a:buFont typeface="Times New Roman"/>
              <a:buChar char="●"/>
            </a:pPr>
            <a:r>
              <a:rPr lang="en" sz="1700">
                <a:solidFill>
                  <a:schemeClr val="lt1"/>
                </a:solidFill>
                <a:latin typeface="Times New Roman"/>
                <a:ea typeface="Times New Roman"/>
                <a:cs typeface="Times New Roman"/>
                <a:sym typeface="Times New Roman"/>
              </a:rPr>
              <a:t>Final </a:t>
            </a:r>
            <a:r>
              <a:rPr lang="en" sz="1700">
                <a:solidFill>
                  <a:schemeClr val="lt1"/>
                </a:solidFill>
                <a:latin typeface="Times New Roman"/>
                <a:ea typeface="Times New Roman"/>
                <a:cs typeface="Times New Roman"/>
                <a:sym typeface="Times New Roman"/>
              </a:rPr>
              <a:t>Technical</a:t>
            </a:r>
            <a:r>
              <a:rPr lang="en" sz="1700">
                <a:solidFill>
                  <a:schemeClr val="lt1"/>
                </a:solidFill>
                <a:latin typeface="Times New Roman"/>
                <a:ea typeface="Times New Roman"/>
                <a:cs typeface="Times New Roman"/>
                <a:sym typeface="Times New Roman"/>
              </a:rPr>
              <a:t> Data Package (TDP)</a:t>
            </a:r>
            <a:endParaRPr sz="1700">
              <a:solidFill>
                <a:schemeClr val="lt1"/>
              </a:solidFill>
              <a:latin typeface="Times New Roman"/>
              <a:ea typeface="Times New Roman"/>
              <a:cs typeface="Times New Roman"/>
              <a:sym typeface="Times New Roman"/>
            </a:endParaRPr>
          </a:p>
          <a:p>
            <a:pPr indent="-336550" lvl="0" marL="457200" rtl="0" algn="l">
              <a:spcBef>
                <a:spcPts val="0"/>
              </a:spcBef>
              <a:spcAft>
                <a:spcPts val="0"/>
              </a:spcAft>
              <a:buClr>
                <a:schemeClr val="lt1"/>
              </a:buClr>
              <a:buSzPts val="1700"/>
              <a:buFont typeface="Times New Roman"/>
              <a:buChar char="●"/>
            </a:pPr>
            <a:r>
              <a:rPr lang="en" sz="1700">
                <a:solidFill>
                  <a:schemeClr val="lt1"/>
                </a:solidFill>
                <a:latin typeface="Times New Roman"/>
                <a:ea typeface="Times New Roman"/>
                <a:cs typeface="Times New Roman"/>
                <a:sym typeface="Times New Roman"/>
              </a:rPr>
              <a:t>System Requirements Document (SRD)</a:t>
            </a:r>
            <a:endParaRPr sz="1700">
              <a:solidFill>
                <a:schemeClr val="lt1"/>
              </a:solidFill>
              <a:latin typeface="Times New Roman"/>
              <a:ea typeface="Times New Roman"/>
              <a:cs typeface="Times New Roman"/>
              <a:sym typeface="Times New Roman"/>
            </a:endParaRPr>
          </a:p>
          <a:p>
            <a:pPr indent="-336550" lvl="0" marL="457200" rtl="0" algn="l">
              <a:spcBef>
                <a:spcPts val="0"/>
              </a:spcBef>
              <a:spcAft>
                <a:spcPts val="0"/>
              </a:spcAft>
              <a:buClr>
                <a:schemeClr val="lt1"/>
              </a:buClr>
              <a:buSzPts val="1700"/>
              <a:buFont typeface="Times New Roman"/>
              <a:buChar char="●"/>
            </a:pPr>
            <a:r>
              <a:rPr lang="en" sz="1700">
                <a:solidFill>
                  <a:schemeClr val="lt1"/>
                </a:solidFill>
                <a:latin typeface="Times New Roman"/>
                <a:ea typeface="Times New Roman"/>
                <a:cs typeface="Times New Roman"/>
                <a:sym typeface="Times New Roman"/>
              </a:rPr>
              <a:t>Intermediate Design Reports (CDR, ISR)</a:t>
            </a:r>
            <a:endParaRPr sz="1700">
              <a:solidFill>
                <a:schemeClr val="lt1"/>
              </a:solidFill>
              <a:latin typeface="Times New Roman"/>
              <a:ea typeface="Times New Roman"/>
              <a:cs typeface="Times New Roman"/>
              <a:sym typeface="Times New Roman"/>
            </a:endParaRPr>
          </a:p>
          <a:p>
            <a:pPr indent="-336550" lvl="0" marL="457200" rtl="0" algn="l">
              <a:spcBef>
                <a:spcPts val="0"/>
              </a:spcBef>
              <a:spcAft>
                <a:spcPts val="0"/>
              </a:spcAft>
              <a:buClr>
                <a:schemeClr val="lt1"/>
              </a:buClr>
              <a:buSzPts val="1700"/>
              <a:buFont typeface="Times New Roman"/>
              <a:buChar char="●"/>
            </a:pPr>
            <a:r>
              <a:rPr lang="en" sz="1700">
                <a:solidFill>
                  <a:schemeClr val="lt1"/>
                </a:solidFill>
                <a:latin typeface="Times New Roman"/>
                <a:ea typeface="Times New Roman"/>
                <a:cs typeface="Times New Roman"/>
                <a:sym typeface="Times New Roman"/>
              </a:rPr>
              <a:t>All Video Footage and Imagery Pertaining to Design and Results</a:t>
            </a:r>
            <a:endParaRPr sz="1700">
              <a:solidFill>
                <a:schemeClr val="lt1"/>
              </a:solidFill>
              <a:latin typeface="Times New Roman"/>
              <a:ea typeface="Times New Roman"/>
              <a:cs typeface="Times New Roman"/>
              <a:sym typeface="Times New Roman"/>
            </a:endParaRPr>
          </a:p>
          <a:p>
            <a:pPr indent="0" lvl="0" marL="0" rtl="0" algn="l">
              <a:spcBef>
                <a:spcPts val="1200"/>
              </a:spcBef>
              <a:spcAft>
                <a:spcPts val="0"/>
              </a:spcAft>
              <a:buNone/>
            </a:pPr>
            <a:r>
              <a:rPr b="1" lang="en" sz="1700">
                <a:solidFill>
                  <a:schemeClr val="lt1"/>
                </a:solidFill>
                <a:latin typeface="Times New Roman"/>
                <a:ea typeface="Times New Roman"/>
                <a:cs typeface="Times New Roman"/>
                <a:sym typeface="Times New Roman"/>
              </a:rPr>
              <a:t>Software:</a:t>
            </a:r>
            <a:endParaRPr b="1" sz="1700">
              <a:solidFill>
                <a:schemeClr val="lt1"/>
              </a:solidFill>
              <a:latin typeface="Times New Roman"/>
              <a:ea typeface="Times New Roman"/>
              <a:cs typeface="Times New Roman"/>
              <a:sym typeface="Times New Roman"/>
            </a:endParaRPr>
          </a:p>
          <a:p>
            <a:pPr indent="-336550" lvl="0" marL="457200" rtl="0" algn="l">
              <a:spcBef>
                <a:spcPts val="1200"/>
              </a:spcBef>
              <a:spcAft>
                <a:spcPts val="0"/>
              </a:spcAft>
              <a:buClr>
                <a:schemeClr val="lt1"/>
              </a:buClr>
              <a:buSzPts val="1700"/>
              <a:buFont typeface="Times New Roman"/>
              <a:buChar char="●"/>
            </a:pPr>
            <a:r>
              <a:rPr lang="en" sz="1700">
                <a:solidFill>
                  <a:schemeClr val="lt1"/>
                </a:solidFill>
                <a:latin typeface="Times New Roman"/>
                <a:ea typeface="Times New Roman"/>
                <a:cs typeface="Times New Roman"/>
                <a:sym typeface="Times New Roman"/>
              </a:rPr>
              <a:t>All CAD Models</a:t>
            </a:r>
            <a:endParaRPr sz="1700">
              <a:solidFill>
                <a:schemeClr val="lt1"/>
              </a:solidFill>
              <a:latin typeface="Times New Roman"/>
              <a:ea typeface="Times New Roman"/>
              <a:cs typeface="Times New Roman"/>
              <a:sym typeface="Times New Roman"/>
            </a:endParaRPr>
          </a:p>
          <a:p>
            <a:pPr indent="-336550" lvl="0" marL="457200" rtl="0" algn="l">
              <a:spcBef>
                <a:spcPts val="0"/>
              </a:spcBef>
              <a:spcAft>
                <a:spcPts val="0"/>
              </a:spcAft>
              <a:buClr>
                <a:schemeClr val="lt1"/>
              </a:buClr>
              <a:buSzPts val="1700"/>
              <a:buFont typeface="Times New Roman"/>
              <a:buChar char="●"/>
            </a:pPr>
            <a:r>
              <a:rPr lang="en" sz="1700">
                <a:solidFill>
                  <a:schemeClr val="lt1"/>
                </a:solidFill>
                <a:latin typeface="Times New Roman"/>
                <a:ea typeface="Times New Roman"/>
                <a:cs typeface="Times New Roman"/>
                <a:sym typeface="Times New Roman"/>
              </a:rPr>
              <a:t>GUI and Tailscale Data Access w/ Starlink</a:t>
            </a:r>
            <a:endParaRPr sz="1700">
              <a:solidFill>
                <a:schemeClr val="lt1"/>
              </a:solidFill>
              <a:latin typeface="Times New Roman"/>
              <a:ea typeface="Times New Roman"/>
              <a:cs typeface="Times New Roman"/>
              <a:sym typeface="Times New Roman"/>
            </a:endParaRPr>
          </a:p>
          <a:p>
            <a:pPr indent="0" lvl="0" marL="0" rtl="0" algn="l">
              <a:spcBef>
                <a:spcPts val="1200"/>
              </a:spcBef>
              <a:spcAft>
                <a:spcPts val="0"/>
              </a:spcAft>
              <a:buNone/>
            </a:pPr>
            <a:r>
              <a:rPr b="1" lang="en" sz="1700">
                <a:solidFill>
                  <a:schemeClr val="lt1"/>
                </a:solidFill>
                <a:latin typeface="Times New Roman"/>
                <a:ea typeface="Times New Roman"/>
                <a:cs typeface="Times New Roman"/>
                <a:sym typeface="Times New Roman"/>
              </a:rPr>
              <a:t>Hardware:</a:t>
            </a:r>
            <a:endParaRPr b="1" sz="1700">
              <a:solidFill>
                <a:schemeClr val="lt1"/>
              </a:solidFill>
              <a:latin typeface="Times New Roman"/>
              <a:ea typeface="Times New Roman"/>
              <a:cs typeface="Times New Roman"/>
              <a:sym typeface="Times New Roman"/>
            </a:endParaRPr>
          </a:p>
          <a:p>
            <a:pPr indent="-336550" lvl="0" marL="457200" rtl="0" algn="l">
              <a:spcBef>
                <a:spcPts val="1200"/>
              </a:spcBef>
              <a:spcAft>
                <a:spcPts val="0"/>
              </a:spcAft>
              <a:buClr>
                <a:schemeClr val="lt1"/>
              </a:buClr>
              <a:buSzPts val="1700"/>
              <a:buFont typeface="Times New Roman"/>
              <a:buChar char="●"/>
            </a:pPr>
            <a:r>
              <a:rPr lang="en" sz="1700">
                <a:solidFill>
                  <a:schemeClr val="lt1"/>
                </a:solidFill>
                <a:latin typeface="Times New Roman"/>
                <a:ea typeface="Times New Roman"/>
                <a:cs typeface="Times New Roman"/>
                <a:sym typeface="Times New Roman"/>
              </a:rPr>
              <a:t>1 Main Drone, 2 Drones for Swarm Demonstration</a:t>
            </a:r>
            <a:endParaRPr sz="1700">
              <a:solidFill>
                <a:schemeClr val="lt1"/>
              </a:solidFill>
              <a:latin typeface="Times New Roman"/>
              <a:ea typeface="Times New Roman"/>
              <a:cs typeface="Times New Roman"/>
              <a:sym typeface="Times New Roman"/>
            </a:endParaRPr>
          </a:p>
          <a:p>
            <a:pPr indent="-336550" lvl="0" marL="457200" rtl="0" algn="l">
              <a:spcBef>
                <a:spcPts val="0"/>
              </a:spcBef>
              <a:spcAft>
                <a:spcPts val="0"/>
              </a:spcAft>
              <a:buClr>
                <a:schemeClr val="lt1"/>
              </a:buClr>
              <a:buSzPts val="1700"/>
              <a:buFont typeface="Times New Roman"/>
              <a:buChar char="●"/>
            </a:pPr>
            <a:r>
              <a:rPr lang="en" sz="1700">
                <a:solidFill>
                  <a:schemeClr val="lt1"/>
                </a:solidFill>
                <a:latin typeface="Times New Roman"/>
                <a:ea typeface="Times New Roman"/>
                <a:cs typeface="Times New Roman"/>
                <a:sym typeface="Times New Roman"/>
              </a:rPr>
              <a:t>Main Drone Mold and Additional Model (from previous team)</a:t>
            </a:r>
            <a:endParaRPr sz="1700">
              <a:solidFill>
                <a:schemeClr val="lt1"/>
              </a:solidFill>
              <a:latin typeface="Times New Roman"/>
              <a:ea typeface="Times New Roman"/>
              <a:cs typeface="Times New Roman"/>
              <a:sym typeface="Times New Roman"/>
            </a:endParaRPr>
          </a:p>
          <a:p>
            <a:pPr indent="-336550" lvl="0" marL="457200" rtl="0" algn="l">
              <a:spcBef>
                <a:spcPts val="0"/>
              </a:spcBef>
              <a:spcAft>
                <a:spcPts val="0"/>
              </a:spcAft>
              <a:buClr>
                <a:schemeClr val="lt1"/>
              </a:buClr>
              <a:buSzPts val="1700"/>
              <a:buFont typeface="Times New Roman"/>
              <a:buChar char="●"/>
            </a:pPr>
            <a:r>
              <a:rPr lang="en" sz="1700">
                <a:solidFill>
                  <a:schemeClr val="lt1"/>
                </a:solidFill>
                <a:latin typeface="Times New Roman"/>
                <a:ea typeface="Times New Roman"/>
                <a:cs typeface="Times New Roman"/>
                <a:sym typeface="Times New Roman"/>
              </a:rPr>
              <a:t>Replacement and Ma</a:t>
            </a:r>
            <a:r>
              <a:rPr lang="en" sz="1700">
                <a:solidFill>
                  <a:schemeClr val="lt1"/>
                </a:solidFill>
                <a:latin typeface="Times New Roman"/>
                <a:ea typeface="Times New Roman"/>
                <a:cs typeface="Times New Roman"/>
                <a:sym typeface="Times New Roman"/>
              </a:rPr>
              <a:t>intenance</a:t>
            </a:r>
            <a:r>
              <a:rPr lang="en" sz="1700">
                <a:solidFill>
                  <a:schemeClr val="lt1"/>
                </a:solidFill>
                <a:latin typeface="Times New Roman"/>
                <a:ea typeface="Times New Roman"/>
                <a:cs typeface="Times New Roman"/>
                <a:sym typeface="Times New Roman"/>
              </a:rPr>
              <a:t> Materials</a:t>
            </a:r>
            <a:endParaRPr sz="1700">
              <a:solidFill>
                <a:schemeClr val="lt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430" name="Shape 430"/>
        <p:cNvGrpSpPr/>
        <p:nvPr/>
      </p:nvGrpSpPr>
      <p:grpSpPr>
        <a:xfrm>
          <a:off x="0" y="0"/>
          <a:ext cx="0" cy="0"/>
          <a:chOff x="0" y="0"/>
          <a:chExt cx="0" cy="0"/>
        </a:xfrm>
      </p:grpSpPr>
      <p:sp>
        <p:nvSpPr>
          <p:cNvPr id="431" name="Google Shape;431;p54"/>
          <p:cNvSpPr txBox="1"/>
          <p:nvPr/>
        </p:nvSpPr>
        <p:spPr>
          <a:xfrm>
            <a:off x="779100" y="1831925"/>
            <a:ext cx="7750200" cy="6321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4800">
                <a:solidFill>
                  <a:srgbClr val="FFFFFF"/>
                </a:solidFill>
                <a:latin typeface="Times"/>
                <a:ea typeface="Times"/>
                <a:cs typeface="Times"/>
                <a:sym typeface="Times"/>
              </a:rPr>
              <a:t>Summary</a:t>
            </a:r>
            <a:endParaRPr b="1" sz="4800">
              <a:solidFill>
                <a:srgbClr val="FFFFFF"/>
              </a:solidFill>
              <a:latin typeface="Times"/>
              <a:ea typeface="Times"/>
              <a:cs typeface="Times"/>
              <a:sym typeface="Times"/>
            </a:endParaRPr>
          </a:p>
          <a:p>
            <a:pPr indent="0" lvl="0" marL="0" marR="0" rtl="0" algn="ctr">
              <a:lnSpc>
                <a:spcPct val="75000"/>
              </a:lnSpc>
              <a:spcBef>
                <a:spcPts val="0"/>
              </a:spcBef>
              <a:spcAft>
                <a:spcPts val="0"/>
              </a:spcAft>
              <a:buClr>
                <a:srgbClr val="000000"/>
              </a:buClr>
              <a:buSzPts val="1800"/>
              <a:buFont typeface="Arial"/>
              <a:buNone/>
            </a:pPr>
            <a:r>
              <a:t/>
            </a:r>
            <a:endParaRPr b="1" sz="3000">
              <a:solidFill>
                <a:srgbClr val="FFFFFF"/>
              </a:solidFill>
              <a:latin typeface="Times"/>
              <a:ea typeface="Times"/>
              <a:cs typeface="Times"/>
              <a:sym typeface="Times"/>
            </a:endParaRPr>
          </a:p>
        </p:txBody>
      </p:sp>
      <p:sp>
        <p:nvSpPr>
          <p:cNvPr id="432" name="Google Shape;432;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5"/>
          <p:cNvSpPr txBox="1"/>
          <p:nvPr>
            <p:ph idx="4294967295" type="ctrTitle"/>
          </p:nvPr>
        </p:nvSpPr>
        <p:spPr>
          <a:xfrm>
            <a:off x="2590788" y="-52307"/>
            <a:ext cx="3962400" cy="486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Calibri"/>
              <a:buNone/>
            </a:pPr>
            <a:r>
              <a:rPr b="1" lang="en" sz="3000">
                <a:solidFill>
                  <a:srgbClr val="FFFFFF"/>
                </a:solidFill>
                <a:latin typeface="Times"/>
                <a:ea typeface="Times"/>
                <a:cs typeface="Times"/>
                <a:sym typeface="Times"/>
              </a:rPr>
              <a:t>Summary</a:t>
            </a:r>
            <a:endParaRPr i="0" sz="3000" u="none" cap="none" strike="noStrike">
              <a:solidFill>
                <a:srgbClr val="FFFFFF"/>
              </a:solidFill>
              <a:latin typeface="Times"/>
              <a:ea typeface="Times"/>
              <a:cs typeface="Times"/>
              <a:sym typeface="Times"/>
            </a:endParaRPr>
          </a:p>
        </p:txBody>
      </p:sp>
      <p:sp>
        <p:nvSpPr>
          <p:cNvPr id="438" name="Google Shape;438;p5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439" name="Google Shape;439;p55"/>
          <p:cNvSpPr txBox="1"/>
          <p:nvPr/>
        </p:nvSpPr>
        <p:spPr>
          <a:xfrm>
            <a:off x="295050" y="778500"/>
            <a:ext cx="8553900" cy="37866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0"/>
              </a:spcAft>
              <a:buNone/>
            </a:pPr>
            <a:r>
              <a:rPr b="1" lang="en" sz="1700">
                <a:solidFill>
                  <a:schemeClr val="lt1"/>
                </a:solidFill>
                <a:latin typeface="Times New Roman"/>
                <a:ea typeface="Times New Roman"/>
                <a:cs typeface="Times New Roman"/>
                <a:sym typeface="Times New Roman"/>
              </a:rPr>
              <a:t>Overview of Project</a:t>
            </a:r>
            <a:endParaRPr b="1" sz="1700">
              <a:solidFill>
                <a:schemeClr val="lt1"/>
              </a:solidFill>
              <a:latin typeface="Times New Roman"/>
              <a:ea typeface="Times New Roman"/>
              <a:cs typeface="Times New Roman"/>
              <a:sym typeface="Times New Roman"/>
            </a:endParaRPr>
          </a:p>
          <a:p>
            <a:pPr indent="-336550" lvl="0" marL="457200" rtl="0" algn="l">
              <a:spcBef>
                <a:spcPts val="120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Deployable drone to monitor ocean health</a:t>
            </a:r>
            <a:endParaRPr b="1" sz="1700">
              <a:solidFill>
                <a:schemeClr val="lt1"/>
              </a:solidFill>
              <a:latin typeface="Times New Roman"/>
              <a:ea typeface="Times New Roman"/>
              <a:cs typeface="Times New Roman"/>
              <a:sym typeface="Times New Roman"/>
            </a:endParaRPr>
          </a:p>
          <a:p>
            <a:pPr indent="-336550" lvl="1" marL="914400" rtl="0" algn="l">
              <a:spcBef>
                <a:spcPts val="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pH, salinity, temperature sensors</a:t>
            </a:r>
            <a:endParaRPr b="1" sz="1700">
              <a:solidFill>
                <a:schemeClr val="lt1"/>
              </a:solidFill>
              <a:latin typeface="Times New Roman"/>
              <a:ea typeface="Times New Roman"/>
              <a:cs typeface="Times New Roman"/>
              <a:sym typeface="Times New Roman"/>
            </a:endParaRPr>
          </a:p>
          <a:p>
            <a:pPr indent="-336550" lvl="0" marL="457200" rtl="0" algn="l">
              <a:spcBef>
                <a:spcPts val="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Autonomous swarm navigation system</a:t>
            </a:r>
            <a:endParaRPr b="1" sz="1700">
              <a:solidFill>
                <a:schemeClr val="lt1"/>
              </a:solidFill>
              <a:latin typeface="Times New Roman"/>
              <a:ea typeface="Times New Roman"/>
              <a:cs typeface="Times New Roman"/>
              <a:sym typeface="Times New Roman"/>
            </a:endParaRPr>
          </a:p>
          <a:p>
            <a:pPr indent="-336550" lvl="1" marL="914400" rtl="0" algn="l">
              <a:spcBef>
                <a:spcPts val="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Controllable</a:t>
            </a:r>
            <a:r>
              <a:rPr b="1" lang="en" sz="1700">
                <a:solidFill>
                  <a:schemeClr val="lt1"/>
                </a:solidFill>
                <a:latin typeface="Times New Roman"/>
                <a:ea typeface="Times New Roman"/>
                <a:cs typeface="Times New Roman"/>
                <a:sym typeface="Times New Roman"/>
              </a:rPr>
              <a:t> from anywhere in the world over Tail Scale</a:t>
            </a:r>
            <a:endParaRPr b="1" sz="1700">
              <a:solidFill>
                <a:schemeClr val="lt1"/>
              </a:solidFill>
              <a:latin typeface="Times New Roman"/>
              <a:ea typeface="Times New Roman"/>
              <a:cs typeface="Times New Roman"/>
              <a:sym typeface="Times New Roman"/>
            </a:endParaRPr>
          </a:p>
          <a:p>
            <a:pPr indent="-336550" lvl="1" marL="914400" rtl="0" algn="l">
              <a:spcBef>
                <a:spcPts val="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Waypoint-based movement</a:t>
            </a:r>
            <a:endParaRPr b="1" sz="1700">
              <a:solidFill>
                <a:schemeClr val="lt1"/>
              </a:solidFill>
              <a:latin typeface="Times New Roman"/>
              <a:ea typeface="Times New Roman"/>
              <a:cs typeface="Times New Roman"/>
              <a:sym typeface="Times New Roman"/>
            </a:endParaRPr>
          </a:p>
          <a:p>
            <a:pPr indent="-336550" lvl="1" marL="914400" rtl="0" algn="l">
              <a:spcBef>
                <a:spcPts val="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Individual drone selection </a:t>
            </a:r>
            <a:endParaRPr b="1" sz="1700">
              <a:solidFill>
                <a:schemeClr val="lt1"/>
              </a:solidFill>
              <a:latin typeface="Times New Roman"/>
              <a:ea typeface="Times New Roman"/>
              <a:cs typeface="Times New Roman"/>
              <a:sym typeface="Times New Roman"/>
            </a:endParaRPr>
          </a:p>
          <a:p>
            <a:pPr indent="0" lvl="0" marL="0" rtl="0" algn="l">
              <a:spcBef>
                <a:spcPts val="1200"/>
              </a:spcBef>
              <a:spcAft>
                <a:spcPts val="0"/>
              </a:spcAft>
              <a:buNone/>
            </a:pPr>
            <a:r>
              <a:rPr b="1" lang="en" sz="1700">
                <a:solidFill>
                  <a:schemeClr val="lt1"/>
                </a:solidFill>
                <a:latin typeface="Times New Roman"/>
                <a:ea typeface="Times New Roman"/>
                <a:cs typeface="Times New Roman"/>
                <a:sym typeface="Times New Roman"/>
              </a:rPr>
              <a:t>Next steps</a:t>
            </a:r>
            <a:endParaRPr b="1" sz="1700">
              <a:solidFill>
                <a:schemeClr val="lt1"/>
              </a:solidFill>
              <a:latin typeface="Times New Roman"/>
              <a:ea typeface="Times New Roman"/>
              <a:cs typeface="Times New Roman"/>
              <a:sym typeface="Times New Roman"/>
            </a:endParaRPr>
          </a:p>
          <a:p>
            <a:pPr indent="-336550" lvl="0" marL="457200" rtl="0" algn="l">
              <a:spcBef>
                <a:spcPts val="120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Communication between main drone and RC boats</a:t>
            </a:r>
            <a:endParaRPr b="1" sz="1700">
              <a:solidFill>
                <a:schemeClr val="lt1"/>
              </a:solidFill>
              <a:latin typeface="Times New Roman"/>
              <a:ea typeface="Times New Roman"/>
              <a:cs typeface="Times New Roman"/>
              <a:sym typeface="Times New Roman"/>
            </a:endParaRPr>
          </a:p>
          <a:p>
            <a:pPr indent="-336550" lvl="0" marL="457200" rtl="0" algn="l">
              <a:spcBef>
                <a:spcPts val="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Implement Starlink and secure Electronics Stack</a:t>
            </a:r>
            <a:endParaRPr b="1" sz="1700">
              <a:solidFill>
                <a:schemeClr val="lt1"/>
              </a:solidFill>
              <a:latin typeface="Times New Roman"/>
              <a:ea typeface="Times New Roman"/>
              <a:cs typeface="Times New Roman"/>
              <a:sym typeface="Times New Roman"/>
            </a:endParaRPr>
          </a:p>
          <a:p>
            <a:pPr indent="-336550" lvl="0" marL="457200" rtl="0" algn="l">
              <a:spcBef>
                <a:spcPts val="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Connect Sensors</a:t>
            </a:r>
            <a:endParaRPr b="1" sz="1700">
              <a:solidFill>
                <a:schemeClr val="lt1"/>
              </a:solidFill>
              <a:latin typeface="Times New Roman"/>
              <a:ea typeface="Times New Roman"/>
              <a:cs typeface="Times New Roman"/>
              <a:sym typeface="Times New Roman"/>
            </a:endParaRPr>
          </a:p>
          <a:p>
            <a:pPr indent="-336550" lvl="0" marL="457200" rtl="0" algn="l">
              <a:spcBef>
                <a:spcPts val="0"/>
              </a:spcBef>
              <a:spcAft>
                <a:spcPts val="0"/>
              </a:spcAft>
              <a:buClr>
                <a:schemeClr val="lt1"/>
              </a:buClr>
              <a:buSzPts val="1700"/>
              <a:buFont typeface="Times New Roman"/>
              <a:buChar char="●"/>
            </a:pPr>
            <a:r>
              <a:rPr b="1" lang="en" sz="1700">
                <a:solidFill>
                  <a:schemeClr val="lt1"/>
                </a:solidFill>
                <a:latin typeface="Times New Roman"/>
                <a:ea typeface="Times New Roman"/>
                <a:cs typeface="Times New Roman"/>
                <a:sym typeface="Times New Roman"/>
              </a:rPr>
              <a:t>Testing in aquatic environment</a:t>
            </a:r>
            <a:endParaRPr b="1" sz="17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43" name="Shape 443"/>
        <p:cNvGrpSpPr/>
        <p:nvPr/>
      </p:nvGrpSpPr>
      <p:grpSpPr>
        <a:xfrm>
          <a:off x="0" y="0"/>
          <a:ext cx="0" cy="0"/>
          <a:chOff x="0" y="0"/>
          <a:chExt cx="0" cy="0"/>
        </a:xfrm>
      </p:grpSpPr>
      <p:sp>
        <p:nvSpPr>
          <p:cNvPr id="444" name="Google Shape;444;p56"/>
          <p:cNvSpPr txBox="1"/>
          <p:nvPr>
            <p:ph type="title"/>
          </p:nvPr>
        </p:nvSpPr>
        <p:spPr>
          <a:xfrm>
            <a:off x="628650" y="2121948"/>
            <a:ext cx="7886700" cy="990300"/>
          </a:xfrm>
          <a:prstGeom prst="rect">
            <a:avLst/>
          </a:prstGeom>
          <a:solidFill>
            <a:schemeClr val="lt1"/>
          </a:solidFill>
          <a:ln>
            <a:noFill/>
          </a:ln>
        </p:spPr>
        <p:txBody>
          <a:bodyPr anchorCtr="0" anchor="ctr" bIns="41575" lIns="41575" spcFirstLastPara="1" rIns="41575" wrap="square" tIns="41575">
            <a:noAutofit/>
          </a:bodyPr>
          <a:lstStyle/>
          <a:p>
            <a:pPr indent="0" lvl="0" marL="0" rtl="0" algn="ctr">
              <a:lnSpc>
                <a:spcPct val="100000"/>
              </a:lnSpc>
              <a:spcBef>
                <a:spcPts val="0"/>
              </a:spcBef>
              <a:spcAft>
                <a:spcPts val="0"/>
              </a:spcAft>
              <a:buSzPts val="4400"/>
              <a:buNone/>
            </a:pPr>
            <a:r>
              <a:rPr lang="en">
                <a:latin typeface="Times"/>
                <a:ea typeface="Times"/>
                <a:cs typeface="Times"/>
                <a:sym typeface="Times"/>
              </a:rPr>
              <a:t>Questions &amp; Discussion</a:t>
            </a:r>
            <a:endParaRPr>
              <a:latin typeface="Times"/>
              <a:ea typeface="Times"/>
              <a:cs typeface="Times"/>
              <a:sym typeface="Times"/>
            </a:endParaRPr>
          </a:p>
        </p:txBody>
      </p:sp>
      <p:sp>
        <p:nvSpPr>
          <p:cNvPr id="445" name="Google Shape;445;p5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