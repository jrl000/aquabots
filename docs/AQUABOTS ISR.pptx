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Playfair Display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14F252-F212-42F1-B2F6-83C8442DA545}">
  <a:tblStyle styleId="{DD14F252-F212-42F1-B2F6-83C8442DA5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8A4AE2F-9757-44FD-B27A-7648E2E99CB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0FB5A20-927C-4031-8E6C-34F8217510DE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F6BA54F-9E7F-4C25-9C4B-7FC32969BF42}" styleName="Table_3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PlayfairDisplay-bold.fntdata"/><Relationship Id="rId12" Type="http://schemas.openxmlformats.org/officeDocument/2006/relationships/slide" Target="slides/slide7.xml"/><Relationship Id="rId56" Type="http://schemas.openxmlformats.org/officeDocument/2006/relationships/font" Target="fonts/PlayfairDisplay-regular.fntdata"/><Relationship Id="rId15" Type="http://schemas.openxmlformats.org/officeDocument/2006/relationships/slide" Target="slides/slide10.xml"/><Relationship Id="rId59" Type="http://schemas.openxmlformats.org/officeDocument/2006/relationships/font" Target="fonts/PlayfairDisplay-boldItalic.fntdata"/><Relationship Id="rId14" Type="http://schemas.openxmlformats.org/officeDocument/2006/relationships/slide" Target="slides/slide9.xml"/><Relationship Id="rId58" Type="http://schemas.openxmlformats.org/officeDocument/2006/relationships/font" Target="fonts/PlayfairDisplay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49c5a3120_1_3:notes"/>
          <p:cNvSpPr/>
          <p:nvPr>
            <p:ph idx="2" type="sldImg"/>
          </p:nvPr>
        </p:nvSpPr>
        <p:spPr>
          <a:xfrm>
            <a:off x="2143305" y="685415"/>
            <a:ext cx="25725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4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949c5a312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525" lIns="107525" spcFirstLastPara="1" rIns="107525" wrap="square" tIns="10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47e4820f3_1_5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947e4820f3_1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9e7c6a378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99e7c6a37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d624c8a72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8d624c8a72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9e7c6a378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99e7c6a3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929ca9f96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g3c929ca9f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9e7c6a378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99e7c6a37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8db8267328_0_5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8db8267328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b880e518d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b880e518d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All comms system parts ordered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Want to integrate the power system before putting the comms system together, so waiting to do that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ca1bd0c50b_2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ca1bd0c50b_2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All power system parts ordered — $587 total across Amazon and Castle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Awaiting delivery — assembly begins immediately on arrival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No design changes needed, this is a straight build-and-integrate task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929ca9f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929ca9f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 &amp; Robert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929ca9f9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929ca9f9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db8267328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g38db826732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effe0e8b1_5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aeffe0e8b1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Kama: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Assembly Drawing with minor updates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U</a:t>
            </a:r>
            <a:r>
              <a:rPr lang="en">
                <a:solidFill>
                  <a:schemeClr val="dk1"/>
                </a:solidFill>
              </a:rPr>
              <a:t>pdated motor mount fitted to the bottom shell of the hull</a:t>
            </a:r>
            <a:endParaRPr/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Reflects slimmer sensor mount and camera mount that fits flush to the top shell of the hull, which we’ll talk about later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f59db6172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bf59db617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Kama: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Shelf subassembly hasn’t undergone any changes since CDR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929ca9f96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c929ca9f9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06eee3622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06eee3622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66758fa6bb0e9b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66758fa6bb0e9b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Kama: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On left, comparison of COB to COM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 can be seen that COM is below the COM, </a:t>
            </a:r>
            <a:r>
              <a:rPr lang="en"/>
              <a:t>suggesting self-righting capabilities after modifications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Initial self-righting tests were passed very convincingly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Also, there’s a small offset along the transverse axis which will be reflected by a slight change in pitch when sitting in the water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offset in the longitudinal direction is negligible, meaning that no roll is expected due to added mass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Initial waterproof testing was also done with kimwipes, which was completely successful when: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Turning propeller shaft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Flipping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Holding underwater at different orientations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For extra waterproofing safety, several precautions have been taken (ordering upgraded washers, waterproof sealant, and a bilge pump)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After all of the components are integrated by March 23, final testing for both waterproofing and self-righting will be conducted soon after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a1bd0c50b_2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a1bd0c50b_2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Six integration interfaces crossing subsystem boundaries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IF-6 (drone↔drone ESP-NOW) is the only one fully complete — my primary deliverable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Remaining five interfaces: specs due this week (Phase 0), paired testing follows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Critical path: IF-1 (ESP32↔Pixhawk via MAVLink)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Each interface has paired ownership across team members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a1bd0c50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ca1bd0c50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Here's the full nine-step roadmap. Top row is infrastructure:  modular scaffolding, persistent identity, and auto-discovery.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Middle row is coordination: Leader election with TDMA, the command engine, and now formation control.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six of these are complete and verified on hardware.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 row is planned: sensor scaffolding, mmWave radar integration, and avoidance policy tuning.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ca1bd0c50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ca1bd0c50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Six of my nine swarm logic steps are complete. Steps one through five built the core: transport, identity, auto-discovery, leader election, and command distribution.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en" sz="1200">
                <a:solidFill>
                  <a:schemeClr val="dk1"/>
                </a:solidFill>
              </a:rPr>
              <a:t>Step six, which I just finished, adds formation control. The remaining three steps handle obstacle sensing and avoidance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dk1"/>
                </a:solidFill>
              </a:rPr>
              <a:t>Key numbers: the architecture supports up to 50 nodes, zero percent packet loss, sub-5ms round-trip latency, and under 50 milliseconds end-to-end command latency.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dk1"/>
                </a:solidFill>
              </a:rPr>
              <a:t>5.1.8 Obstacle Avoidance: Each AQUABOT drone shall detect and avoid obstacles within a 2 meter radius.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ca1bd0c50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ca1bd0c50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 six adds formation control. Four patterns shown here: line, wedge, circle, and individual.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leader sets the formation type and spacing, broadcasts the config to all nodes, and each node calculates its own position offset based on its index.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Verified on hardware February 09, and the table shows position calculations for line and wedge at different spacings, all correct.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Non-leader restriction is enforced. The followers can't set formation. And every feature from steps one through five still works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5.4.3 Data Relay AQUABOT drones shall transmit collected sensor and positional data to the command unit which shall serve as the primary relay node. - partially verified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5.4.6 </a:t>
            </a: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-"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5.4.6 Swarm Control: The AQUABOT swarm shall maintain coordinated network behavior through a leader-follower model executed via Jetson Mission Computer and MQTT topics. Each drone shall publish and subscribe to swarm state messages at ≥ 1 Hz with &lt; 1 s latency.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ca1bd0c50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ca1bd0c50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on ESP32 with ESP-NOW, that's direct peer-to-peer, so no WiFi access point needed.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lightweight: under five percent CPU, about 10 kilobytes of RAM.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key performance metrics, all exceeding requirements. Four to five millisecond round-trip, zero percent packet loss, excellent signal strength, and two to four second discovery time.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a1bd0c50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ca1bd0c50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Requirement 4.4.2 currently at PARTIAL PASS, advancing to FULL PASS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SRVM update two interface requirements.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4.4.1 Autonomy and Control, no change. Still partial pass for demonstration, which depends on propulsion integration.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4.4.2 Inter-Drone Communication, we've made progress on two fronts. Test has been upgraded from partial pass to full pass — steps one through six are all verified on hardware with zero packet loss and sub-five-millisecond latency.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Demonstration has been upgraded from X to partial pass — we've shown end-to-end swarm communication on two nodes. Path to full pass is completing steps seven through nine and running a multi-node testing and demonstration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5.4.3 Data Relay AQUABOT drones shall transmit collected sensor and positional data to the command unit which shall serve as the primary relay node.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a1bd0c50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ca1bd0c50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Power architecture unchanged from CDR — same battery, same voltage rails, same converters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What DID change: upgraded fuse protection — 80A to 150A main, added dedicated 125A motor fuse, proper marine-grade fuse blocks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Added thermal management and cleaner DC connections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Key numbers: 22.2V battery, ~155W cruise, ~51 minutes endurance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a1bd0c50b_2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ca1bd0c50b_2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Battery feeds through 150A MRBF fuse and kill switch to bus bars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Bus bars distribute 22.2V to fused branches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MIDI 125A fuse protects the motor/ESC branch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ST Blade ATO fuses protect aux circuits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Converters step down to 12V (Jetson), 5V (ESP32), and 12V for Starlink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BEC pro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vides 7.4V for rudder servo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ca1bd0c50b_2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ca1bd0c50b_2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Battery connects through 8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AWG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wire to MRBF 150A main fuse, then kill switch, then + bus bar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Each branch is individually fused: MIDI 125A for motor, ATO fuses for aux circuits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Wire gauges sized to current: 10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AWG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motor (54A max), 16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AWG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PoE/boost, 18-20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AWG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logic converters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Signal interconnects: UART for Pixhawk and Jetson, PWM for ESC, CSI for camera, Ethernet for Starlink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c929ca9f96_0_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g3c929ca9f9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a3deda4d5a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g3a3deda4d5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c929ca9f96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3c929ca9f9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g3bf49fae74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0" name="Google Shape;690;g3bf49fae74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3bf49fae7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3bf49fae7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9a3e898778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6" name="Google Shape;726;g39a3e898778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c929ca9f96_0_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c929ca9f9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3ca46660a72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3ca46660a72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c09163feb9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3c09163feb9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Comms requirements are partially verified: survivability and inter-drone comms are in good shape, just need real-environment validation. Data relay and formation control are pending subsystem integration with Jamie and the propulsion team. Swarm control needs the ESP32-to-Jetson bridge — that's our Week 12 target. Every requirement has a clear close-out path.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cacfe9b929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g3cacfe9b92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Alex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c929ca9f96_0_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0" name="Google Shape;780;g3c929ca9f9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a3deda4d5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1" name="Google Shape;801;g3a3deda4d5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c929ca9f96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g3c929ca9f9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99e7c6a378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g399e7c6a37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3ca93a5ec9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1" name="Google Shape;821;g3ca93a5ec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ca93a5ec9b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g3ca93a5ec9b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ca93a5ec9b_0_1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g3ca93a5ec9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99e7c6a378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5" name="Google Shape;845;g399e7c6a37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g38db8267328_0_5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g38db8267328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947e4820f3_1_7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2" name="Google Shape;862;g3947e4820f3_1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8d624c8a72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g38d624c8a7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9b880e518d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39b880e518d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Kama: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Accomplishments we’re most proud of: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First, we’ve been productive since CDR, being able to fully pass several major requirements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Next, we’ve put in a lot of work totwards inter-drone communication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Established a strong connection </a:t>
            </a:r>
            <a:r>
              <a:rPr lang="en"/>
              <a:t>between</a:t>
            </a:r>
            <a:r>
              <a:rPr lang="en"/>
              <a:t> 2 drones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Preparations made toward inter-drone comms within a swarm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Progress towards physical integration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We’ve also </a:t>
            </a:r>
            <a:r>
              <a:rPr lang="en"/>
              <a:t>successfully</a:t>
            </a:r>
            <a:r>
              <a:rPr lang="en"/>
              <a:t> integrated the motor into the aquabot, with adaptations made to the previous teams’ work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en"/>
              <a:t>Mounts printed and partially integrated to allow for sensing in the future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We’ve also been able to make significant progress towards completing the GUI and transmitting data from our sensors to the ground station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As FAR approaches, we’re most concerned with environmental factors: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Things such as waves, weather, or interference between drones and outside equipment could affect the system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We may see results deviating from those found during testing, so we plan to introduce factors like this as we continue verification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Thank you for attending our ISR presentation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9a3e898778_3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525" lIns="107525" spcFirstLastPara="1" rIns="107525" wrap="square" tIns="10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882" name="Google Shape;882;g39a3e898778_3_262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4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Section Title - No Subtitle" showMasterSp="0">
  <p:cSld name="Blank">
    <p:bg>
      <p:bgPr>
        <a:solidFill>
          <a:srgbClr val="0C343D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357552" y="2912073"/>
            <a:ext cx="429054" cy="0"/>
          </a:xfrm>
          <a:custGeom>
            <a:rect b="b" l="l" r="r" t="t"/>
            <a:pathLst>
              <a:path extrusionOk="0" h="120000" w="942975">
                <a:moveTo>
                  <a:pt x="0" y="0"/>
                </a:moveTo>
                <a:lnTo>
                  <a:pt x="942379" y="0"/>
                </a:lnTo>
              </a:path>
            </a:pathLst>
          </a:custGeom>
          <a:noFill/>
          <a:ln cap="flat" cmpd="sng" w="34650">
            <a:solidFill>
              <a:srgbClr val="BD2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45482" y="4225822"/>
            <a:ext cx="2169721" cy="51172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/>
          <p:nvPr/>
        </p:nvSpPr>
        <p:spPr>
          <a:xfrm>
            <a:off x="0" y="45"/>
            <a:ext cx="317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223073" y="0"/>
            <a:ext cx="34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628676" y="1975381"/>
            <a:ext cx="7886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58" y="4444583"/>
            <a:ext cx="533682" cy="50053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-5" y="4804350"/>
            <a:ext cx="4154400" cy="4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4968545" y="4804350"/>
            <a:ext cx="4154400" cy="4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7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58" y="4444583"/>
            <a:ext cx="533682" cy="50053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-5" y="4804350"/>
            <a:ext cx="4154400" cy="4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968545" y="4804350"/>
            <a:ext cx="4154400" cy="4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 rotWithShape="1">
          <a:blip r:embed="rId2">
            <a:alphaModFix amt="70000"/>
          </a:blip>
          <a:srcRect b="0" l="0" r="0" t="0"/>
          <a:stretch/>
        </p:blipFill>
        <p:spPr>
          <a:xfrm>
            <a:off x="-3555174" y="-2077542"/>
            <a:ext cx="7790113" cy="7790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3193482" y="-2508771"/>
            <a:ext cx="8325150" cy="83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/>
          <p:nvPr/>
        </p:nvSpPr>
        <p:spPr>
          <a:xfrm>
            <a:off x="4357552" y="2912073"/>
            <a:ext cx="429054" cy="0"/>
          </a:xfrm>
          <a:custGeom>
            <a:rect b="b" l="l" r="r" t="t"/>
            <a:pathLst>
              <a:path extrusionOk="0" h="120000" w="942975">
                <a:moveTo>
                  <a:pt x="0" y="0"/>
                </a:moveTo>
                <a:lnTo>
                  <a:pt x="942379" y="0"/>
                </a:lnTo>
              </a:path>
            </a:pathLst>
          </a:custGeom>
          <a:noFill/>
          <a:ln cap="flat" cmpd="sng" w="34650">
            <a:solidFill>
              <a:srgbClr val="BD2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5482" y="4225822"/>
            <a:ext cx="2169721" cy="51172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628676" y="1975381"/>
            <a:ext cx="7886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172F">
            <a:alpha val="8994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1" Type="http://schemas.openxmlformats.org/officeDocument/2006/relationships/image" Target="../media/image55.jpg"/><Relationship Id="rId10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4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6.jpg"/><Relationship Id="rId4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Relationship Id="rId8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9.png"/><Relationship Id="rId5" Type="http://schemas.openxmlformats.org/officeDocument/2006/relationships/image" Target="../media/image28.png"/><Relationship Id="rId6" Type="http://schemas.openxmlformats.org/officeDocument/2006/relationships/image" Target="../media/image54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jpg"/><Relationship Id="rId4" Type="http://schemas.openxmlformats.org/officeDocument/2006/relationships/image" Target="../media/image36.jpg"/><Relationship Id="rId5" Type="http://schemas.openxmlformats.org/officeDocument/2006/relationships/image" Target="../media/image4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Relationship Id="rId4" Type="http://schemas.openxmlformats.org/officeDocument/2006/relationships/hyperlink" Target="http://drive.google.com/file/d/1w2jgycQAEDaCi23vWoSlq1s6WjIXBxyH/view" TargetMode="External"/><Relationship Id="rId5" Type="http://schemas.openxmlformats.org/officeDocument/2006/relationships/image" Target="../media/image3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0.png"/><Relationship Id="rId4" Type="http://schemas.openxmlformats.org/officeDocument/2006/relationships/image" Target="../media/image53.png"/><Relationship Id="rId5" Type="http://schemas.openxmlformats.org/officeDocument/2006/relationships/image" Target="../media/image38.png"/><Relationship Id="rId6" Type="http://schemas.openxmlformats.org/officeDocument/2006/relationships/image" Target="../media/image49.png"/><Relationship Id="rId7" Type="http://schemas.openxmlformats.org/officeDocument/2006/relationships/image" Target="../media/image31.png"/><Relationship Id="rId8" Type="http://schemas.openxmlformats.org/officeDocument/2006/relationships/image" Target="../media/image3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39.png"/><Relationship Id="rId6" Type="http://schemas.openxmlformats.org/officeDocument/2006/relationships/image" Target="../media/image45.png"/><Relationship Id="rId7" Type="http://schemas.openxmlformats.org/officeDocument/2006/relationships/image" Target="../media/image5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297700" y="898400"/>
            <a:ext cx="8664600" cy="2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5400">
                <a:latin typeface="Times"/>
                <a:ea typeface="Times"/>
                <a:cs typeface="Times"/>
                <a:sym typeface="Times"/>
              </a:rPr>
              <a:t>AQUABOTS Aeropak</a:t>
            </a:r>
            <a:endParaRPr sz="54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3800">
                <a:latin typeface="Times"/>
                <a:ea typeface="Times"/>
                <a:cs typeface="Times"/>
                <a:sym typeface="Times"/>
              </a:rPr>
              <a:t>Integrated Status Review</a:t>
            </a:r>
            <a:endParaRPr sz="3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532800" y="3316275"/>
            <a:ext cx="20784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Team 26061</a:t>
            </a:r>
            <a:endParaRPr sz="2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3435900" y="210008"/>
            <a:ext cx="22722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Overview</a:t>
            </a:r>
            <a:endParaRPr b="1" i="0" sz="30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1174000" y="742941"/>
            <a:ext cx="3657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1.0 </a:t>
            </a: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2.0 Post-CDR Changes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3.0 Parts Status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 Assembly and Integration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5.0 Testing and Verification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6.0 Risk Analysis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7.0 Budget and Deliverables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8.0 Summary</a:t>
            </a:r>
            <a:endParaRPr sz="1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696900" y="1980300"/>
            <a:ext cx="77502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Introduction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538200" y="773050"/>
            <a:ext cx="6420300" cy="29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"/>
              <a:buChar char="●"/>
            </a:pPr>
            <a:r>
              <a:rPr lang="en" sz="1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Jamie Ledbetter, Biosystems Engineering – Team Lead</a:t>
            </a:r>
            <a:endParaRPr sz="1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"/>
              <a:buChar char="●"/>
            </a:pPr>
            <a:r>
              <a:rPr lang="en" sz="1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Robert Wilkie, Aerospace Engineering – Procurement Lead</a:t>
            </a:r>
            <a:endParaRPr sz="1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"/>
              <a:buChar char="●"/>
            </a:pPr>
            <a:r>
              <a:rPr lang="en" sz="1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Alex Imrich, Aerospace Engineering</a:t>
            </a:r>
            <a:endParaRPr sz="1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"/>
              <a:buChar char="●"/>
            </a:pPr>
            <a:r>
              <a:rPr lang="en" sz="1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John Lopez, Electrical Engineering </a:t>
            </a:r>
            <a:endParaRPr sz="1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"/>
              <a:buChar char="●"/>
            </a:pPr>
            <a:r>
              <a:rPr lang="en" sz="1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Mayra Mendoza, Optical Engineering</a:t>
            </a:r>
            <a:endParaRPr sz="1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"/>
              <a:buChar char="●"/>
            </a:pPr>
            <a:r>
              <a:rPr lang="en" sz="18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Kama Henriques, Mechanical Engineering</a:t>
            </a:r>
            <a:endParaRPr sz="18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696900" y="123737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Our</a:t>
            </a: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 Team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2743200" y="0"/>
            <a:ext cx="365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Project Summary</a:t>
            </a:r>
            <a:endParaRPr i="0" sz="18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21"/>
          <p:cNvSpPr txBox="1"/>
          <p:nvPr/>
        </p:nvSpPr>
        <p:spPr>
          <a:xfrm>
            <a:off x="0" y="455550"/>
            <a:ext cx="4736700" cy="44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Rapid, real-time environmental monitoring in marine and coastal environments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Deployment: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Ocean-deployed drones self-orient within 1 minute and follow remotely set paths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 Station: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video stream from main drone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environmental data from all drones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GEO-overlay for spatial monitoring and mission control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Hull &amp; Structure: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Self-righting, waterproof, impact-resistant design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Fiberglass enclosure protecting internal systems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21"/>
          <p:cNvSpPr txBox="1"/>
          <p:nvPr/>
        </p:nvSpPr>
        <p:spPr>
          <a:xfrm>
            <a:off x="4846325" y="455550"/>
            <a:ext cx="4151400" cy="31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Communication: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Starlink satellite antenna for continuous remote connectivity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Onboard Systems: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Jetson Nano – Controls motors, servos, and live video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– Collects GPS, time, altitude, temperature, pH, and conductivity data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3">
            <a:alphaModFix/>
          </a:blip>
          <a:srcRect b="11317" l="4034" r="6529" t="17014"/>
          <a:stretch/>
        </p:blipFill>
        <p:spPr>
          <a:xfrm>
            <a:off x="5782361" y="3236025"/>
            <a:ext cx="2279326" cy="136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6171419" y="4513644"/>
            <a:ext cx="15012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39"/>
              </a:spcBef>
              <a:spcAft>
                <a:spcPts val="0"/>
              </a:spcAft>
              <a:buNone/>
            </a:pPr>
            <a:r>
              <a:rPr i="1" lang="en" sz="84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of AQUABOT Hull</a:t>
            </a:r>
            <a:endParaRPr i="1" sz="848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696900" y="1993107"/>
            <a:ext cx="77502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Post-CDR Changes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/>
        </p:nvSpPr>
        <p:spPr>
          <a:xfrm>
            <a:off x="1787250" y="154725"/>
            <a:ext cx="556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Post-C</a:t>
            </a: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DR Changes</a:t>
            </a:r>
            <a:endParaRPr i="0" sz="18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3" name="Google Shape;12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" name="Google Shape;124;p23"/>
          <p:cNvSpPr txBox="1"/>
          <p:nvPr/>
        </p:nvSpPr>
        <p:spPr>
          <a:xfrm>
            <a:off x="488250" y="889686"/>
            <a:ext cx="8167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lt1"/>
                </a:solidFill>
                <a:highlight>
                  <a:srgbClr val="ED0B0B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Action Items: </a:t>
            </a:r>
            <a:r>
              <a:rPr b="1" lang="en" sz="1800">
                <a:solidFill>
                  <a:schemeClr val="lt1"/>
                </a:solidFill>
                <a:highlight>
                  <a:srgbClr val="ED0B0B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Detailed</a:t>
            </a:r>
            <a:r>
              <a:rPr b="1" lang="en" sz="1800">
                <a:solidFill>
                  <a:schemeClr val="lt1"/>
                </a:solidFill>
                <a:highlight>
                  <a:srgbClr val="ED0B0B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integration plans for both software and hardware</a:t>
            </a:r>
            <a:endParaRPr b="1" sz="1800">
              <a:solidFill>
                <a:schemeClr val="lt1"/>
              </a:solidFill>
              <a:highlight>
                <a:srgbClr val="ED0B0B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Modified sensor selection– prior pH sensors faulty due to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improper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maintenance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Modified sensor and camera mounts to provide more stability and minimize drag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flight controller to reduce control software risks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676650" y="4041650"/>
            <a:ext cx="2208300" cy="5253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All Action Items Closed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696900" y="1980300"/>
            <a:ext cx="77502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Parts Status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/>
        </p:nvSpPr>
        <p:spPr>
          <a:xfrm>
            <a:off x="664950" y="183500"/>
            <a:ext cx="781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Communications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219900" y="742200"/>
            <a:ext cx="87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39" name="Google Shape;139;p25"/>
          <p:cNvGraphicFramePr/>
          <p:nvPr/>
        </p:nvGraphicFramePr>
        <p:xfrm>
          <a:off x="819450" y="949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{DD14F252-F212-42F1-B2F6-83C8442DA545}</a:tableStyleId>
              </a:tblPr>
              <a:tblGrid>
                <a:gridCol w="1721350"/>
                <a:gridCol w="2031200"/>
                <a:gridCol w="2031200"/>
                <a:gridCol w="2031200"/>
              </a:tblGrid>
              <a:tr h="38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 Name</a:t>
                      </a:r>
                      <a:endParaRPr b="1"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</a:t>
                      </a:r>
                      <a:endParaRPr b="1"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Supplier</a:t>
                      </a:r>
                      <a:endParaRPr b="1"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b="1" sz="16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33"/>
                    </a:solidFill>
                  </a:tcPr>
                </a:tc>
              </a:tr>
              <a:tr h="361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ESP32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1g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John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Purchased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6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Jetson Orin Nano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 kg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Purchased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</a:tr>
              <a:tr h="2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Starlink Antenna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 kg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 Team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 Hand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</a:tr>
              <a:tr h="36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JST-SH 4-pin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Purchased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</a:tr>
              <a:tr h="36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Servo 3-pin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Purchased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</a:tr>
              <a:tr h="36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15-pin FPC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Purchased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</a:tr>
              <a:tr h="361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RJ-45/Cat 5E Cable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 kg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Purchased</a:t>
                      </a:r>
                      <a:endParaRPr sz="13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" name="Google Shape;145;p26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Electronics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45720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All parts ordered  •  Awaiting delivery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7" name="Google Shape;147;p26"/>
          <p:cNvGraphicFramePr/>
          <p:nvPr/>
        </p:nvGraphicFramePr>
        <p:xfrm>
          <a:off x="457188" y="1005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{C8A4AE2F-9757-44FD-B27A-7648E2E99CB5}</a:tableStyleId>
              </a:tblPr>
              <a:tblGrid>
                <a:gridCol w="2771050"/>
                <a:gridCol w="814850"/>
                <a:gridCol w="1434975"/>
                <a:gridCol w="1709850"/>
                <a:gridCol w="1498900"/>
              </a:tblGrid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Qty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0033"/>
                    </a:solidFill>
                  </a:tcPr>
                </a:tc>
              </a:tr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6S LiPo Battery (main)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$66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MRBF Fuse Holder (main)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$25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MIDI Fuse Block (thruster)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$38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 Blade Fuse Block (aux)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$47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150A Fuse (main)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125A Fuse (motor)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 Bars (+ / –)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$100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Manual Kill Switch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$25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218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Castle BEC (servo 7.4V)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$47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Castle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348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Thermal Pads + ATO Fuses + DC Pigtails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$39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Amazon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ORDERED</a:t>
                      </a:r>
                      <a:endParaRPr b="1"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00" marB="45700" marR="45700" marL="4570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</a:tbl>
          </a:graphicData>
        </a:graphic>
      </p:graphicFrame>
      <p:sp>
        <p:nvSpPr>
          <p:cNvPr id="148" name="Google Shape;148;p26"/>
          <p:cNvSpPr/>
          <p:nvPr/>
        </p:nvSpPr>
        <p:spPr>
          <a:xfrm>
            <a:off x="457200" y="4144500"/>
            <a:ext cx="3698100" cy="5028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8100000" dist="28575">
              <a:srgbClr val="000000">
                <a:alpha val="25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19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Total: $</a:t>
            </a:r>
            <a:r>
              <a:rPr b="1" lang="en" sz="1900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417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4968900" y="4149100"/>
            <a:ext cx="3717900" cy="5028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2205" y="426335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/>
          <p:nvPr/>
        </p:nvSpPr>
        <p:spPr>
          <a:xfrm>
            <a:off x="5530200" y="4144500"/>
            <a:ext cx="3156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All parts ordered. Awaiting delivery. Assembly begins upon arrival — no design work remaining, straight to build.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7"/>
          <p:cNvSpPr txBox="1"/>
          <p:nvPr/>
        </p:nvSpPr>
        <p:spPr>
          <a:xfrm>
            <a:off x="664950" y="109725"/>
            <a:ext cx="781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Propulsion System/Mechanical</a:t>
            </a:r>
            <a:endParaRPr/>
          </a:p>
        </p:txBody>
      </p:sp>
      <p:graphicFrame>
        <p:nvGraphicFramePr>
          <p:cNvPr id="158" name="Google Shape;158;p27"/>
          <p:cNvGraphicFramePr/>
          <p:nvPr/>
        </p:nvGraphicFramePr>
        <p:xfrm>
          <a:off x="931700" y="58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{DD14F252-F212-42F1-B2F6-83C8442DA545}</a:tableStyleId>
              </a:tblPr>
              <a:tblGrid>
                <a:gridCol w="1820150"/>
                <a:gridCol w="1820150"/>
                <a:gridCol w="1820150"/>
                <a:gridCol w="1883875"/>
              </a:tblGrid>
              <a:tr h="306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 Name</a:t>
                      </a:r>
                      <a:endParaRPr b="1"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</a:t>
                      </a:r>
                      <a:endParaRPr b="1"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Supplier</a:t>
                      </a:r>
                      <a:endParaRPr b="1"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b="1"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0033"/>
                    </a:solidFill>
                  </a:tcPr>
                </a:tc>
              </a:tr>
              <a:tr h="121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680g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Apsiqueen 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Installed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Rudder Servo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DSServo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Shipping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Shaft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150g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Installed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Propeller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3D Printed (</a:t>
                      </a: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3DP)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Installed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2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Battery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825g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OVONIC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Ordering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 Mount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3DP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Installed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Motor Flange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~100g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3DP/ Ma</a:t>
                      </a: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</a:t>
                      </a: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hine Shopped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Under Redesign 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PIXHAWK 4X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PIXHAWK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Will install once servo arrives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120g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Apsiqueen 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Installed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Rudder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30g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 Shopped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Installed</a:t>
                      </a:r>
                      <a:endParaRPr sz="11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28"/>
          <p:cNvSpPr txBox="1"/>
          <p:nvPr/>
        </p:nvSpPr>
        <p:spPr>
          <a:xfrm>
            <a:off x="664950" y="109725"/>
            <a:ext cx="781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Sensors and Camera</a:t>
            </a:r>
            <a:endParaRPr/>
          </a:p>
        </p:txBody>
      </p:sp>
      <p:sp>
        <p:nvSpPr>
          <p:cNvPr id="165" name="Google Shape;165;p28"/>
          <p:cNvSpPr txBox="1"/>
          <p:nvPr/>
        </p:nvSpPr>
        <p:spPr>
          <a:xfrm>
            <a:off x="219900" y="742200"/>
            <a:ext cx="870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66" name="Google Shape;166;p28"/>
          <p:cNvGraphicFramePr/>
          <p:nvPr/>
        </p:nvGraphicFramePr>
        <p:xfrm>
          <a:off x="664950" y="74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{DD14F252-F212-42F1-B2F6-83C8442DA545}</a:tableStyleId>
              </a:tblPr>
              <a:tblGrid>
                <a:gridCol w="3024075"/>
                <a:gridCol w="1021025"/>
                <a:gridCol w="1780125"/>
                <a:gridCol w="2265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Part Name</a:t>
                      </a:r>
                      <a:endParaRPr b="1"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Weight</a:t>
                      </a:r>
                      <a:endParaRPr b="1"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Supplier</a:t>
                      </a:r>
                      <a:endParaRPr b="1"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Status</a:t>
                      </a:r>
                      <a:endParaRPr b="1" sz="17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CC003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IMX219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g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Purchased, Installed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24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PINPOINT Marine pH Probe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 g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Saltwater</a:t>
                      </a: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Aquarium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ED0B0B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Awaiting Arrival</a:t>
                      </a:r>
                      <a:endParaRPr sz="1500">
                        <a:solidFill>
                          <a:srgbClr val="ED0B0B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EZO pH Circuit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1.76 g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Atlas Scientific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Purchased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DS18B20 Waterproof Temp. Sensor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 g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Awaiting Install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TDS Conductivity Sensor 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27.2 g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Amazon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Awaiting Install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Sensor Mount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TBD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CAD Part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rgbClr val="C62828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Pending Final Print</a:t>
                      </a:r>
                      <a:endParaRPr sz="1500">
                        <a:solidFill>
                          <a:srgbClr val="C62828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Camera Mount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TBD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CAD Part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Printed, Installed</a:t>
                      </a:r>
                      <a:endParaRPr sz="15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/>
        </p:nvSpPr>
        <p:spPr>
          <a:xfrm>
            <a:off x="696900" y="1828792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Assembly and Integration Status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" name="Google Shape;172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/>
        </p:nvSpPr>
        <p:spPr>
          <a:xfrm>
            <a:off x="2759100" y="82825"/>
            <a:ext cx="36258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AQUABOT Assembly Drawing</a:t>
            </a:r>
            <a:endParaRPr b="1"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5637" y="532806"/>
            <a:ext cx="6912725" cy="448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/>
        </p:nvSpPr>
        <p:spPr>
          <a:xfrm>
            <a:off x="2759100" y="82825"/>
            <a:ext cx="36258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Shelf Suba</a:t>
            </a:r>
            <a:r>
              <a:rPr b="1" lang="en" sz="2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ssembly Drawing</a:t>
            </a:r>
            <a:endParaRPr b="1"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" name="Google Shape;185;p31"/>
          <p:cNvSpPr txBox="1"/>
          <p:nvPr>
            <p:ph idx="12" type="sldNum"/>
          </p:nvPr>
        </p:nvSpPr>
        <p:spPr>
          <a:xfrm>
            <a:off x="8543333" y="47340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013" y="486950"/>
            <a:ext cx="5937975" cy="458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/>
          <p:nvPr/>
        </p:nvSpPr>
        <p:spPr>
          <a:xfrm>
            <a:off x="513750" y="2026475"/>
            <a:ext cx="1879200" cy="660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2"/>
          <p:cNvSpPr txBox="1"/>
          <p:nvPr/>
        </p:nvSpPr>
        <p:spPr>
          <a:xfrm>
            <a:off x="1803900" y="0"/>
            <a:ext cx="5536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Propulsion Subsystem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32"/>
          <p:cNvSpPr/>
          <p:nvPr/>
        </p:nvSpPr>
        <p:spPr>
          <a:xfrm>
            <a:off x="5456925" y="2284275"/>
            <a:ext cx="595500" cy="353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250" y="425725"/>
            <a:ext cx="1912199" cy="15713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p32"/>
          <p:cNvCxnSpPr/>
          <p:nvPr/>
        </p:nvCxnSpPr>
        <p:spPr>
          <a:xfrm>
            <a:off x="679100" y="2218475"/>
            <a:ext cx="1126200" cy="4200"/>
          </a:xfrm>
          <a:prstGeom prst="straightConnector1">
            <a:avLst/>
          </a:prstGeom>
          <a:noFill/>
          <a:ln cap="flat" cmpd="sng" w="3810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7" name="Google Shape;197;p32"/>
          <p:cNvSpPr txBox="1"/>
          <p:nvPr/>
        </p:nvSpPr>
        <p:spPr>
          <a:xfrm>
            <a:off x="497250" y="2324150"/>
            <a:ext cx="263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Connection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98" name="Google Shape;198;p32"/>
          <p:cNvGrpSpPr/>
          <p:nvPr/>
        </p:nvGrpSpPr>
        <p:grpSpPr>
          <a:xfrm>
            <a:off x="3035956" y="158602"/>
            <a:ext cx="5672131" cy="3019883"/>
            <a:chOff x="456375" y="60425"/>
            <a:chExt cx="8574650" cy="4565205"/>
          </a:xfrm>
        </p:grpSpPr>
        <p:pic>
          <p:nvPicPr>
            <p:cNvPr id="199" name="Google Shape;199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810401" y="3259755"/>
              <a:ext cx="1879075" cy="13658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87362" y="1365928"/>
              <a:ext cx="1218325" cy="17696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3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5081175" y="2876363"/>
              <a:ext cx="1660900" cy="1182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32"/>
            <p:cNvPicPr preferRelativeResize="0"/>
            <p:nvPr/>
          </p:nvPicPr>
          <p:blipFill rotWithShape="1">
            <a:blip r:embed="rId7">
              <a:alphaModFix/>
            </a:blip>
            <a:srcRect b="32184" l="0" r="0" t="37729"/>
            <a:stretch/>
          </p:blipFill>
          <p:spPr>
            <a:xfrm>
              <a:off x="2006225" y="3383637"/>
              <a:ext cx="2112751" cy="280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32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782874" y="702599"/>
              <a:ext cx="1298299" cy="1017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32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5276975" y="1365923"/>
              <a:ext cx="1467800" cy="12916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5" name="Google Shape;205;p32"/>
            <p:cNvCxnSpPr/>
            <p:nvPr/>
          </p:nvCxnSpPr>
          <p:spPr>
            <a:xfrm>
              <a:off x="4779275" y="1194175"/>
              <a:ext cx="690300" cy="703800"/>
            </a:xfrm>
            <a:prstGeom prst="straightConnector1">
              <a:avLst/>
            </a:prstGeom>
            <a:noFill/>
            <a:ln cap="flat" cmpd="sng" w="25225">
              <a:solidFill>
                <a:srgbClr val="AB052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6" name="Google Shape;206;p32"/>
            <p:cNvSpPr txBox="1"/>
            <p:nvPr/>
          </p:nvSpPr>
          <p:spPr>
            <a:xfrm>
              <a:off x="5007425" y="904225"/>
              <a:ext cx="2754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500" lIns="60500" spcFirstLastPara="1" rIns="60500" wrap="square" tIns="605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rgbClr val="AB0520"/>
                  </a:solidFill>
                </a:rPr>
                <a:t>22.2V</a:t>
              </a:r>
              <a:endParaRPr sz="1190">
                <a:solidFill>
                  <a:srgbClr val="AB0520"/>
                </a:solidFill>
              </a:endParaRPr>
            </a:p>
          </p:txBody>
        </p:sp>
        <p:cxnSp>
          <p:nvCxnSpPr>
            <p:cNvPr id="207" name="Google Shape;207;p32"/>
            <p:cNvCxnSpPr/>
            <p:nvPr/>
          </p:nvCxnSpPr>
          <p:spPr>
            <a:xfrm flipH="1" rot="-5400000">
              <a:off x="6027450" y="2086350"/>
              <a:ext cx="1940400" cy="696300"/>
            </a:xfrm>
            <a:prstGeom prst="bentConnector3">
              <a:avLst>
                <a:gd fmla="val 0" name="adj1"/>
              </a:avLst>
            </a:prstGeom>
            <a:noFill/>
            <a:ln cap="flat" cmpd="sng" w="25225">
              <a:solidFill>
                <a:srgbClr val="AB052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8" name="Google Shape;208;p32"/>
            <p:cNvCxnSpPr/>
            <p:nvPr/>
          </p:nvCxnSpPr>
          <p:spPr>
            <a:xfrm flipH="1">
              <a:off x="6016775" y="2295950"/>
              <a:ext cx="1912200" cy="28200"/>
            </a:xfrm>
            <a:prstGeom prst="straightConnector1">
              <a:avLst/>
            </a:prstGeom>
            <a:noFill/>
            <a:ln cap="flat" cmpd="sng" w="252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209" name="Google Shape;209;p32"/>
            <p:cNvGrpSpPr/>
            <p:nvPr/>
          </p:nvGrpSpPr>
          <p:grpSpPr>
            <a:xfrm>
              <a:off x="7762025" y="60425"/>
              <a:ext cx="1269000" cy="582900"/>
              <a:chOff x="7928950" y="2015200"/>
              <a:chExt cx="1269000" cy="582900"/>
            </a:xfrm>
          </p:grpSpPr>
          <p:sp>
            <p:nvSpPr>
              <p:cNvPr id="210" name="Google Shape;210;p32"/>
              <p:cNvSpPr/>
              <p:nvPr/>
            </p:nvSpPr>
            <p:spPr>
              <a:xfrm>
                <a:off x="7928950" y="2015200"/>
                <a:ext cx="1009500" cy="582900"/>
              </a:xfrm>
              <a:prstGeom prst="rect">
                <a:avLst/>
              </a:prstGeom>
              <a:solidFill>
                <a:schemeClr val="lt2"/>
              </a:solidFill>
              <a:ln cap="flat" cmpd="sng" w="6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0500" lIns="60500" spcFirstLastPara="1" rIns="60500" wrap="square" tIns="605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926"/>
              </a:p>
            </p:txBody>
          </p:sp>
          <p:sp>
            <p:nvSpPr>
              <p:cNvPr id="211" name="Google Shape;211;p32"/>
              <p:cNvSpPr txBox="1"/>
              <p:nvPr/>
            </p:nvSpPr>
            <p:spPr>
              <a:xfrm>
                <a:off x="8000050" y="2075800"/>
                <a:ext cx="11979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60500" lIns="60500" spcFirstLastPara="1" rIns="60500" wrap="square" tIns="605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90">
                    <a:solidFill>
                      <a:schemeClr val="dk2"/>
                    </a:solidFill>
                  </a:rPr>
                  <a:t>Jetson </a:t>
                </a:r>
                <a:endParaRPr sz="1190">
                  <a:solidFill>
                    <a:schemeClr val="dk2"/>
                  </a:solidFill>
                </a:endParaRPr>
              </a:p>
            </p:txBody>
          </p:sp>
        </p:grpSp>
        <p:cxnSp>
          <p:nvCxnSpPr>
            <p:cNvPr id="212" name="Google Shape;212;p32"/>
            <p:cNvCxnSpPr/>
            <p:nvPr/>
          </p:nvCxnSpPr>
          <p:spPr>
            <a:xfrm rot="10800000">
              <a:off x="6557100" y="3383625"/>
              <a:ext cx="789000" cy="14100"/>
            </a:xfrm>
            <a:prstGeom prst="straightConnector1">
              <a:avLst/>
            </a:prstGeom>
            <a:noFill/>
            <a:ln cap="flat" cmpd="sng" w="25225">
              <a:solidFill>
                <a:srgbClr val="AB052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3" name="Google Shape;213;p32"/>
            <p:cNvCxnSpPr/>
            <p:nvPr/>
          </p:nvCxnSpPr>
          <p:spPr>
            <a:xfrm>
              <a:off x="8284375" y="568650"/>
              <a:ext cx="28500" cy="1052100"/>
            </a:xfrm>
            <a:prstGeom prst="straightConnector1">
              <a:avLst/>
            </a:prstGeom>
            <a:noFill/>
            <a:ln cap="flat" cmpd="sng" w="2522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4" name="Google Shape;214;p32"/>
            <p:cNvCxnSpPr/>
            <p:nvPr/>
          </p:nvCxnSpPr>
          <p:spPr>
            <a:xfrm rot="10800000">
              <a:off x="6208725" y="3525775"/>
              <a:ext cx="1677600" cy="525900"/>
            </a:xfrm>
            <a:prstGeom prst="straightConnector1">
              <a:avLst/>
            </a:prstGeom>
            <a:noFill/>
            <a:ln cap="flat" cmpd="sng" w="25225">
              <a:solidFill>
                <a:srgbClr val="00FF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5" name="Google Shape;215;p32"/>
            <p:cNvSpPr txBox="1"/>
            <p:nvPr/>
          </p:nvSpPr>
          <p:spPr>
            <a:xfrm>
              <a:off x="4211375" y="3292875"/>
              <a:ext cx="902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0500" lIns="60500" spcFirstLastPara="1" rIns="60500" wrap="square" tIns="605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90">
                  <a:solidFill>
                    <a:schemeClr val="lt1"/>
                  </a:solidFill>
                </a:rPr>
                <a:t>Flange</a:t>
              </a:r>
              <a:endParaRPr sz="1190">
                <a:solidFill>
                  <a:schemeClr val="lt1"/>
                </a:solidFill>
              </a:endParaRPr>
            </a:p>
          </p:txBody>
        </p:sp>
        <p:pic>
          <p:nvPicPr>
            <p:cNvPr id="216" name="Google Shape;216;p32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456375" y="2823450"/>
              <a:ext cx="1405875" cy="140055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7" name="Google Shape;217;p32"/>
            <p:cNvCxnSpPr/>
            <p:nvPr/>
          </p:nvCxnSpPr>
          <p:spPr>
            <a:xfrm rot="10800000">
              <a:off x="4989850" y="3551625"/>
              <a:ext cx="348000" cy="11700"/>
            </a:xfrm>
            <a:prstGeom prst="straightConnector1">
              <a:avLst/>
            </a:prstGeom>
            <a:noFill/>
            <a:ln cap="flat" cmpd="sng" w="25225">
              <a:solidFill>
                <a:srgbClr val="00FF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8" name="Google Shape;218;p32"/>
            <p:cNvCxnSpPr/>
            <p:nvPr/>
          </p:nvCxnSpPr>
          <p:spPr>
            <a:xfrm rot="10800000">
              <a:off x="3944175" y="3517875"/>
              <a:ext cx="348000" cy="11700"/>
            </a:xfrm>
            <a:prstGeom prst="straightConnector1">
              <a:avLst/>
            </a:prstGeom>
            <a:noFill/>
            <a:ln cap="flat" cmpd="sng" w="25225">
              <a:solidFill>
                <a:srgbClr val="00FF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9" name="Google Shape;219;p32"/>
            <p:cNvCxnSpPr/>
            <p:nvPr/>
          </p:nvCxnSpPr>
          <p:spPr>
            <a:xfrm flipH="1">
              <a:off x="1458325" y="3539025"/>
              <a:ext cx="598800" cy="12600"/>
            </a:xfrm>
            <a:prstGeom prst="straightConnector1">
              <a:avLst/>
            </a:prstGeom>
            <a:noFill/>
            <a:ln cap="flat" cmpd="sng" w="25225">
              <a:solidFill>
                <a:srgbClr val="00FF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220" name="Google Shape;220;p32"/>
          <p:cNvPicPr preferRelativeResize="0"/>
          <p:nvPr/>
        </p:nvPicPr>
        <p:blipFill rotWithShape="1">
          <a:blip r:embed="rId11">
            <a:alphaModFix/>
          </a:blip>
          <a:srcRect b="34724" l="19024" r="15846" t="28130"/>
          <a:stretch/>
        </p:blipFill>
        <p:spPr>
          <a:xfrm>
            <a:off x="455685" y="2972293"/>
            <a:ext cx="2420803" cy="18409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2"/>
          <p:cNvSpPr txBox="1"/>
          <p:nvPr/>
        </p:nvSpPr>
        <p:spPr>
          <a:xfrm>
            <a:off x="2907100" y="3240925"/>
            <a:ext cx="60063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Update: 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Assembled Motor, mount, shaft, and propeller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Waiting on rudder servo for full assembly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complete: waterproof shaft assy, motor rotation in hull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33"/>
          <p:cNvSpPr txBox="1"/>
          <p:nvPr/>
        </p:nvSpPr>
        <p:spPr>
          <a:xfrm>
            <a:off x="0" y="430925"/>
            <a:ext cx="5585100" cy="4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Mounting - </a:t>
            </a:r>
            <a:r>
              <a:rPr lang="en" sz="1600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by 3/2/2026</a:t>
            </a:r>
            <a:endParaRPr sz="1600">
              <a:solidFill>
                <a:srgbClr val="CC00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motor mount holes are aligned with holes on inner-drone mount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 and attach 3D Printed Motor Mount Using 4 ¼” bolts and nuts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 motor into mount, threading wires toward electronics stack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 motor up with propeller shaft (already in place)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joint connection to attach propeller shaft to motor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Attach motor to power and computer, verify functionality after install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Servo Mounting -</a:t>
            </a:r>
            <a:r>
              <a:rPr lang="en" sz="1600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Complete by 3/7/2026</a:t>
            </a:r>
            <a:endParaRPr sz="1600">
              <a:solidFill>
                <a:srgbClr val="CC00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Assess whether servo adhesive is stable enough, otherwise a 3D-printed mount may be needed.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Adhere servo 1 inch behind rudder shaft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wire and joint connector to connect servo to rudder shaft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Attach servo to power and computer, verify functionality after install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 Stack - </a:t>
            </a:r>
            <a:r>
              <a:rPr lang="en" sz="1600">
                <a:solidFill>
                  <a:srgbClr val="CC00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by 3/15/2026</a:t>
            </a:r>
            <a:endParaRPr sz="1600">
              <a:solidFill>
                <a:srgbClr val="CC00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Reintegrate 1st level of stack into hull, as placed before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all connections are properly soldered before installation into stack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velcro to place electronics as outlined by software int. document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and organize all wires, ensure  power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supplies supported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AutoNum type="alphaLcPeriod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2nd level to stack – with Starlink Antenna Mount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3"/>
          <p:cNvSpPr txBox="1"/>
          <p:nvPr/>
        </p:nvSpPr>
        <p:spPr>
          <a:xfrm>
            <a:off x="901950" y="0"/>
            <a:ext cx="73401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Propulsion Subsystem Integration Plan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29" name="Google Shape;229;p33"/>
          <p:cNvPicPr preferRelativeResize="0"/>
          <p:nvPr/>
        </p:nvPicPr>
        <p:blipFill rotWithShape="1">
          <a:blip r:embed="rId3">
            <a:alphaModFix/>
          </a:blip>
          <a:srcRect b="0" l="0" r="44849" t="0"/>
          <a:stretch/>
        </p:blipFill>
        <p:spPr>
          <a:xfrm>
            <a:off x="5750500" y="761800"/>
            <a:ext cx="3181099" cy="3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34"/>
          <p:cNvSpPr txBox="1"/>
          <p:nvPr/>
        </p:nvSpPr>
        <p:spPr>
          <a:xfrm>
            <a:off x="199300" y="625"/>
            <a:ext cx="87420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Self-Righting and </a:t>
            </a: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Waterproofing Subsystem 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Testing/Verification (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5.1.3</a:t>
            </a: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, 5.3.2)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 rotWithShape="1">
          <a:blip r:embed="rId3">
            <a:alphaModFix/>
          </a:blip>
          <a:srcRect b="12162" l="17370" r="17792" t="16297"/>
          <a:stretch/>
        </p:blipFill>
        <p:spPr>
          <a:xfrm>
            <a:off x="6476225" y="846850"/>
            <a:ext cx="2526132" cy="209045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7" name="Google Shape;237;p34"/>
          <p:cNvGraphicFramePr/>
          <p:nvPr/>
        </p:nvGraphicFramePr>
        <p:xfrm>
          <a:off x="199300" y="9179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{B0FB5A20-927C-4031-8E6C-34F8217510DE}</a:tableStyleId>
              </a:tblPr>
              <a:tblGrid>
                <a:gridCol w="630850"/>
                <a:gridCol w="1309175"/>
                <a:gridCol w="1076400"/>
                <a:gridCol w="811875"/>
                <a:gridCol w="1007875"/>
                <a:gridCol w="1045025"/>
              </a:tblGrid>
              <a:tr h="289775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Analysis of Torque due to Mass Offset</a:t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47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Approximate Center of Buoyancy (mm)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Assembly Center of Mass (mm)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Offset (mm)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Mass (kg)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Resulting Torque (N*m)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265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(Roll)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1.23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-1.23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29.26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-0.353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265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(Yaw)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-326.54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-296.47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-30.07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0.000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  <a:tr h="2654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 (Pitch)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-303.89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-281.52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-22.37</a:t>
                      </a:r>
                      <a:endParaRPr sz="1000">
                        <a:solidFill>
                          <a:schemeClr val="lt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-6.421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25400" marB="25400" marR="25400" marL="25400" anchor="b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8761D"/>
                    </a:solidFill>
                  </a:tcPr>
                </a:tc>
              </a:tr>
            </a:tbl>
          </a:graphicData>
        </a:graphic>
      </p:graphicFrame>
      <p:sp>
        <p:nvSpPr>
          <p:cNvPr id="238" name="Google Shape;238;p34"/>
          <p:cNvSpPr txBox="1"/>
          <p:nvPr/>
        </p:nvSpPr>
        <p:spPr>
          <a:xfrm>
            <a:off x="6405137" y="2885736"/>
            <a:ext cx="28488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39"/>
              </a:spcBef>
              <a:spcAft>
                <a:spcPts val="0"/>
              </a:spcAft>
              <a:buNone/>
            </a:pPr>
            <a:r>
              <a:rPr i="1" lang="en" sz="84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showing initial waterproof and self-righting testing</a:t>
            </a:r>
            <a:endParaRPr i="1" sz="848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9" name="Google Shape;239;p34"/>
          <p:cNvSpPr txBox="1"/>
          <p:nvPr/>
        </p:nvSpPr>
        <p:spPr>
          <a:xfrm>
            <a:off x="-63225" y="2666781"/>
            <a:ext cx="9065700" cy="2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 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offset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 small change in equilibrium pitch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Calculated low COM indicates self-righting capabilities after modifications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self-righting and waterproof testing 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 waterproofing precautions: possible bilge pump implementation, upgraded washers, waterproof sealant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testing will be conducted before 3/30/2026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240" name="Google Shape;24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2840" y="3396983"/>
            <a:ext cx="320040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5"/>
          <p:cNvSpPr/>
          <p:nvPr/>
        </p:nvSpPr>
        <p:spPr>
          <a:xfrm>
            <a:off x="274325" y="182875"/>
            <a:ext cx="8412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Communications System — Block Diagram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5"/>
          <p:cNvSpPr/>
          <p:nvPr/>
        </p:nvSpPr>
        <p:spPr>
          <a:xfrm>
            <a:off x="274200" y="658375"/>
            <a:ext cx="8412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6 integration interfaces across 4 subsystems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5"/>
          <p:cNvSpPr/>
          <p:nvPr/>
        </p:nvSpPr>
        <p:spPr>
          <a:xfrm>
            <a:off x="274325" y="1086850"/>
            <a:ext cx="4774500" cy="2634000"/>
          </a:xfrm>
          <a:prstGeom prst="rect">
            <a:avLst/>
          </a:prstGeom>
          <a:solidFill>
            <a:srgbClr val="FFFFFF">
              <a:alpha val="5100"/>
            </a:srgbClr>
          </a:solidFill>
          <a:ln cap="flat" cmpd="sng" w="19050">
            <a:solidFill>
              <a:srgbClr val="E8ECF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5"/>
          <p:cNvSpPr/>
          <p:nvPr/>
        </p:nvSpPr>
        <p:spPr>
          <a:xfrm>
            <a:off x="336550" y="1086852"/>
            <a:ext cx="10449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DRONE HULL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5"/>
          <p:cNvSpPr/>
          <p:nvPr/>
        </p:nvSpPr>
        <p:spPr>
          <a:xfrm>
            <a:off x="494030" y="2075758"/>
            <a:ext cx="1463100" cy="685800"/>
          </a:xfrm>
          <a:prstGeom prst="rect">
            <a:avLst/>
          </a:prstGeom>
          <a:solidFill>
            <a:srgbClr val="4CAF5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Swarm Logic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(John)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5"/>
          <p:cNvSpPr/>
          <p:nvPr/>
        </p:nvSpPr>
        <p:spPr>
          <a:xfrm>
            <a:off x="3361145" y="1244755"/>
            <a:ext cx="1463100" cy="594300"/>
          </a:xfrm>
          <a:prstGeom prst="rect">
            <a:avLst/>
          </a:prstGeom>
          <a:solidFill>
            <a:srgbClr val="E651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PIXHAWK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Motor + Servo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(Robert)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5"/>
          <p:cNvSpPr/>
          <p:nvPr/>
        </p:nvSpPr>
        <p:spPr>
          <a:xfrm>
            <a:off x="2000700" y="1345088"/>
            <a:ext cx="807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33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F3F3F"/>
                </a:solidFill>
                <a:latin typeface="Calibri"/>
                <a:ea typeface="Calibri"/>
                <a:cs typeface="Calibri"/>
                <a:sym typeface="Calibri"/>
              </a:rPr>
              <a:t>IF-1</a:t>
            </a:r>
            <a:endParaRPr b="0" i="0" sz="1000" u="none" cap="none" strike="noStrike">
              <a:solidFill>
                <a:srgbClr val="F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33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F3F3F"/>
                </a:solidFill>
                <a:latin typeface="Calibri"/>
                <a:ea typeface="Calibri"/>
                <a:cs typeface="Calibri"/>
                <a:sym typeface="Calibri"/>
              </a:rPr>
              <a:t>UART/MAVLink</a:t>
            </a:r>
            <a:endParaRPr b="0" i="0" sz="1000" u="none" cap="none" strike="noStrike">
              <a:solidFill>
                <a:srgbClr val="F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5"/>
          <p:cNvSpPr/>
          <p:nvPr/>
        </p:nvSpPr>
        <p:spPr>
          <a:xfrm>
            <a:off x="3361145" y="2121508"/>
            <a:ext cx="1463100" cy="594300"/>
          </a:xfrm>
          <a:prstGeom prst="rect">
            <a:avLst/>
          </a:prstGeom>
          <a:solidFill>
            <a:srgbClr val="00BDD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 + Sal + Temp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(Jamie)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5"/>
          <p:cNvSpPr/>
          <p:nvPr/>
        </p:nvSpPr>
        <p:spPr>
          <a:xfrm>
            <a:off x="2601075" y="2418650"/>
            <a:ext cx="610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0BDD1"/>
                </a:solidFill>
                <a:latin typeface="Calibri"/>
                <a:ea typeface="Calibri"/>
                <a:cs typeface="Calibri"/>
                <a:sym typeface="Calibri"/>
              </a:rPr>
              <a:t>IF-2</a:t>
            </a:r>
            <a:endParaRPr b="0" i="0" sz="1000" u="none" cap="none" strike="noStrike">
              <a:solidFill>
                <a:srgbClr val="00BD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88E3C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00BDD1"/>
                </a:solidFill>
                <a:latin typeface="Calibri"/>
                <a:ea typeface="Calibri"/>
                <a:cs typeface="Calibri"/>
                <a:sym typeface="Calibri"/>
              </a:rPr>
              <a:t>I2C/ADC</a:t>
            </a:r>
            <a:endParaRPr b="0" i="0" sz="1000" u="none" cap="none" strike="noStrike">
              <a:solidFill>
                <a:srgbClr val="00BD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5"/>
          <p:cNvSpPr/>
          <p:nvPr/>
        </p:nvSpPr>
        <p:spPr>
          <a:xfrm>
            <a:off x="3361145" y="2998254"/>
            <a:ext cx="1463100" cy="5943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JETSON ORIN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Camera + Starlink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lang="en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(Jamie/Mayra)</a:t>
            </a:r>
            <a:endParaRPr b="1" sz="1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5"/>
          <p:cNvSpPr/>
          <p:nvPr/>
        </p:nvSpPr>
        <p:spPr>
          <a:xfrm>
            <a:off x="2084850" y="3125300"/>
            <a:ext cx="6393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IF-3</a:t>
            </a:r>
            <a:endParaRPr b="0" i="0" sz="1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UART/Serial</a:t>
            </a:r>
            <a:endParaRPr b="0" i="0" sz="10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5"/>
          <p:cNvSpPr/>
          <p:nvPr/>
        </p:nvSpPr>
        <p:spPr>
          <a:xfrm>
            <a:off x="676865" y="4070753"/>
            <a:ext cx="1097400" cy="548700"/>
          </a:xfrm>
          <a:prstGeom prst="rect">
            <a:avLst/>
          </a:prstGeom>
          <a:solidFill>
            <a:srgbClr val="4CAF5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OTHER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DRONES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(ESP32)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5"/>
          <p:cNvSpPr/>
          <p:nvPr/>
        </p:nvSpPr>
        <p:spPr>
          <a:xfrm>
            <a:off x="457200" y="3245750"/>
            <a:ext cx="7365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750"/>
              <a:buFont typeface="Calibri"/>
              <a:buNone/>
            </a:pPr>
            <a:r>
              <a:rPr b="1" i="0" lang="en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IF-6 ESP-NOW</a:t>
            </a:r>
            <a:endParaRPr b="0" i="0" sz="1000" u="none" cap="none" strike="noStrike">
              <a:solidFill>
                <a:srgbClr val="4CAF5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750"/>
              <a:buFont typeface="Calibri"/>
              <a:buNone/>
            </a:pPr>
            <a:r>
              <a:rPr b="1" i="0" lang="en" sz="10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r>
              <a:rPr b="1" i="0" lang="en" sz="10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10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DONE</a:t>
            </a:r>
            <a:endParaRPr b="0" i="0" sz="10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5"/>
          <p:cNvSpPr/>
          <p:nvPr/>
        </p:nvSpPr>
        <p:spPr>
          <a:xfrm>
            <a:off x="6675793" y="3021054"/>
            <a:ext cx="1097400" cy="548700"/>
          </a:xfrm>
          <a:prstGeom prst="rect">
            <a:avLst/>
          </a:prstGeom>
          <a:solidFill>
            <a:srgbClr val="798BF2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MQTT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5"/>
          <p:cNvSpPr/>
          <p:nvPr/>
        </p:nvSpPr>
        <p:spPr>
          <a:xfrm>
            <a:off x="5567775" y="2954600"/>
            <a:ext cx="8877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C0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798BF2"/>
                </a:solidFill>
                <a:latin typeface="Calibri"/>
                <a:ea typeface="Calibri"/>
                <a:cs typeface="Calibri"/>
                <a:sym typeface="Calibri"/>
              </a:rPr>
              <a:t>IF-4</a:t>
            </a:r>
            <a:endParaRPr b="0" i="0" sz="1000" u="none" cap="none" strike="noStrike">
              <a:solidFill>
                <a:srgbClr val="798B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C6BC0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798BF2"/>
                </a:solidFill>
                <a:latin typeface="Calibri"/>
                <a:ea typeface="Calibri"/>
                <a:cs typeface="Calibri"/>
                <a:sym typeface="Calibri"/>
              </a:rPr>
              <a:t>Starlink/MQTT</a:t>
            </a:r>
            <a:endParaRPr b="0" i="0" sz="1000" u="none" cap="none" strike="noStrike">
              <a:solidFill>
                <a:srgbClr val="798B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5"/>
          <p:cNvSpPr/>
          <p:nvPr/>
        </p:nvSpPr>
        <p:spPr>
          <a:xfrm>
            <a:off x="6674180" y="4047940"/>
            <a:ext cx="1097400" cy="594300"/>
          </a:xfrm>
          <a:prstGeom prst="rect">
            <a:avLst/>
          </a:prstGeom>
          <a:solidFill>
            <a:srgbClr val="FFB3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GROUND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STATION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800"/>
              <a:buFont typeface="Calibri"/>
              <a:buNone/>
            </a:pPr>
            <a:r>
              <a:rPr b="1" i="0" lang="en" sz="1000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GUI (Mayra)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/>
          <p:nvPr/>
        </p:nvSpPr>
        <p:spPr>
          <a:xfrm>
            <a:off x="7223000" y="3629000"/>
            <a:ext cx="696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IF-5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700"/>
              <a:buFont typeface="Calibri"/>
              <a:buNone/>
            </a:pPr>
            <a:r>
              <a:rPr b="1" i="0" lang="en" sz="10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MQTT+WS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5"/>
          <p:cNvSpPr/>
          <p:nvPr/>
        </p:nvSpPr>
        <p:spPr>
          <a:xfrm>
            <a:off x="5325300" y="920275"/>
            <a:ext cx="3524400" cy="17955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5"/>
          <p:cNvSpPr/>
          <p:nvPr/>
        </p:nvSpPr>
        <p:spPr>
          <a:xfrm>
            <a:off x="5456075" y="972473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100"/>
              <a:buFont typeface="Calibri"/>
              <a:buNone/>
            </a:pPr>
            <a:r>
              <a:rPr b="1" lang="en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1" i="0" lang="en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nterface Status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5456075" y="1228375"/>
            <a:ext cx="33936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28270" lvl="0" marL="1371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300"/>
              <a:buFont typeface="Calibri"/>
              <a:buChar char="●"/>
            </a:pPr>
            <a:r>
              <a:rPr b="1" i="0" lang="en" sz="1300" u="none" cap="none" strike="noStrike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IF-1: Swarm↔Pixhawk — Spec Wk </a:t>
            </a:r>
            <a:r>
              <a:rPr b="1" lang="en" sz="1300">
                <a:solidFill>
                  <a:srgbClr val="E651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1300" u="none" cap="none" strike="noStrike">
              <a:solidFill>
                <a:srgbClr val="E651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8270" lvl="0" marL="1371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DD1"/>
              </a:buClr>
              <a:buSzPts val="1300"/>
              <a:buFont typeface="Calibri"/>
              <a:buChar char="●"/>
            </a:pPr>
            <a:r>
              <a:rPr b="1" i="0" lang="en" sz="1300" u="none" cap="none" strike="noStrike">
                <a:solidFill>
                  <a:srgbClr val="00BDD1"/>
                </a:solidFill>
                <a:latin typeface="Calibri"/>
                <a:ea typeface="Calibri"/>
                <a:cs typeface="Calibri"/>
                <a:sym typeface="Calibri"/>
              </a:rPr>
              <a:t>IF-2: Sensors→ESP32 — Spec Wk </a:t>
            </a:r>
            <a:r>
              <a:rPr b="1" lang="en" sz="1300">
                <a:solidFill>
                  <a:srgbClr val="00BDD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1300" u="none" cap="none" strike="noStrike">
              <a:solidFill>
                <a:srgbClr val="00BDD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8270" lvl="0" marL="1371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Calibri"/>
              <a:buChar char="●"/>
            </a:pPr>
            <a:r>
              <a:rPr b="1" i="0" lang="en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IF-3: ESP32↔Jetson — Spec Wk </a:t>
            </a:r>
            <a:r>
              <a:rPr b="1" lang="en" sz="13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13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8270" lvl="0" marL="1371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98BF2"/>
              </a:buClr>
              <a:buSzPts val="1300"/>
              <a:buFont typeface="Calibri"/>
              <a:buChar char="●"/>
            </a:pPr>
            <a:r>
              <a:rPr b="1" i="0" lang="en" sz="1300" u="none" cap="none" strike="noStrike">
                <a:solidFill>
                  <a:srgbClr val="798BF2"/>
                </a:solidFill>
                <a:latin typeface="Calibri"/>
                <a:ea typeface="Calibri"/>
                <a:cs typeface="Calibri"/>
                <a:sym typeface="Calibri"/>
              </a:rPr>
              <a:t>IF-4: Drone↔Cloud — Spec Wk </a:t>
            </a:r>
            <a:r>
              <a:rPr b="1" lang="en" sz="1300">
                <a:solidFill>
                  <a:srgbClr val="798BF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1300" u="none" cap="none" strike="noStrike">
              <a:solidFill>
                <a:srgbClr val="798B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8270" lvl="0" marL="1371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300"/>
              <a:buFont typeface="Calibri"/>
              <a:buChar char="●"/>
            </a:pPr>
            <a:r>
              <a:rPr b="1" i="0" lang="en" sz="13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IF-5: Cloud↔GS — Spec Wk </a:t>
            </a:r>
            <a:r>
              <a:rPr b="1" lang="en" sz="130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1300">
              <a:solidFill>
                <a:srgbClr val="FFB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28270" lvl="0" marL="13716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IF-6: Drone↔Drone — </a:t>
            </a:r>
            <a:r>
              <a:rPr b="1" lang="en" sz="13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✓ DONE</a:t>
            </a:r>
            <a:endParaRPr b="1" sz="1300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6" name="Google Shape;266;p35"/>
          <p:cNvCxnSpPr>
            <a:stCxn id="257" idx="0"/>
            <a:endCxn id="250" idx="2"/>
          </p:cNvCxnSpPr>
          <p:nvPr/>
        </p:nvCxnSpPr>
        <p:spPr>
          <a:xfrm rot="-5400000">
            <a:off x="571265" y="3415853"/>
            <a:ext cx="1309200" cy="6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7" name="Google Shape;267;p35"/>
          <p:cNvCxnSpPr>
            <a:stCxn id="250" idx="3"/>
            <a:endCxn id="251" idx="1"/>
          </p:cNvCxnSpPr>
          <p:nvPr/>
        </p:nvCxnSpPr>
        <p:spPr>
          <a:xfrm flipH="1" rot="10800000">
            <a:off x="1957130" y="1541758"/>
            <a:ext cx="1404000" cy="8769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8" name="Google Shape;268;p35"/>
          <p:cNvCxnSpPr>
            <a:stCxn id="253" idx="1"/>
            <a:endCxn id="250" idx="3"/>
          </p:cNvCxnSpPr>
          <p:nvPr/>
        </p:nvCxnSpPr>
        <p:spPr>
          <a:xfrm flipH="1">
            <a:off x="1957145" y="2418658"/>
            <a:ext cx="1404000" cy="6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69" name="Google Shape;269;p35"/>
          <p:cNvCxnSpPr>
            <a:stCxn id="255" idx="1"/>
            <a:endCxn id="250" idx="3"/>
          </p:cNvCxnSpPr>
          <p:nvPr/>
        </p:nvCxnSpPr>
        <p:spPr>
          <a:xfrm rot="10800000">
            <a:off x="1957145" y="2418804"/>
            <a:ext cx="1404000" cy="8766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0" name="Google Shape;270;p35"/>
          <p:cNvCxnSpPr>
            <a:stCxn id="259" idx="1"/>
            <a:endCxn id="255" idx="3"/>
          </p:cNvCxnSpPr>
          <p:nvPr/>
        </p:nvCxnSpPr>
        <p:spPr>
          <a:xfrm flipH="1">
            <a:off x="4824193" y="3295404"/>
            <a:ext cx="1851600" cy="6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1" name="Google Shape;271;p35"/>
          <p:cNvCxnSpPr>
            <a:stCxn id="259" idx="2"/>
            <a:endCxn id="261" idx="0"/>
          </p:cNvCxnSpPr>
          <p:nvPr/>
        </p:nvCxnSpPr>
        <p:spPr>
          <a:xfrm rot="5400000">
            <a:off x="6984643" y="3808104"/>
            <a:ext cx="478200" cy="15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2" name="Google Shape;272;p35"/>
          <p:cNvCxnSpPr>
            <a:stCxn id="259" idx="1"/>
            <a:endCxn id="257" idx="3"/>
          </p:cNvCxnSpPr>
          <p:nvPr/>
        </p:nvCxnSpPr>
        <p:spPr>
          <a:xfrm flipH="1">
            <a:off x="1774393" y="3295404"/>
            <a:ext cx="4901400" cy="1049700"/>
          </a:xfrm>
          <a:prstGeom prst="curvedConnector3">
            <a:avLst>
              <a:gd fmla="val 30870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36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9-Step Development Roadmap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6"/>
          <p:cNvSpPr/>
          <p:nvPr/>
        </p:nvSpPr>
        <p:spPr>
          <a:xfrm>
            <a:off x="45720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Incremental build — each step tested before advancing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6"/>
          <p:cNvSpPr/>
          <p:nvPr/>
        </p:nvSpPr>
        <p:spPr>
          <a:xfrm>
            <a:off x="457200" y="1005840"/>
            <a:ext cx="26517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6"/>
          <p:cNvSpPr/>
          <p:nvPr/>
        </p:nvSpPr>
        <p:spPr>
          <a:xfrm>
            <a:off x="457200" y="1005840"/>
            <a:ext cx="2651700" cy="1005900"/>
          </a:xfrm>
          <a:prstGeom prst="rect">
            <a:avLst/>
          </a:prstGeom>
          <a:noFill/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6"/>
          <p:cNvSpPr/>
          <p:nvPr/>
        </p:nvSpPr>
        <p:spPr>
          <a:xfrm>
            <a:off x="548640" y="1097280"/>
            <a:ext cx="320100" cy="320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6"/>
          <p:cNvSpPr/>
          <p:nvPr/>
        </p:nvSpPr>
        <p:spPr>
          <a:xfrm>
            <a:off x="548640" y="10972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6"/>
          <p:cNvSpPr/>
          <p:nvPr/>
        </p:nvSpPr>
        <p:spPr>
          <a:xfrm>
            <a:off x="914400" y="107899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Scaffolding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6"/>
          <p:cNvSpPr/>
          <p:nvPr/>
        </p:nvSpPr>
        <p:spPr>
          <a:xfrm>
            <a:off x="914400" y="129844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✓ COMPLETE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6"/>
          <p:cNvSpPr/>
          <p:nvPr/>
        </p:nvSpPr>
        <p:spPr>
          <a:xfrm>
            <a:off x="594360" y="150876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20-file modular arch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ESP-NOW wrapper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6"/>
          <p:cNvSpPr/>
          <p:nvPr/>
        </p:nvSpPr>
        <p:spPr>
          <a:xfrm>
            <a:off x="3337560" y="1005840"/>
            <a:ext cx="26517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6"/>
          <p:cNvSpPr/>
          <p:nvPr/>
        </p:nvSpPr>
        <p:spPr>
          <a:xfrm>
            <a:off x="3337560" y="1005840"/>
            <a:ext cx="2651700" cy="1005900"/>
          </a:xfrm>
          <a:prstGeom prst="rect">
            <a:avLst/>
          </a:prstGeom>
          <a:noFill/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6"/>
          <p:cNvSpPr/>
          <p:nvPr/>
        </p:nvSpPr>
        <p:spPr>
          <a:xfrm>
            <a:off x="3429000" y="1097280"/>
            <a:ext cx="320100" cy="320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"/>
          <p:cNvSpPr/>
          <p:nvPr/>
        </p:nvSpPr>
        <p:spPr>
          <a:xfrm>
            <a:off x="3429000" y="10972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6"/>
          <p:cNvSpPr/>
          <p:nvPr/>
        </p:nvSpPr>
        <p:spPr>
          <a:xfrm>
            <a:off x="3794760" y="107899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6"/>
          <p:cNvSpPr/>
          <p:nvPr/>
        </p:nvSpPr>
        <p:spPr>
          <a:xfrm>
            <a:off x="3794760" y="129844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✓ COMPLETE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6"/>
          <p:cNvSpPr/>
          <p:nvPr/>
        </p:nvSpPr>
        <p:spPr>
          <a:xfrm>
            <a:off x="3474720" y="150876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NVS provisioning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Persistent node IDs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6"/>
          <p:cNvSpPr/>
          <p:nvPr/>
        </p:nvSpPr>
        <p:spPr>
          <a:xfrm>
            <a:off x="6217920" y="1005840"/>
            <a:ext cx="26517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6"/>
          <p:cNvSpPr/>
          <p:nvPr/>
        </p:nvSpPr>
        <p:spPr>
          <a:xfrm>
            <a:off x="6217920" y="1005840"/>
            <a:ext cx="2651700" cy="1005900"/>
          </a:xfrm>
          <a:prstGeom prst="rect">
            <a:avLst/>
          </a:prstGeom>
          <a:noFill/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6"/>
          <p:cNvSpPr/>
          <p:nvPr/>
        </p:nvSpPr>
        <p:spPr>
          <a:xfrm>
            <a:off x="6309360" y="1097280"/>
            <a:ext cx="320100" cy="320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6"/>
          <p:cNvSpPr/>
          <p:nvPr/>
        </p:nvSpPr>
        <p:spPr>
          <a:xfrm>
            <a:off x="6309360" y="109728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6"/>
          <p:cNvSpPr/>
          <p:nvPr/>
        </p:nvSpPr>
        <p:spPr>
          <a:xfrm>
            <a:off x="6675120" y="107899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6675120" y="129844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✓ COMPLETE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6"/>
          <p:cNvSpPr/>
          <p:nvPr/>
        </p:nvSpPr>
        <p:spPr>
          <a:xfrm>
            <a:off x="6355080" y="150876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HELLO/JOIN protocol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50-node capacity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6"/>
          <p:cNvSpPr/>
          <p:nvPr/>
        </p:nvSpPr>
        <p:spPr>
          <a:xfrm>
            <a:off x="457200" y="2194560"/>
            <a:ext cx="26517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6"/>
          <p:cNvSpPr/>
          <p:nvPr/>
        </p:nvSpPr>
        <p:spPr>
          <a:xfrm>
            <a:off x="457200" y="2194560"/>
            <a:ext cx="2651700" cy="1005900"/>
          </a:xfrm>
          <a:prstGeom prst="rect">
            <a:avLst/>
          </a:prstGeom>
          <a:noFill/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6"/>
          <p:cNvSpPr/>
          <p:nvPr/>
        </p:nvSpPr>
        <p:spPr>
          <a:xfrm>
            <a:off x="548640" y="2286000"/>
            <a:ext cx="320100" cy="320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6"/>
          <p:cNvSpPr/>
          <p:nvPr/>
        </p:nvSpPr>
        <p:spPr>
          <a:xfrm>
            <a:off x="548640" y="228600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6"/>
          <p:cNvSpPr/>
          <p:nvPr/>
        </p:nvSpPr>
        <p:spPr>
          <a:xfrm>
            <a:off x="914400" y="226771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Election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6"/>
          <p:cNvSpPr/>
          <p:nvPr/>
        </p:nvSpPr>
        <p:spPr>
          <a:xfrm>
            <a:off x="914400" y="248716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✓ COMPLETE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594360" y="269748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Leader + TDMA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50ms slots/beacons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3337560" y="2194560"/>
            <a:ext cx="26517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6"/>
          <p:cNvSpPr/>
          <p:nvPr/>
        </p:nvSpPr>
        <p:spPr>
          <a:xfrm>
            <a:off x="3337560" y="2194560"/>
            <a:ext cx="2651700" cy="1005900"/>
          </a:xfrm>
          <a:prstGeom prst="rect">
            <a:avLst/>
          </a:prstGeom>
          <a:noFill/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6"/>
          <p:cNvSpPr/>
          <p:nvPr/>
        </p:nvSpPr>
        <p:spPr>
          <a:xfrm>
            <a:off x="3429000" y="2286000"/>
            <a:ext cx="320100" cy="320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6"/>
          <p:cNvSpPr/>
          <p:nvPr/>
        </p:nvSpPr>
        <p:spPr>
          <a:xfrm>
            <a:off x="3429000" y="228600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6"/>
          <p:cNvSpPr/>
          <p:nvPr/>
        </p:nvSpPr>
        <p:spPr>
          <a:xfrm>
            <a:off x="3794760" y="226771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Commands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6"/>
          <p:cNvSpPr/>
          <p:nvPr/>
        </p:nvSpPr>
        <p:spPr>
          <a:xfrm>
            <a:off x="3794760" y="248716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✓ COMPLETE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6"/>
          <p:cNvSpPr/>
          <p:nvPr/>
        </p:nvSpPr>
        <p:spPr>
          <a:xfrm>
            <a:off x="3474720" y="269748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GOTO/HOLD/STOP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Synced execution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6"/>
          <p:cNvSpPr/>
          <p:nvPr/>
        </p:nvSpPr>
        <p:spPr>
          <a:xfrm>
            <a:off x="6217920" y="2194560"/>
            <a:ext cx="26517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6"/>
          <p:cNvSpPr/>
          <p:nvPr/>
        </p:nvSpPr>
        <p:spPr>
          <a:xfrm>
            <a:off x="6217920" y="2194560"/>
            <a:ext cx="2651700" cy="1005900"/>
          </a:xfrm>
          <a:prstGeom prst="rect">
            <a:avLst/>
          </a:prstGeom>
          <a:noFill/>
          <a:ln cap="flat" cmpd="sng" w="1905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"/>
          <p:cNvSpPr/>
          <p:nvPr/>
        </p:nvSpPr>
        <p:spPr>
          <a:xfrm>
            <a:off x="6309360" y="2286000"/>
            <a:ext cx="320100" cy="320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6"/>
          <p:cNvSpPr/>
          <p:nvPr/>
        </p:nvSpPr>
        <p:spPr>
          <a:xfrm>
            <a:off x="6309360" y="228600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6"/>
          <p:cNvSpPr/>
          <p:nvPr/>
        </p:nvSpPr>
        <p:spPr>
          <a:xfrm>
            <a:off x="6675120" y="226771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Formation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6"/>
          <p:cNvSpPr/>
          <p:nvPr/>
        </p:nvSpPr>
        <p:spPr>
          <a:xfrm>
            <a:off x="6675120" y="248716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✓ COMPLETE</a:t>
            </a:r>
            <a:endParaRPr b="0" i="0" sz="8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6"/>
          <p:cNvSpPr/>
          <p:nvPr/>
        </p:nvSpPr>
        <p:spPr>
          <a:xfrm>
            <a:off x="6355080" y="269748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4 patterns + move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Leader-distributed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6"/>
          <p:cNvSpPr/>
          <p:nvPr/>
        </p:nvSpPr>
        <p:spPr>
          <a:xfrm>
            <a:off x="457200" y="3383280"/>
            <a:ext cx="26517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6"/>
          <p:cNvSpPr/>
          <p:nvPr/>
        </p:nvSpPr>
        <p:spPr>
          <a:xfrm>
            <a:off x="548640" y="3474720"/>
            <a:ext cx="320100" cy="3201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6"/>
          <p:cNvSpPr/>
          <p:nvPr/>
        </p:nvSpPr>
        <p:spPr>
          <a:xfrm>
            <a:off x="548640" y="347472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6"/>
          <p:cNvSpPr/>
          <p:nvPr/>
        </p:nvSpPr>
        <p:spPr>
          <a:xfrm>
            <a:off x="914400" y="345643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Sensor Scaffold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6"/>
          <p:cNvSpPr/>
          <p:nvPr/>
        </p:nvSpPr>
        <p:spPr>
          <a:xfrm>
            <a:off x="914400" y="367588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6"/>
          <p:cNvSpPr/>
          <p:nvPr/>
        </p:nvSpPr>
        <p:spPr>
          <a:xfrm>
            <a:off x="594360" y="388620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Sensor abstraction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Mock data API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6"/>
          <p:cNvSpPr/>
          <p:nvPr/>
        </p:nvSpPr>
        <p:spPr>
          <a:xfrm>
            <a:off x="3337560" y="3383280"/>
            <a:ext cx="26517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6"/>
          <p:cNvSpPr/>
          <p:nvPr/>
        </p:nvSpPr>
        <p:spPr>
          <a:xfrm>
            <a:off x="3429000" y="3474720"/>
            <a:ext cx="320100" cy="3201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6"/>
          <p:cNvSpPr/>
          <p:nvPr/>
        </p:nvSpPr>
        <p:spPr>
          <a:xfrm>
            <a:off x="3429000" y="347472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6"/>
          <p:cNvSpPr/>
          <p:nvPr/>
        </p:nvSpPr>
        <p:spPr>
          <a:xfrm>
            <a:off x="3794760" y="345643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Ultrasonic Distance Sensor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6"/>
          <p:cNvSpPr/>
          <p:nvPr/>
        </p:nvSpPr>
        <p:spPr>
          <a:xfrm>
            <a:off x="3794760" y="367588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6"/>
          <p:cNvSpPr/>
          <p:nvPr/>
        </p:nvSpPr>
        <p:spPr>
          <a:xfrm>
            <a:off x="3474720" y="388620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Real sensor driver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Object detection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6"/>
          <p:cNvSpPr/>
          <p:nvPr/>
        </p:nvSpPr>
        <p:spPr>
          <a:xfrm>
            <a:off x="6217920" y="3383280"/>
            <a:ext cx="26517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6"/>
          <p:cNvSpPr/>
          <p:nvPr/>
        </p:nvSpPr>
        <p:spPr>
          <a:xfrm>
            <a:off x="6309360" y="3474720"/>
            <a:ext cx="320100" cy="320100"/>
          </a:xfrm>
          <a:prstGeom prst="ellipse">
            <a:avLst/>
          </a:prstGeom>
          <a:solidFill>
            <a:srgbClr val="FFB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6"/>
          <p:cNvSpPr/>
          <p:nvPr/>
        </p:nvSpPr>
        <p:spPr>
          <a:xfrm>
            <a:off x="6309360" y="3474720"/>
            <a:ext cx="32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mbria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6"/>
          <p:cNvSpPr/>
          <p:nvPr/>
        </p:nvSpPr>
        <p:spPr>
          <a:xfrm>
            <a:off x="6675120" y="3456432"/>
            <a:ext cx="2011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Avoidance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6"/>
          <p:cNvSpPr/>
          <p:nvPr/>
        </p:nvSpPr>
        <p:spPr>
          <a:xfrm>
            <a:off x="6675120" y="3675888"/>
            <a:ext cx="9144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PLANNED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6"/>
          <p:cNvSpPr/>
          <p:nvPr/>
        </p:nvSpPr>
        <p:spPr>
          <a:xfrm>
            <a:off x="6355080" y="3886200"/>
            <a:ext cx="2377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Collision avoid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1" i="0" lang="en" sz="11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Path planning</a:t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5" name="Google Shape;345;p37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Swarm Communications — Status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7"/>
          <p:cNvSpPr/>
          <p:nvPr/>
        </p:nvSpPr>
        <p:spPr>
          <a:xfrm>
            <a:off x="45720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ESP32-S3 / ESP-NOW  •  6 of 9 development steps complete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7"/>
          <p:cNvSpPr/>
          <p:nvPr/>
        </p:nvSpPr>
        <p:spPr>
          <a:xfrm>
            <a:off x="457200" y="1051560"/>
            <a:ext cx="8229600" cy="5028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7"/>
          <p:cNvSpPr/>
          <p:nvPr/>
        </p:nvSpPr>
        <p:spPr>
          <a:xfrm>
            <a:off x="640080" y="1069848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000"/>
              <a:buFont typeface="Calibri"/>
              <a:buNone/>
            </a:pPr>
            <a:r>
              <a:rPr b="1" i="0" lang="en" sz="1500" u="none" cap="none" strike="noStrik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Development Progress: 6 / 9 Steps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7"/>
          <p:cNvSpPr/>
          <p:nvPr/>
        </p:nvSpPr>
        <p:spPr>
          <a:xfrm>
            <a:off x="640080" y="1298448"/>
            <a:ext cx="7863900" cy="183000"/>
          </a:xfrm>
          <a:prstGeom prst="rect">
            <a:avLst/>
          </a:prstGeom>
          <a:solidFill>
            <a:srgbClr val="263B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7"/>
          <p:cNvSpPr/>
          <p:nvPr/>
        </p:nvSpPr>
        <p:spPr>
          <a:xfrm>
            <a:off x="640080" y="1298448"/>
            <a:ext cx="5242500" cy="1830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7"/>
          <p:cNvSpPr/>
          <p:nvPr/>
        </p:nvSpPr>
        <p:spPr>
          <a:xfrm>
            <a:off x="640080" y="1298448"/>
            <a:ext cx="52425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67%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7"/>
          <p:cNvSpPr/>
          <p:nvPr/>
        </p:nvSpPr>
        <p:spPr>
          <a:xfrm>
            <a:off x="457200" y="1737360"/>
            <a:ext cx="1554600" cy="11430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1345" y="198659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7"/>
          <p:cNvSpPr/>
          <p:nvPr/>
        </p:nvSpPr>
        <p:spPr>
          <a:xfrm>
            <a:off x="1172272" y="1986562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6/9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7"/>
          <p:cNvSpPr/>
          <p:nvPr/>
        </p:nvSpPr>
        <p:spPr>
          <a:xfrm>
            <a:off x="457200" y="243465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Steps Complete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7"/>
          <p:cNvSpPr/>
          <p:nvPr/>
        </p:nvSpPr>
        <p:spPr>
          <a:xfrm>
            <a:off x="2125954" y="1737360"/>
            <a:ext cx="1554600" cy="11430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7818" y="1968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7"/>
          <p:cNvSpPr/>
          <p:nvPr/>
        </p:nvSpPr>
        <p:spPr>
          <a:xfrm>
            <a:off x="2994892" y="1986549"/>
            <a:ext cx="434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50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7"/>
          <p:cNvSpPr/>
          <p:nvPr/>
        </p:nvSpPr>
        <p:spPr>
          <a:xfrm>
            <a:off x="2125950" y="243465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Max Swarm Size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7"/>
          <p:cNvSpPr/>
          <p:nvPr/>
        </p:nvSpPr>
        <p:spPr>
          <a:xfrm>
            <a:off x="3794708" y="1737360"/>
            <a:ext cx="1554600" cy="11430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39065" y="19865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7"/>
          <p:cNvSpPr/>
          <p:nvPr/>
        </p:nvSpPr>
        <p:spPr>
          <a:xfrm>
            <a:off x="4539437" y="1968287"/>
            <a:ext cx="54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0%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7"/>
          <p:cNvSpPr/>
          <p:nvPr/>
        </p:nvSpPr>
        <p:spPr>
          <a:xfrm>
            <a:off x="3794700" y="243465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Packet Loss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7"/>
          <p:cNvSpPr/>
          <p:nvPr/>
        </p:nvSpPr>
        <p:spPr>
          <a:xfrm>
            <a:off x="5463461" y="1737360"/>
            <a:ext cx="1554600" cy="11430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5" name="Google Shape;365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80325" y="1968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/>
          <p:nvPr/>
        </p:nvSpPr>
        <p:spPr>
          <a:xfrm>
            <a:off x="6042282" y="1968287"/>
            <a:ext cx="801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&lt;5ms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5463450" y="243465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RTT Latency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7"/>
          <p:cNvSpPr/>
          <p:nvPr/>
        </p:nvSpPr>
        <p:spPr>
          <a:xfrm>
            <a:off x="7132215" y="1737360"/>
            <a:ext cx="1554600" cy="11430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01560" y="198653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/>
          <p:nvPr/>
        </p:nvSpPr>
        <p:spPr>
          <a:xfrm>
            <a:off x="7680952" y="1986562"/>
            <a:ext cx="921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&lt;50ms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7"/>
          <p:cNvSpPr/>
          <p:nvPr/>
        </p:nvSpPr>
        <p:spPr>
          <a:xfrm>
            <a:off x="7132225" y="2434650"/>
            <a:ext cx="1554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Command Latency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7"/>
          <p:cNvSpPr/>
          <p:nvPr/>
        </p:nvSpPr>
        <p:spPr>
          <a:xfrm>
            <a:off x="457200" y="3063240"/>
            <a:ext cx="3931800" cy="14631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3" name="Google Shape;37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31272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7"/>
          <p:cNvSpPr/>
          <p:nvPr/>
        </p:nvSpPr>
        <p:spPr>
          <a:xfrm>
            <a:off x="868680" y="3127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Completed (Steps 1-6)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7"/>
          <p:cNvSpPr/>
          <p:nvPr/>
        </p:nvSpPr>
        <p:spPr>
          <a:xfrm>
            <a:off x="457200" y="3401575"/>
            <a:ext cx="39318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64465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50"/>
              <a:buFont typeface="Calibri"/>
              <a:buChar char="●"/>
            </a:pPr>
            <a:r>
              <a:rPr b="1" i="0" lang="en" sz="11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Step 1: Modular scaffolding + transport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50"/>
              <a:buFont typeface="Calibri"/>
              <a:buChar char="●"/>
            </a:pPr>
            <a:r>
              <a:rPr b="1" i="0" lang="en" sz="11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Step 2: NVS persistent node identity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50"/>
              <a:buFont typeface="Calibri"/>
              <a:buChar char="●"/>
            </a:pPr>
            <a:r>
              <a:rPr b="1" i="0" lang="en" sz="11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Step 3: HELLO/JOIN auto-discovery (2-4 sec)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50"/>
              <a:buFont typeface="Calibri"/>
              <a:buChar char="●"/>
            </a:pPr>
            <a:r>
              <a:rPr b="1" i="0" lang="en" sz="11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Step 4: Leader election + TDMA scheduling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50"/>
              <a:buFont typeface="Calibri"/>
              <a:buChar char="●"/>
            </a:pPr>
            <a:r>
              <a:rPr b="1" i="0" lang="en" sz="11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Step 5: Command engine (GOTO/HOLD/STOP/RESUME)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32004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"/>
              <a:buFont typeface="Calibri"/>
              <a:buChar char="●"/>
            </a:pPr>
            <a:r>
              <a:rPr b="1" i="0" lang="en" sz="1150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Step 6: Formation control (line/wedge/circle/</a:t>
            </a:r>
            <a:r>
              <a:rPr b="1" lang="en" sz="11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r>
              <a:rPr b="1" i="0" lang="en" sz="1150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1" i="0" sz="1150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7"/>
          <p:cNvSpPr/>
          <p:nvPr/>
        </p:nvSpPr>
        <p:spPr>
          <a:xfrm>
            <a:off x="4754880" y="3063240"/>
            <a:ext cx="3931800" cy="14631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7" name="Google Shape;377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92040" y="31272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7"/>
          <p:cNvSpPr/>
          <p:nvPr/>
        </p:nvSpPr>
        <p:spPr>
          <a:xfrm>
            <a:off x="5166360" y="3127248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Remaining (Steps 7-9)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7"/>
          <p:cNvSpPr/>
          <p:nvPr/>
        </p:nvSpPr>
        <p:spPr>
          <a:xfrm>
            <a:off x="4937760" y="3401568"/>
            <a:ext cx="3566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64465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50"/>
              <a:buFont typeface="Calibri"/>
              <a:buChar char="●"/>
            </a:pPr>
            <a:r>
              <a:rPr b="1" lang="en" sz="115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Step 7: Obstacle sensor scaffolding</a:t>
            </a:r>
            <a:endParaRPr b="1" sz="115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50"/>
              <a:buFont typeface="Calibri"/>
              <a:buChar char="●"/>
            </a:pPr>
            <a:r>
              <a:rPr b="1" lang="en" sz="115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Step 8: mmWave radar integration</a:t>
            </a:r>
            <a:endParaRPr b="1" sz="115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50"/>
              <a:buFont typeface="Calibri"/>
              <a:buChar char="●"/>
            </a:pPr>
            <a:r>
              <a:rPr b="1" lang="en" sz="115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Step 9: Avoidance policy tuning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4465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150"/>
              <a:buFont typeface="Calibri"/>
              <a:buChar char="●"/>
            </a:pPr>
            <a:r>
              <a:rPr b="1" lang="en" sz="115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FINAL STEP: Debugging and Stress Testing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5" name="Google Shape;385;p38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Formation Control — Verified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8"/>
          <p:cNvSpPr/>
          <p:nvPr/>
        </p:nvSpPr>
        <p:spPr>
          <a:xfrm>
            <a:off x="45720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Leader-distributed  •  Extensible pattern API  •  Thread-safe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8"/>
          <p:cNvSpPr/>
          <p:nvPr/>
        </p:nvSpPr>
        <p:spPr>
          <a:xfrm>
            <a:off x="457225" y="1005840"/>
            <a:ext cx="4023300" cy="22860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8"/>
          <p:cNvSpPr/>
          <p:nvPr/>
        </p:nvSpPr>
        <p:spPr>
          <a:xfrm>
            <a:off x="640080" y="1051560"/>
            <a:ext cx="3200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200"/>
              <a:buFont typeface="Calibri"/>
              <a:buNone/>
            </a:pPr>
            <a:r>
              <a:rPr b="1" i="0" lang="en" sz="1500" u="none" cap="none" strike="noStrike">
                <a:solidFill>
                  <a:srgbClr val="00BDD1"/>
                </a:solidFill>
                <a:latin typeface="Calibri"/>
                <a:ea typeface="Calibri"/>
                <a:cs typeface="Calibri"/>
                <a:sym typeface="Calibri"/>
              </a:rPr>
              <a:t>Built-in Formation Patterns</a:t>
            </a:r>
            <a:endParaRPr b="0" i="0" sz="1500" u="none" cap="none" strike="noStrike">
              <a:solidFill>
                <a:srgbClr val="00BD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8"/>
          <p:cNvSpPr/>
          <p:nvPr/>
        </p:nvSpPr>
        <p:spPr>
          <a:xfrm>
            <a:off x="640080" y="1341120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750"/>
              <a:buFont typeface="Calibri"/>
              <a:buNone/>
            </a:pPr>
            <a:r>
              <a:rPr b="1" i="0" lang="en" sz="11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LINE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8"/>
          <p:cNvSpPr/>
          <p:nvPr/>
        </p:nvSpPr>
        <p:spPr>
          <a:xfrm>
            <a:off x="960120" y="1569720"/>
            <a:ext cx="137100" cy="1371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8"/>
          <p:cNvSpPr/>
          <p:nvPr/>
        </p:nvSpPr>
        <p:spPr>
          <a:xfrm>
            <a:off x="960120" y="1771620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8"/>
          <p:cNvSpPr/>
          <p:nvPr/>
        </p:nvSpPr>
        <p:spPr>
          <a:xfrm>
            <a:off x="960120" y="1973520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1554480" y="1341120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750"/>
              <a:buFont typeface="Calibri"/>
              <a:buNone/>
            </a:pPr>
            <a:r>
              <a:rPr b="1" lang="en" sz="115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CHEVRON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8"/>
          <p:cNvSpPr/>
          <p:nvPr/>
        </p:nvSpPr>
        <p:spPr>
          <a:xfrm>
            <a:off x="1874470" y="1576920"/>
            <a:ext cx="137100" cy="1371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8"/>
          <p:cNvSpPr/>
          <p:nvPr/>
        </p:nvSpPr>
        <p:spPr>
          <a:xfrm>
            <a:off x="1737430" y="1775220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/>
          <p:nvPr/>
        </p:nvSpPr>
        <p:spPr>
          <a:xfrm>
            <a:off x="2011635" y="1775220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8"/>
          <p:cNvSpPr/>
          <p:nvPr/>
        </p:nvSpPr>
        <p:spPr>
          <a:xfrm>
            <a:off x="2468880" y="1341120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750"/>
              <a:buFont typeface="Calibri"/>
              <a:buNone/>
            </a:pPr>
            <a:r>
              <a:rPr b="1" i="0" lang="en" sz="11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CIRCLE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8"/>
          <p:cNvSpPr/>
          <p:nvPr/>
        </p:nvSpPr>
        <p:spPr>
          <a:xfrm>
            <a:off x="2788920" y="1555795"/>
            <a:ext cx="137100" cy="1371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8"/>
          <p:cNvSpPr/>
          <p:nvPr/>
        </p:nvSpPr>
        <p:spPr>
          <a:xfrm>
            <a:off x="2977360" y="1629100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8"/>
          <p:cNvSpPr/>
          <p:nvPr/>
        </p:nvSpPr>
        <p:spPr>
          <a:xfrm>
            <a:off x="2592105" y="1629100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8"/>
          <p:cNvSpPr/>
          <p:nvPr/>
        </p:nvSpPr>
        <p:spPr>
          <a:xfrm>
            <a:off x="3383280" y="1341120"/>
            <a:ext cx="82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750"/>
              <a:buFont typeface="Calibri"/>
              <a:buNone/>
            </a:pPr>
            <a:r>
              <a:rPr b="1" lang="en" sz="115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INDIVIDUAL</a:t>
            </a:r>
            <a:endParaRPr b="1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8"/>
          <p:cNvSpPr/>
          <p:nvPr/>
        </p:nvSpPr>
        <p:spPr>
          <a:xfrm>
            <a:off x="3582745" y="1582883"/>
            <a:ext cx="137100" cy="1371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8"/>
          <p:cNvSpPr/>
          <p:nvPr/>
        </p:nvSpPr>
        <p:spPr>
          <a:xfrm>
            <a:off x="3779355" y="1858158"/>
            <a:ext cx="137100" cy="137100"/>
          </a:xfrm>
          <a:prstGeom prst="ellipse">
            <a:avLst/>
          </a:prstGeom>
          <a:noFill/>
          <a:ln cap="flat" cmpd="sng" w="9525">
            <a:solidFill>
              <a:srgbClr val="4CAF5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38"/>
          <p:cNvSpPr/>
          <p:nvPr/>
        </p:nvSpPr>
        <p:spPr>
          <a:xfrm>
            <a:off x="640080" y="2237955"/>
            <a:ext cx="3200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000"/>
              <a:buFont typeface="Calibri"/>
              <a:buNone/>
            </a:pPr>
            <a:r>
              <a:rPr b="1" i="0" lang="en" sz="1500" u="none" cap="none" strike="noStrike">
                <a:solidFill>
                  <a:srgbClr val="00BDD1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500" u="none" cap="none" strike="noStrike">
              <a:solidFill>
                <a:srgbClr val="00BD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8"/>
          <p:cNvSpPr/>
          <p:nvPr/>
        </p:nvSpPr>
        <p:spPr>
          <a:xfrm>
            <a:off x="640080" y="2468880"/>
            <a:ext cx="3657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6764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Leader sets formation type + spacing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Config broadcast to all nodes via ESP-NOW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Each node calculates its own position from index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Extensible pattern system (function pointers)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8"/>
          <p:cNvSpPr/>
          <p:nvPr/>
        </p:nvSpPr>
        <p:spPr>
          <a:xfrm>
            <a:off x="4754880" y="1005840"/>
            <a:ext cx="3931800" cy="22860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2040" y="10698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8"/>
          <p:cNvSpPr/>
          <p:nvPr/>
        </p:nvSpPr>
        <p:spPr>
          <a:xfrm>
            <a:off x="5166360" y="1069848"/>
            <a:ext cx="3383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00"/>
              <a:buFont typeface="Calibri"/>
              <a:buNone/>
            </a:pPr>
            <a:r>
              <a:rPr b="1" i="0" lang="en" sz="15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Verified on Hardware — Feb </a:t>
            </a:r>
            <a:r>
              <a:rPr b="1" lang="en" sz="1500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r>
              <a:rPr b="1" i="0" lang="en" sz="15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, 2026</a:t>
            </a:r>
            <a:endParaRPr b="0" i="0" sz="15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9" name="Google Shape;409;p38"/>
          <p:cNvGraphicFramePr/>
          <p:nvPr/>
        </p:nvGraphicFramePr>
        <p:xfrm>
          <a:off x="48920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{C8A4AE2F-9757-44FD-B27A-7648E2E99CB5}</a:tableStyleId>
              </a:tblPr>
              <a:tblGrid>
                <a:gridCol w="990575"/>
                <a:gridCol w="891500"/>
                <a:gridCol w="990575"/>
                <a:gridCol w="693400"/>
              </a:tblGrid>
              <a:tr h="21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Leader (idx 0)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Follower (idx 1)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</a:tr>
              <a:tr h="21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 2000mm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(0, 0)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(0, -2000)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21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WEDGE 2000mm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(0, 0)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(-1000, -2000)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21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WEDGE 500mm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(0, 0)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(-250, -500)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21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Spacing change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Scaled correctly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215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Non-leader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Rejected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b="1"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p38"/>
          <p:cNvSpPr/>
          <p:nvPr/>
        </p:nvSpPr>
        <p:spPr>
          <a:xfrm>
            <a:off x="4891965" y="2816290"/>
            <a:ext cx="1828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900"/>
              <a:buFont typeface="Calibri"/>
              <a:buNone/>
            </a:pPr>
            <a:r>
              <a:rPr b="1" i="0" lang="en" sz="1100" u="none" cap="none" strike="noStrik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Console Commands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8"/>
          <p:cNvSpPr/>
          <p:nvPr/>
        </p:nvSpPr>
        <p:spPr>
          <a:xfrm>
            <a:off x="4891965" y="3002837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Consolas"/>
                <a:ea typeface="Consolas"/>
                <a:cs typeface="Consolas"/>
                <a:sym typeface="Consolas"/>
              </a:rPr>
              <a:t>formation &lt;type&gt; • spacing &lt;mm&gt; • fmove &lt;x&gt; &lt;y&gt; • fstatus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8"/>
          <p:cNvSpPr/>
          <p:nvPr/>
        </p:nvSpPr>
        <p:spPr>
          <a:xfrm>
            <a:off x="457200" y="3474720"/>
            <a:ext cx="8229600" cy="10059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8"/>
          <p:cNvSpPr/>
          <p:nvPr/>
        </p:nvSpPr>
        <p:spPr>
          <a:xfrm>
            <a:off x="640080" y="35204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All Previous Steps Still Working</a:t>
            </a:r>
            <a:endParaRPr b="0" i="0" sz="110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8"/>
          <p:cNvSpPr/>
          <p:nvPr/>
        </p:nvSpPr>
        <p:spPr>
          <a:xfrm>
            <a:off x="640080" y="3794760"/>
            <a:ext cx="1417200" cy="255900"/>
          </a:xfrm>
          <a:prstGeom prst="rect">
            <a:avLst/>
          </a:prstGeom>
          <a:solidFill>
            <a:srgbClr val="263B5E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15" name="Google Shape;415;p38"/>
          <p:cNvSpPr/>
          <p:nvPr/>
        </p:nvSpPr>
        <p:spPr>
          <a:xfrm>
            <a:off x="640080" y="379476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Discovery ✓</a:t>
            </a:r>
            <a:endParaRPr b="0" i="0" sz="85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8"/>
          <p:cNvSpPr/>
          <p:nvPr/>
        </p:nvSpPr>
        <p:spPr>
          <a:xfrm>
            <a:off x="2240280" y="3794760"/>
            <a:ext cx="1417200" cy="255900"/>
          </a:xfrm>
          <a:prstGeom prst="rect">
            <a:avLst/>
          </a:prstGeom>
          <a:solidFill>
            <a:srgbClr val="263B5E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17" name="Google Shape;417;p38"/>
          <p:cNvSpPr/>
          <p:nvPr/>
        </p:nvSpPr>
        <p:spPr>
          <a:xfrm>
            <a:off x="2240280" y="379476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Election ✓</a:t>
            </a:r>
            <a:endParaRPr b="0" i="0" sz="85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8"/>
          <p:cNvSpPr/>
          <p:nvPr/>
        </p:nvSpPr>
        <p:spPr>
          <a:xfrm>
            <a:off x="3840480" y="3794760"/>
            <a:ext cx="1417200" cy="255900"/>
          </a:xfrm>
          <a:prstGeom prst="rect">
            <a:avLst/>
          </a:prstGeom>
          <a:solidFill>
            <a:srgbClr val="263B5E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19" name="Google Shape;419;p38"/>
          <p:cNvSpPr/>
          <p:nvPr/>
        </p:nvSpPr>
        <p:spPr>
          <a:xfrm>
            <a:off x="3840480" y="379476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TDMA ✓</a:t>
            </a:r>
            <a:endParaRPr b="0" i="0" sz="85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5440680" y="3794760"/>
            <a:ext cx="1417200" cy="255900"/>
          </a:xfrm>
          <a:prstGeom prst="rect">
            <a:avLst/>
          </a:prstGeom>
          <a:solidFill>
            <a:srgbClr val="263B5E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21" name="Google Shape;421;p38"/>
          <p:cNvSpPr/>
          <p:nvPr/>
        </p:nvSpPr>
        <p:spPr>
          <a:xfrm>
            <a:off x="5440680" y="379476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GOTO ✓</a:t>
            </a:r>
            <a:endParaRPr b="0" i="0" sz="85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8"/>
          <p:cNvSpPr/>
          <p:nvPr/>
        </p:nvSpPr>
        <p:spPr>
          <a:xfrm>
            <a:off x="7040880" y="3794760"/>
            <a:ext cx="1417200" cy="255900"/>
          </a:xfrm>
          <a:prstGeom prst="rect">
            <a:avLst/>
          </a:prstGeom>
          <a:solidFill>
            <a:srgbClr val="263B5E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23" name="Google Shape;423;p38"/>
          <p:cNvSpPr/>
          <p:nvPr/>
        </p:nvSpPr>
        <p:spPr>
          <a:xfrm>
            <a:off x="7040880" y="379476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HOLD ✓</a:t>
            </a:r>
            <a:endParaRPr b="0" i="0" sz="85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8"/>
          <p:cNvSpPr/>
          <p:nvPr/>
        </p:nvSpPr>
        <p:spPr>
          <a:xfrm>
            <a:off x="640080" y="4114800"/>
            <a:ext cx="1417200" cy="255900"/>
          </a:xfrm>
          <a:prstGeom prst="rect">
            <a:avLst/>
          </a:prstGeom>
          <a:solidFill>
            <a:srgbClr val="263B5E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25" name="Google Shape;425;p38"/>
          <p:cNvSpPr/>
          <p:nvPr/>
        </p:nvSpPr>
        <p:spPr>
          <a:xfrm>
            <a:off x="640080" y="411480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STOP ✓</a:t>
            </a:r>
            <a:endParaRPr b="0" i="0" sz="85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8"/>
          <p:cNvSpPr/>
          <p:nvPr/>
        </p:nvSpPr>
        <p:spPr>
          <a:xfrm>
            <a:off x="2240280" y="4114800"/>
            <a:ext cx="1417200" cy="255900"/>
          </a:xfrm>
          <a:prstGeom prst="rect">
            <a:avLst/>
          </a:prstGeom>
          <a:solidFill>
            <a:srgbClr val="263B5E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27" name="Google Shape;427;p38"/>
          <p:cNvSpPr/>
          <p:nvPr/>
        </p:nvSpPr>
        <p:spPr>
          <a:xfrm>
            <a:off x="2240280" y="411480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RESUME ✓</a:t>
            </a:r>
            <a:endParaRPr b="0" i="0" sz="85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8"/>
          <p:cNvSpPr/>
          <p:nvPr/>
        </p:nvSpPr>
        <p:spPr>
          <a:xfrm>
            <a:off x="3840480" y="4114800"/>
            <a:ext cx="1417200" cy="255900"/>
          </a:xfrm>
          <a:prstGeom prst="rect">
            <a:avLst/>
          </a:prstGeom>
          <a:solidFill>
            <a:srgbClr val="263B5E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29" name="Google Shape;429;p38"/>
          <p:cNvSpPr/>
          <p:nvPr/>
        </p:nvSpPr>
        <p:spPr>
          <a:xfrm>
            <a:off x="3840480" y="411480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Failover ✓</a:t>
            </a:r>
            <a:endParaRPr b="0" i="0" sz="85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8"/>
          <p:cNvSpPr/>
          <p:nvPr/>
        </p:nvSpPr>
        <p:spPr>
          <a:xfrm>
            <a:off x="5440680" y="4114800"/>
            <a:ext cx="1417200" cy="255900"/>
          </a:xfrm>
          <a:prstGeom prst="rect">
            <a:avLst/>
          </a:prstGeom>
          <a:solidFill>
            <a:srgbClr val="263B5E"/>
          </a:solidFill>
          <a:ln cap="flat" cmpd="sng" w="9525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5440680" y="4114800"/>
            <a:ext cx="1417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0FF00"/>
                </a:solidFill>
                <a:latin typeface="Calibri"/>
                <a:ea typeface="Calibri"/>
                <a:cs typeface="Calibri"/>
                <a:sym typeface="Calibri"/>
              </a:rPr>
              <a:t>Thread Safety ✓</a:t>
            </a:r>
            <a:endParaRPr b="0" i="0" sz="850" u="none" cap="none" strike="noStrike">
              <a:solidFill>
                <a:srgbClr val="00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8"/>
          <p:cNvSpPr/>
          <p:nvPr/>
        </p:nvSpPr>
        <p:spPr>
          <a:xfrm>
            <a:off x="2148685" y="1969370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8"/>
          <p:cNvSpPr/>
          <p:nvPr/>
        </p:nvSpPr>
        <p:spPr>
          <a:xfrm>
            <a:off x="1600280" y="1969370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8"/>
          <p:cNvSpPr/>
          <p:nvPr/>
        </p:nvSpPr>
        <p:spPr>
          <a:xfrm>
            <a:off x="3063135" y="1836425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38"/>
          <p:cNvSpPr/>
          <p:nvPr/>
        </p:nvSpPr>
        <p:spPr>
          <a:xfrm>
            <a:off x="2977360" y="2026925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8"/>
          <p:cNvSpPr/>
          <p:nvPr/>
        </p:nvSpPr>
        <p:spPr>
          <a:xfrm>
            <a:off x="2788835" y="2103225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8"/>
          <p:cNvSpPr/>
          <p:nvPr/>
        </p:nvSpPr>
        <p:spPr>
          <a:xfrm>
            <a:off x="2514735" y="1836425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8"/>
          <p:cNvSpPr/>
          <p:nvPr/>
        </p:nvSpPr>
        <p:spPr>
          <a:xfrm>
            <a:off x="2609635" y="2026913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8"/>
          <p:cNvSpPr/>
          <p:nvPr/>
        </p:nvSpPr>
        <p:spPr>
          <a:xfrm>
            <a:off x="3386168" y="1858158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8"/>
          <p:cNvSpPr/>
          <p:nvPr/>
        </p:nvSpPr>
        <p:spPr>
          <a:xfrm>
            <a:off x="3485368" y="1720895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8"/>
          <p:cNvSpPr/>
          <p:nvPr/>
        </p:nvSpPr>
        <p:spPr>
          <a:xfrm>
            <a:off x="3680343" y="1720895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38"/>
          <p:cNvSpPr/>
          <p:nvPr/>
        </p:nvSpPr>
        <p:spPr>
          <a:xfrm>
            <a:off x="4318180" y="1534633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8"/>
          <p:cNvSpPr/>
          <p:nvPr/>
        </p:nvSpPr>
        <p:spPr>
          <a:xfrm>
            <a:off x="3582761" y="1858158"/>
            <a:ext cx="137100" cy="1371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4" name="Google Shape;444;p38"/>
          <p:cNvCxnSpPr/>
          <p:nvPr/>
        </p:nvCxnSpPr>
        <p:spPr>
          <a:xfrm flipH="1" rot="10800000">
            <a:off x="3921558" y="1638455"/>
            <a:ext cx="404100" cy="253800"/>
          </a:xfrm>
          <a:prstGeom prst="straightConnector1">
            <a:avLst/>
          </a:prstGeom>
          <a:noFill/>
          <a:ln cap="flat" cmpd="sng" w="9525">
            <a:solidFill>
              <a:srgbClr val="C62828"/>
            </a:solidFill>
            <a:prstDash val="dash"/>
            <a:round/>
            <a:headEnd len="med" w="med" type="none"/>
            <a:tailEnd len="med" w="med" type="stealth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39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Hardware &amp; Verified Metrics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9"/>
          <p:cNvSpPr/>
          <p:nvPr/>
        </p:nvSpPr>
        <p:spPr>
          <a:xfrm>
            <a:off x="45720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ESP32-S3  •  All performance metrics exceed requirements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9"/>
          <p:cNvSpPr/>
          <p:nvPr/>
        </p:nvSpPr>
        <p:spPr>
          <a:xfrm>
            <a:off x="457200" y="1005840"/>
            <a:ext cx="3931800" cy="18288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3" name="Google Shape;45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0698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9"/>
          <p:cNvSpPr/>
          <p:nvPr/>
        </p:nvSpPr>
        <p:spPr>
          <a:xfrm>
            <a:off x="868680" y="10698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200"/>
              <a:buFont typeface="Calibri"/>
              <a:buNone/>
            </a:pPr>
            <a:r>
              <a:rPr b="1" i="0" lang="en" sz="1500" u="none" cap="none" strike="noStrik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ESP32-S3 Platform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640075" y="1371600"/>
            <a:ext cx="3748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6764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MCU: Xtensa Dual-Core @ 240 MHz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Radio: 2.4 GHz WiFi (ESP-NOW protocol)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Range: 30m+ indoor, 100m+ outdoor (line of sight)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UART0=Console, UART1=Pixhawk, UART2=Jetson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RTOS: FreeRTOS • Storage: NVS Flash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Currently verified on 2 dev boards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4754880" y="1005840"/>
            <a:ext cx="3931800" cy="18288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7" name="Google Shape;45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040" y="106984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9"/>
          <p:cNvSpPr/>
          <p:nvPr/>
        </p:nvSpPr>
        <p:spPr>
          <a:xfrm>
            <a:off x="5166360" y="1069848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200"/>
              <a:buFont typeface="Calibri"/>
              <a:buNone/>
            </a:pPr>
            <a:r>
              <a:rPr b="1" i="0" lang="en" sz="1500" u="none" cap="none" strike="noStrik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Resource Usage (per node)</a:t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9" name="Google Shape;459;p39"/>
          <p:cNvGraphicFramePr/>
          <p:nvPr/>
        </p:nvGraphicFramePr>
        <p:xfrm>
          <a:off x="489204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{C8A4AE2F-9757-44FD-B27A-7648E2E99CB5}</a:tableStyleId>
              </a:tblPr>
              <a:tblGrid>
                <a:gridCol w="2011675"/>
                <a:gridCol w="1645925"/>
              </a:tblGrid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Resource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Usage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Flash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~800 KB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RAM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~10 KB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CPU Load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&lt;5%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Network Traffic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~50-100 B/sec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182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Modules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(6 active, 3 stub)</a:t>
                      </a:r>
                      <a:endParaRPr b="1"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</a:tbl>
          </a:graphicData>
        </a:graphic>
      </p:graphicFrame>
      <p:sp>
        <p:nvSpPr>
          <p:cNvPr id="460" name="Google Shape;460;p39"/>
          <p:cNvSpPr/>
          <p:nvPr/>
        </p:nvSpPr>
        <p:spPr>
          <a:xfrm>
            <a:off x="457200" y="3017520"/>
            <a:ext cx="1965900" cy="14631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9"/>
          <p:cNvSpPr/>
          <p:nvPr/>
        </p:nvSpPr>
        <p:spPr>
          <a:xfrm>
            <a:off x="457200" y="3108960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4-5 ms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9"/>
          <p:cNvSpPr/>
          <p:nvPr/>
        </p:nvSpPr>
        <p:spPr>
          <a:xfrm>
            <a:off x="457200" y="3566160"/>
            <a:ext cx="196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RTT Latency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9"/>
          <p:cNvSpPr/>
          <p:nvPr/>
        </p:nvSpPr>
        <p:spPr>
          <a:xfrm>
            <a:off x="457200" y="3840480"/>
            <a:ext cx="196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Req: &lt;10 ms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1005840" y="4114800"/>
            <a:ext cx="868800" cy="2559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9"/>
          <p:cNvSpPr/>
          <p:nvPr/>
        </p:nvSpPr>
        <p:spPr>
          <a:xfrm>
            <a:off x="1005840" y="4114800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2606040" y="3017520"/>
            <a:ext cx="1965900" cy="14631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9"/>
          <p:cNvSpPr/>
          <p:nvPr/>
        </p:nvSpPr>
        <p:spPr>
          <a:xfrm>
            <a:off x="2606040" y="3108960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0%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2606040" y="3566160"/>
            <a:ext cx="196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Packet Loss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9"/>
          <p:cNvSpPr/>
          <p:nvPr/>
        </p:nvSpPr>
        <p:spPr>
          <a:xfrm>
            <a:off x="2606040" y="3840480"/>
            <a:ext cx="196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Req: &lt;5%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9"/>
          <p:cNvSpPr/>
          <p:nvPr/>
        </p:nvSpPr>
        <p:spPr>
          <a:xfrm>
            <a:off x="3154680" y="4114800"/>
            <a:ext cx="868800" cy="2559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9"/>
          <p:cNvSpPr/>
          <p:nvPr/>
        </p:nvSpPr>
        <p:spPr>
          <a:xfrm>
            <a:off x="3154680" y="4114800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4754880" y="3017520"/>
            <a:ext cx="1965900" cy="14631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9"/>
          <p:cNvSpPr/>
          <p:nvPr/>
        </p:nvSpPr>
        <p:spPr>
          <a:xfrm>
            <a:off x="4754880" y="3108960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-16 to -24 dBm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9"/>
          <p:cNvSpPr/>
          <p:nvPr/>
        </p:nvSpPr>
        <p:spPr>
          <a:xfrm>
            <a:off x="4754880" y="3566160"/>
            <a:ext cx="196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Signal (RSSI)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9"/>
          <p:cNvSpPr/>
          <p:nvPr/>
        </p:nvSpPr>
        <p:spPr>
          <a:xfrm>
            <a:off x="4754880" y="3840480"/>
            <a:ext cx="196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Req: &gt;-70 dBm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9"/>
          <p:cNvSpPr/>
          <p:nvPr/>
        </p:nvSpPr>
        <p:spPr>
          <a:xfrm>
            <a:off x="5303520" y="4114800"/>
            <a:ext cx="868800" cy="2559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39"/>
          <p:cNvSpPr/>
          <p:nvPr/>
        </p:nvSpPr>
        <p:spPr>
          <a:xfrm>
            <a:off x="5303520" y="4114800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6903720" y="3017520"/>
            <a:ext cx="1965900" cy="14631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9"/>
          <p:cNvSpPr/>
          <p:nvPr/>
        </p:nvSpPr>
        <p:spPr>
          <a:xfrm>
            <a:off x="6903720" y="3108960"/>
            <a:ext cx="196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200"/>
              <a:buFont typeface="Cambria"/>
              <a:buNone/>
            </a:pPr>
            <a:r>
              <a:rPr b="1" i="0" lang="en" sz="22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2-4 sec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9"/>
          <p:cNvSpPr/>
          <p:nvPr/>
        </p:nvSpPr>
        <p:spPr>
          <a:xfrm>
            <a:off x="6903720" y="3566160"/>
            <a:ext cx="196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Discovery Time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9"/>
          <p:cNvSpPr/>
          <p:nvPr/>
        </p:nvSpPr>
        <p:spPr>
          <a:xfrm>
            <a:off x="6903720" y="3840480"/>
            <a:ext cx="196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Req: &lt;5 sec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9"/>
          <p:cNvSpPr/>
          <p:nvPr/>
        </p:nvSpPr>
        <p:spPr>
          <a:xfrm>
            <a:off x="7452360" y="4114800"/>
            <a:ext cx="868800" cy="2559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39"/>
          <p:cNvSpPr/>
          <p:nvPr/>
        </p:nvSpPr>
        <p:spPr>
          <a:xfrm>
            <a:off x="7452360" y="4114800"/>
            <a:ext cx="868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40"/>
          <p:cNvSpPr/>
          <p:nvPr/>
        </p:nvSpPr>
        <p:spPr>
          <a:xfrm>
            <a:off x="457200" y="22860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SRVM Verification – Requirement </a:t>
            </a:r>
            <a:r>
              <a:rPr b="1" lang="en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.4.2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0"/>
          <p:cNvSpPr/>
          <p:nvPr/>
        </p:nvSpPr>
        <p:spPr>
          <a:xfrm>
            <a:off x="457200" y="749808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Inter-Drone Communication: PARTIAL PASS → Advancing to FULL PASS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0"/>
          <p:cNvSpPr/>
          <p:nvPr/>
        </p:nvSpPr>
        <p:spPr>
          <a:xfrm>
            <a:off x="457200" y="1051560"/>
            <a:ext cx="8229600" cy="13800"/>
          </a:xfrm>
          <a:prstGeom prst="rect">
            <a:avLst/>
          </a:prstGeom>
          <a:solidFill>
            <a:srgbClr val="CC00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92" name="Google Shape;492;p40"/>
          <p:cNvGraphicFramePr/>
          <p:nvPr/>
        </p:nvGraphicFramePr>
        <p:xfrm>
          <a:off x="45720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{C8A4AE2F-9757-44FD-B27A-7648E2E99CB5}</a:tableStyleId>
              </a:tblPr>
              <a:tblGrid>
                <a:gridCol w="1713425"/>
                <a:gridCol w="963675"/>
                <a:gridCol w="4544975"/>
                <a:gridCol w="1007525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Verification Method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Evidence / Detail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AF5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b="1" sz="1000" u="none" cap="none" strike="noStrike">
                        <a:solidFill>
                          <a:srgbClr val="00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RTT &lt;5ms  |  0% loss  |  RSSI -16 to -24 dBm  |  Discovery &lt;5s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Wk 6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DEMONSTRATION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CAF5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PASS</a:t>
                      </a:r>
                      <a:endParaRPr b="1" sz="1000" u="none" cap="none" strike="noStrike">
                        <a:solidFill>
                          <a:srgbClr val="00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2-node swarm: auto-discovery, leader election, TDMA, cmd sync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Wk 6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ANALYSIS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B300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In Progress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Scalability 2→50 nodes, traffic modeling, performance projections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Wk 9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INSPECTION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C8DB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5C8DB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○ Planned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 inspection, antenna placement, enclosure RF check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Wk 12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</a:tbl>
          </a:graphicData>
        </a:graphic>
      </p:graphicFrame>
      <p:sp>
        <p:nvSpPr>
          <p:cNvPr id="493" name="Google Shape;493;p40"/>
          <p:cNvSpPr/>
          <p:nvPr/>
        </p:nvSpPr>
        <p:spPr>
          <a:xfrm>
            <a:off x="457200" y="3298233"/>
            <a:ext cx="8229600" cy="10974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0"/>
          <p:cNvSpPr/>
          <p:nvPr/>
        </p:nvSpPr>
        <p:spPr>
          <a:xfrm>
            <a:off x="640075" y="3384169"/>
            <a:ext cx="2743200" cy="2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200"/>
              <a:buFont typeface="Calibri"/>
              <a:buNone/>
            </a:pPr>
            <a:r>
              <a:rPr b="1" lang="en" sz="1700">
                <a:solidFill>
                  <a:srgbClr val="00BDD1"/>
                </a:solidFill>
                <a:latin typeface="Calibri"/>
                <a:ea typeface="Calibri"/>
                <a:cs typeface="Calibri"/>
                <a:sym typeface="Calibri"/>
              </a:rPr>
              <a:t>Other Requirements</a:t>
            </a:r>
            <a:endParaRPr b="0" i="0" sz="1700" u="none" cap="none" strike="noStrike">
              <a:solidFill>
                <a:srgbClr val="00BD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0"/>
          <p:cNvSpPr/>
          <p:nvPr/>
        </p:nvSpPr>
        <p:spPr>
          <a:xfrm>
            <a:off x="384602" y="3485133"/>
            <a:ext cx="8499600" cy="9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73990" lvl="0" marL="22860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lang="en" sz="130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.3.1 Survivability – ◐ Test: ✓ COMMS PASS (0% packet loss w/ calm conditions)  |  Analysis: Scheduled Wk 9</a:t>
            </a:r>
            <a:endParaRPr b="1" sz="1300">
              <a:solidFill>
                <a:srgbClr val="FFB3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99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5.4.3 Data Relay –</a:t>
            </a:r>
            <a:r>
              <a:rPr b="1" lang="en" sz="130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 Demonstr</a:t>
            </a:r>
            <a:r>
              <a:rPr b="1" lang="en" sz="130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ation: ◐ PARTIAL (positional data sent, sensor data pending)</a:t>
            </a:r>
            <a:endParaRPr b="1" sz="1300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99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300"/>
              <a:buFont typeface="Calibri"/>
              <a:buChar char="●"/>
            </a:pPr>
            <a:r>
              <a:rPr b="1" lang="en" sz="130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" sz="13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.4.1 Autonomy &amp; Control </a:t>
            </a:r>
            <a:r>
              <a:rPr b="1" lang="en" sz="130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b="1" i="0" lang="en" sz="1300" u="none" cap="none" strike="noStrike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Demonstration: ◐ PARTIAL (command execution OK, formation pending) - </a:t>
            </a:r>
            <a:r>
              <a:rPr b="1" lang="en" sz="1300">
                <a:solidFill>
                  <a:srgbClr val="FFB300"/>
                </a:solidFill>
                <a:latin typeface="Calibri"/>
                <a:ea typeface="Calibri"/>
                <a:cs typeface="Calibri"/>
                <a:sym typeface="Calibri"/>
              </a:rPr>
              <a:t>NO CHANGE</a:t>
            </a:r>
            <a:endParaRPr b="1" i="0" sz="1300" u="none" cap="none" strike="noStrike">
              <a:solidFill>
                <a:srgbClr val="FFB3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1" name="Google Shape;501;p41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Power Subsystem</a:t>
            </a:r>
            <a:r>
              <a:rPr b="1" lang="en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/Electrical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1"/>
          <p:cNvSpPr/>
          <p:nvPr/>
        </p:nvSpPr>
        <p:spPr>
          <a:xfrm>
            <a:off x="457200" y="658368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Design unchanged from CDR  •  Fuse protection upgraded  •  All parts ordered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1"/>
          <p:cNvSpPr/>
          <p:nvPr/>
        </p:nvSpPr>
        <p:spPr>
          <a:xfrm>
            <a:off x="457200" y="1097280"/>
            <a:ext cx="3931800" cy="17373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4" name="Google Shape;504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10" y="123444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1"/>
          <p:cNvSpPr/>
          <p:nvPr/>
        </p:nvSpPr>
        <p:spPr>
          <a:xfrm>
            <a:off x="868500" y="1280145"/>
            <a:ext cx="352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A825"/>
              </a:buClr>
              <a:buSzPts val="1300"/>
              <a:buFont typeface="Calibri"/>
              <a:buNone/>
            </a:pPr>
            <a:r>
              <a:rPr b="1" i="0" lang="en" sz="1800" u="none" cap="none" strike="noStrike">
                <a:solidFill>
                  <a:srgbClr val="F9A825"/>
                </a:solidFill>
                <a:latin typeface="Calibri"/>
                <a:ea typeface="Calibri"/>
                <a:cs typeface="Calibri"/>
                <a:sym typeface="Calibri"/>
              </a:rPr>
              <a:t>Changes Since CDR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1"/>
          <p:cNvSpPr/>
          <p:nvPr/>
        </p:nvSpPr>
        <p:spPr>
          <a:xfrm>
            <a:off x="457200" y="1554475"/>
            <a:ext cx="3931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67640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Main fuse upgraded: 80A → 150A (MRBF holder)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Added dedicated 125A motor fuse (MIDI block)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Proper fuse blocks: MRBF + MIDI + ST Blade ATO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Added thermal pads for heat management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1"/>
          <p:cNvSpPr/>
          <p:nvPr/>
        </p:nvSpPr>
        <p:spPr>
          <a:xfrm>
            <a:off x="4754880" y="1097280"/>
            <a:ext cx="3931800" cy="17373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8" name="Google Shape;50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8999" y="1234404"/>
            <a:ext cx="365700" cy="365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1"/>
          <p:cNvSpPr/>
          <p:nvPr/>
        </p:nvSpPr>
        <p:spPr>
          <a:xfrm>
            <a:off x="5236325" y="1280213"/>
            <a:ext cx="3523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1300"/>
              <a:buFont typeface="Calibri"/>
              <a:buNone/>
            </a:pPr>
            <a:r>
              <a:rPr b="1" i="0" lang="en" sz="1800" u="none" cap="none" strike="noStrike">
                <a:solidFill>
                  <a:srgbClr val="4CAF50"/>
                </a:solidFill>
                <a:latin typeface="Calibri"/>
                <a:ea typeface="Calibri"/>
                <a:cs typeface="Calibri"/>
                <a:sym typeface="Calibri"/>
              </a:rPr>
              <a:t>Unchanged from CDR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1"/>
          <p:cNvSpPr/>
          <p:nvPr/>
        </p:nvSpPr>
        <p:spPr>
          <a:xfrm>
            <a:off x="4754750" y="1554475"/>
            <a:ext cx="3931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-167640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6S LiPo battery architecture (22.2V)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lang="en" sz="120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Busbar</a:t>
            </a: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 distribution (+/- rails)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Voltage converters: 5V, 12V buck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Castle BEC for rudder servo (7.4V)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7640" lvl="0" marL="32004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200"/>
              <a:buFont typeface="Calibri"/>
              <a:buChar char="●"/>
            </a:pPr>
            <a:r>
              <a:rPr b="1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Manual kill switch + master safety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1"/>
          <p:cNvSpPr/>
          <p:nvPr/>
        </p:nvSpPr>
        <p:spPr>
          <a:xfrm>
            <a:off x="457200" y="3063240"/>
            <a:ext cx="1554600" cy="14172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41"/>
          <p:cNvSpPr/>
          <p:nvPr/>
        </p:nvSpPr>
        <p:spPr>
          <a:xfrm>
            <a:off x="457200" y="3154680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22.2V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1"/>
          <p:cNvSpPr/>
          <p:nvPr/>
        </p:nvSpPr>
        <p:spPr>
          <a:xfrm>
            <a:off x="457200" y="365760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Battery Voltage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1"/>
          <p:cNvSpPr/>
          <p:nvPr/>
        </p:nvSpPr>
        <p:spPr>
          <a:xfrm>
            <a:off x="457200" y="39776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6S LiPo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1"/>
          <p:cNvSpPr/>
          <p:nvPr/>
        </p:nvSpPr>
        <p:spPr>
          <a:xfrm>
            <a:off x="2194560" y="3063240"/>
            <a:ext cx="1554600" cy="14172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41"/>
          <p:cNvSpPr/>
          <p:nvPr/>
        </p:nvSpPr>
        <p:spPr>
          <a:xfrm>
            <a:off x="2194560" y="3154680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150A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1"/>
          <p:cNvSpPr/>
          <p:nvPr/>
        </p:nvSpPr>
        <p:spPr>
          <a:xfrm>
            <a:off x="2194560" y="365760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Main Fuse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1"/>
          <p:cNvSpPr/>
          <p:nvPr/>
        </p:nvSpPr>
        <p:spPr>
          <a:xfrm>
            <a:off x="2194560" y="39776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MRBF Block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1"/>
          <p:cNvSpPr/>
          <p:nvPr/>
        </p:nvSpPr>
        <p:spPr>
          <a:xfrm>
            <a:off x="3931920" y="3063240"/>
            <a:ext cx="1554600" cy="14172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1"/>
          <p:cNvSpPr/>
          <p:nvPr/>
        </p:nvSpPr>
        <p:spPr>
          <a:xfrm>
            <a:off x="3931920" y="3154680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125A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1"/>
          <p:cNvSpPr/>
          <p:nvPr/>
        </p:nvSpPr>
        <p:spPr>
          <a:xfrm>
            <a:off x="3931920" y="365760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Motor Fuse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1"/>
          <p:cNvSpPr/>
          <p:nvPr/>
        </p:nvSpPr>
        <p:spPr>
          <a:xfrm>
            <a:off x="3931920" y="39776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MIDI Block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1"/>
          <p:cNvSpPr/>
          <p:nvPr/>
        </p:nvSpPr>
        <p:spPr>
          <a:xfrm>
            <a:off x="5669280" y="3063240"/>
            <a:ext cx="1554600" cy="14172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1"/>
          <p:cNvSpPr/>
          <p:nvPr/>
        </p:nvSpPr>
        <p:spPr>
          <a:xfrm>
            <a:off x="5669280" y="3154680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~155W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1"/>
          <p:cNvSpPr/>
          <p:nvPr/>
        </p:nvSpPr>
        <p:spPr>
          <a:xfrm>
            <a:off x="5669280" y="365760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Cruise Draw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1"/>
          <p:cNvSpPr/>
          <p:nvPr/>
        </p:nvSpPr>
        <p:spPr>
          <a:xfrm>
            <a:off x="5669280" y="39776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All Systems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1"/>
          <p:cNvSpPr/>
          <p:nvPr/>
        </p:nvSpPr>
        <p:spPr>
          <a:xfrm>
            <a:off x="7406640" y="3063240"/>
            <a:ext cx="1554600" cy="14172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/>
          <p:nvPr/>
        </p:nvSpPr>
        <p:spPr>
          <a:xfrm>
            <a:off x="7406640" y="3154680"/>
            <a:ext cx="1554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2400"/>
              <a:buFont typeface="Cambria"/>
              <a:buNone/>
            </a:pPr>
            <a:r>
              <a:rPr b="1" i="0" lang="en" sz="2400" u="none" cap="none" strike="noStrike">
                <a:solidFill>
                  <a:srgbClr val="0097A7"/>
                </a:solidFill>
                <a:latin typeface="Cambria"/>
                <a:ea typeface="Cambria"/>
                <a:cs typeface="Cambria"/>
                <a:sym typeface="Cambria"/>
              </a:rPr>
              <a:t>~51 min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1"/>
          <p:cNvSpPr/>
          <p:nvPr/>
        </p:nvSpPr>
        <p:spPr>
          <a:xfrm>
            <a:off x="7406640" y="3657600"/>
            <a:ext cx="155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CF1"/>
              </a:buClr>
              <a:buSzPts val="1000"/>
              <a:buFont typeface="Calibri"/>
              <a:buNone/>
            </a:pPr>
            <a:r>
              <a:rPr b="0" i="0" lang="en" sz="12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Cruise Endurance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41"/>
          <p:cNvSpPr/>
          <p:nvPr/>
        </p:nvSpPr>
        <p:spPr>
          <a:xfrm>
            <a:off x="7406640" y="3977640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850"/>
              <a:buFont typeface="Calibri"/>
              <a:buNone/>
            </a:pPr>
            <a:r>
              <a:rPr b="0" i="0" lang="en" sz="1050" u="none" cap="none" strike="noStrike">
                <a:solidFill>
                  <a:srgbClr val="B0BEC5"/>
                </a:solidFill>
                <a:latin typeface="Calibri"/>
                <a:ea typeface="Calibri"/>
                <a:cs typeface="Calibri"/>
                <a:sym typeface="Calibri"/>
              </a:rPr>
              <a:t>133.2 Wh</a:t>
            </a:r>
            <a:endParaRPr b="0" i="0" sz="10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2"/>
          <p:cNvSpPr txBox="1"/>
          <p:nvPr>
            <p:ph idx="12" type="sldNum"/>
          </p:nvPr>
        </p:nvSpPr>
        <p:spPr>
          <a:xfrm>
            <a:off x="8595309" y="476257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42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Power System — Block Diagram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2"/>
          <p:cNvSpPr/>
          <p:nvPr/>
        </p:nvSpPr>
        <p:spPr>
          <a:xfrm>
            <a:off x="990038" y="743217"/>
            <a:ext cx="2011800" cy="502800"/>
          </a:xfrm>
          <a:prstGeom prst="rect">
            <a:avLst/>
          </a:prstGeom>
          <a:solidFill>
            <a:srgbClr val="C62828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6S LiPo Battery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22.2V  /  6Ah  /  133 Wh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2"/>
          <p:cNvSpPr/>
          <p:nvPr/>
        </p:nvSpPr>
        <p:spPr>
          <a:xfrm>
            <a:off x="3899125" y="820917"/>
            <a:ext cx="1371600" cy="347400"/>
          </a:xfrm>
          <a:prstGeom prst="rect">
            <a:avLst/>
          </a:prstGeom>
          <a:solidFill>
            <a:srgbClr val="F9A8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MRBF — 150A</a:t>
            </a:r>
            <a:endParaRPr b="1" sz="800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2"/>
          <p:cNvSpPr/>
          <p:nvPr/>
        </p:nvSpPr>
        <p:spPr>
          <a:xfrm>
            <a:off x="6551388" y="820917"/>
            <a:ext cx="1188600" cy="347400"/>
          </a:xfrm>
          <a:prstGeom prst="rect">
            <a:avLst/>
          </a:prstGeom>
          <a:solidFill>
            <a:srgbClr val="F9A8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00"/>
              <a:buFont typeface="Calibri"/>
              <a:buNone/>
            </a:pPr>
            <a:r>
              <a:rPr b="1" i="0" lang="en" sz="800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Kill </a:t>
            </a:r>
            <a:r>
              <a:rPr b="1" lang="en" sz="800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42"/>
          <p:cNvSpPr/>
          <p:nvPr/>
        </p:nvSpPr>
        <p:spPr>
          <a:xfrm>
            <a:off x="350000" y="1456675"/>
            <a:ext cx="8471400" cy="347400"/>
          </a:xfrm>
          <a:prstGeom prst="rect">
            <a:avLst/>
          </a:prstGeom>
          <a:solidFill>
            <a:srgbClr val="455A64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+) Bus</a:t>
            </a: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22.2V Rail</a:t>
            </a:r>
            <a:r>
              <a:rPr b="1" lang="en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(</a:t>
            </a: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–)</a:t>
            </a: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Busbar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2"/>
          <p:cNvSpPr/>
          <p:nvPr/>
        </p:nvSpPr>
        <p:spPr>
          <a:xfrm>
            <a:off x="349990" y="2158751"/>
            <a:ext cx="1280100" cy="347400"/>
          </a:xfrm>
          <a:prstGeom prst="rect">
            <a:avLst/>
          </a:prstGeom>
          <a:solidFill>
            <a:srgbClr val="F9A8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MIDI — 125A</a:t>
            </a:r>
            <a:endParaRPr b="1" sz="800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2" name="Google Shape;542;p42"/>
          <p:cNvCxnSpPr>
            <a:endCxn id="541" idx="0"/>
          </p:cNvCxnSpPr>
          <p:nvPr/>
        </p:nvCxnSpPr>
        <p:spPr>
          <a:xfrm>
            <a:off x="990040" y="1802351"/>
            <a:ext cx="0" cy="3564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3" name="Google Shape;543;p42"/>
          <p:cNvSpPr/>
          <p:nvPr/>
        </p:nvSpPr>
        <p:spPr>
          <a:xfrm>
            <a:off x="212740" y="2860835"/>
            <a:ext cx="1554600" cy="45720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ESC → Motor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22.2V  /  54A max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2"/>
          <p:cNvSpPr/>
          <p:nvPr/>
        </p:nvSpPr>
        <p:spPr>
          <a:xfrm>
            <a:off x="2025891" y="2158751"/>
            <a:ext cx="1463100" cy="347400"/>
          </a:xfrm>
          <a:prstGeom prst="rect">
            <a:avLst/>
          </a:prstGeom>
          <a:solidFill>
            <a:srgbClr val="F9A8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ST Blade</a:t>
            </a:r>
            <a:r>
              <a:rPr b="1" lang="en" sz="800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 ATO</a:t>
            </a:r>
            <a:endParaRPr b="1" sz="800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5" name="Google Shape;545;p42"/>
          <p:cNvCxnSpPr/>
          <p:nvPr/>
        </p:nvCxnSpPr>
        <p:spPr>
          <a:xfrm>
            <a:off x="2752075" y="1804200"/>
            <a:ext cx="0" cy="3543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42"/>
          <p:cNvSpPr/>
          <p:nvPr/>
        </p:nvSpPr>
        <p:spPr>
          <a:xfrm>
            <a:off x="2117411" y="2860835"/>
            <a:ext cx="1280100" cy="45720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Starlink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22V / 2.7A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7" name="Google Shape;547;p42"/>
          <p:cNvCxnSpPr>
            <a:stCxn id="544" idx="2"/>
            <a:endCxn id="546" idx="0"/>
          </p:cNvCxnSpPr>
          <p:nvPr/>
        </p:nvCxnSpPr>
        <p:spPr>
          <a:xfrm>
            <a:off x="2757441" y="2506151"/>
            <a:ext cx="0" cy="3546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48" name="Google Shape;548;p42"/>
          <p:cNvGrpSpPr/>
          <p:nvPr/>
        </p:nvGrpSpPr>
        <p:grpSpPr>
          <a:xfrm>
            <a:off x="97590" y="4494693"/>
            <a:ext cx="868680" cy="183000"/>
            <a:chOff x="320040" y="4519568"/>
            <a:chExt cx="868680" cy="183000"/>
          </a:xfrm>
        </p:grpSpPr>
        <p:sp>
          <p:nvSpPr>
            <p:cNvPr id="549" name="Google Shape;549;p42"/>
            <p:cNvSpPr/>
            <p:nvPr/>
          </p:nvSpPr>
          <p:spPr>
            <a:xfrm>
              <a:off x="320040" y="4565288"/>
              <a:ext cx="137100" cy="109800"/>
            </a:xfrm>
            <a:prstGeom prst="rect">
              <a:avLst/>
            </a:prstGeom>
            <a:solidFill>
              <a:srgbClr val="C6282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E8ECF1"/>
                </a:solidFill>
              </a:endParaRPr>
            </a:p>
          </p:txBody>
        </p:sp>
        <p:sp>
          <p:nvSpPr>
            <p:cNvPr id="550" name="Google Shape;550;p42"/>
            <p:cNvSpPr/>
            <p:nvPr/>
          </p:nvSpPr>
          <p:spPr>
            <a:xfrm>
              <a:off x="502920" y="4519568"/>
              <a:ext cx="6858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50"/>
                <a:buFont typeface="Calibri"/>
                <a:buNone/>
              </a:pPr>
              <a:r>
                <a:rPr b="0" i="0" lang="en" sz="750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Power Source</a:t>
              </a:r>
              <a:endParaRPr b="0" i="0" sz="7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42"/>
          <p:cNvGrpSpPr/>
          <p:nvPr/>
        </p:nvGrpSpPr>
        <p:grpSpPr>
          <a:xfrm>
            <a:off x="1014457" y="4485568"/>
            <a:ext cx="868680" cy="183000"/>
            <a:chOff x="1234440" y="4519568"/>
            <a:chExt cx="868680" cy="183000"/>
          </a:xfrm>
        </p:grpSpPr>
        <p:sp>
          <p:nvSpPr>
            <p:cNvPr id="552" name="Google Shape;552;p42"/>
            <p:cNvSpPr/>
            <p:nvPr/>
          </p:nvSpPr>
          <p:spPr>
            <a:xfrm>
              <a:off x="1234440" y="4565288"/>
              <a:ext cx="137100" cy="109800"/>
            </a:xfrm>
            <a:prstGeom prst="rect">
              <a:avLst/>
            </a:prstGeom>
            <a:solidFill>
              <a:srgbClr val="F9A82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E8ECF1"/>
                </a:solidFill>
              </a:endParaRPr>
            </a:p>
          </p:txBody>
        </p:sp>
        <p:sp>
          <p:nvSpPr>
            <p:cNvPr id="553" name="Google Shape;553;p42"/>
            <p:cNvSpPr/>
            <p:nvPr/>
          </p:nvSpPr>
          <p:spPr>
            <a:xfrm>
              <a:off x="1417320" y="4519568"/>
              <a:ext cx="6858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50"/>
                <a:buFont typeface="Calibri"/>
                <a:buNone/>
              </a:pPr>
              <a:r>
                <a:rPr b="0" i="0" lang="en" sz="750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Fuse / Safety</a:t>
              </a:r>
              <a:endParaRPr b="0" i="0" sz="7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4" name="Google Shape;554;p42"/>
          <p:cNvGrpSpPr/>
          <p:nvPr/>
        </p:nvGrpSpPr>
        <p:grpSpPr>
          <a:xfrm>
            <a:off x="1931324" y="4485568"/>
            <a:ext cx="868680" cy="183000"/>
            <a:chOff x="2148840" y="4519568"/>
            <a:chExt cx="868680" cy="183000"/>
          </a:xfrm>
        </p:grpSpPr>
        <p:sp>
          <p:nvSpPr>
            <p:cNvPr id="555" name="Google Shape;555;p42"/>
            <p:cNvSpPr/>
            <p:nvPr/>
          </p:nvSpPr>
          <p:spPr>
            <a:xfrm>
              <a:off x="2148840" y="4565288"/>
              <a:ext cx="137100" cy="109800"/>
            </a:xfrm>
            <a:prstGeom prst="rect">
              <a:avLst/>
            </a:prstGeom>
            <a:solidFill>
              <a:srgbClr val="E651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E8ECF1"/>
                </a:solidFill>
              </a:endParaRPr>
            </a:p>
          </p:txBody>
        </p:sp>
        <p:sp>
          <p:nvSpPr>
            <p:cNvPr id="556" name="Google Shape;556;p42"/>
            <p:cNvSpPr/>
            <p:nvPr/>
          </p:nvSpPr>
          <p:spPr>
            <a:xfrm>
              <a:off x="2331720" y="4519568"/>
              <a:ext cx="6858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50"/>
                <a:buFont typeface="Calibri"/>
                <a:buNone/>
              </a:pPr>
              <a:r>
                <a:rPr b="0" i="0" lang="en" sz="750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Converter</a:t>
              </a:r>
              <a:endParaRPr b="0" i="0" sz="7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7" name="Google Shape;557;p42"/>
          <p:cNvSpPr/>
          <p:nvPr/>
        </p:nvSpPr>
        <p:spPr>
          <a:xfrm>
            <a:off x="2848191" y="4531288"/>
            <a:ext cx="137100" cy="1098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2"/>
          <p:cNvSpPr/>
          <p:nvPr/>
        </p:nvSpPr>
        <p:spPr>
          <a:xfrm>
            <a:off x="3033478" y="4485568"/>
            <a:ext cx="685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650"/>
              <a:buFont typeface="Calibri"/>
              <a:buNone/>
            </a:pPr>
            <a:r>
              <a:rPr b="0" i="0" lang="en" sz="7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b="0" i="0" sz="750" u="none" cap="none" strike="noStrike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9" name="Google Shape;559;p42"/>
          <p:cNvGrpSpPr/>
          <p:nvPr/>
        </p:nvGrpSpPr>
        <p:grpSpPr>
          <a:xfrm>
            <a:off x="3497965" y="4485568"/>
            <a:ext cx="882555" cy="183000"/>
            <a:chOff x="2225690" y="4519568"/>
            <a:chExt cx="882555" cy="183000"/>
          </a:xfrm>
        </p:grpSpPr>
        <p:sp>
          <p:nvSpPr>
            <p:cNvPr id="560" name="Google Shape;560;p42"/>
            <p:cNvSpPr/>
            <p:nvPr/>
          </p:nvSpPr>
          <p:spPr>
            <a:xfrm>
              <a:off x="2225690" y="4565288"/>
              <a:ext cx="137100" cy="109800"/>
            </a:xfrm>
            <a:prstGeom prst="rect">
              <a:avLst/>
            </a:pr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E8ECF1"/>
                </a:solidFill>
              </a:endParaRPr>
            </a:p>
          </p:txBody>
        </p:sp>
        <p:sp>
          <p:nvSpPr>
            <p:cNvPr id="561" name="Google Shape;561;p42"/>
            <p:cNvSpPr/>
            <p:nvPr/>
          </p:nvSpPr>
          <p:spPr>
            <a:xfrm>
              <a:off x="2422445" y="4519568"/>
              <a:ext cx="685800" cy="18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50"/>
                <a:buFont typeface="Calibri"/>
                <a:buNone/>
              </a:pPr>
              <a:r>
                <a:rPr b="0" i="0" lang="en" sz="750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Bus / GND</a:t>
              </a:r>
              <a:endParaRPr b="0" i="0" sz="75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2" name="Google Shape;562;p42"/>
          <p:cNvSpPr/>
          <p:nvPr/>
        </p:nvSpPr>
        <p:spPr>
          <a:xfrm>
            <a:off x="5286500" y="2915735"/>
            <a:ext cx="1005900" cy="347400"/>
          </a:xfrm>
          <a:prstGeom prst="rect">
            <a:avLst/>
          </a:prstGeom>
          <a:solidFill>
            <a:srgbClr val="E651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12V Buck</a:t>
            </a:r>
            <a:endParaRPr b="1"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2"/>
          <p:cNvSpPr/>
          <p:nvPr/>
        </p:nvSpPr>
        <p:spPr>
          <a:xfrm>
            <a:off x="5240750" y="3611591"/>
            <a:ext cx="1097400" cy="42600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Cooling Fan + 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Jetson Orin Nano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12V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42"/>
          <p:cNvSpPr/>
          <p:nvPr/>
        </p:nvSpPr>
        <p:spPr>
          <a:xfrm>
            <a:off x="5332250" y="4442465"/>
            <a:ext cx="914400" cy="32010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3.3V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42"/>
          <p:cNvSpPr/>
          <p:nvPr/>
        </p:nvSpPr>
        <p:spPr>
          <a:xfrm>
            <a:off x="5851775" y="4247075"/>
            <a:ext cx="394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00"/>
              <a:buFont typeface="Calibri"/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3.3V reg</a:t>
            </a:r>
            <a:endParaRPr b="0" i="0" sz="800" u="none" cap="none" strike="noStrike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6" name="Google Shape;566;p42"/>
          <p:cNvCxnSpPr>
            <a:stCxn id="537" idx="3"/>
            <a:endCxn id="538" idx="1"/>
          </p:cNvCxnSpPr>
          <p:nvPr/>
        </p:nvCxnSpPr>
        <p:spPr>
          <a:xfrm>
            <a:off x="3001838" y="994618"/>
            <a:ext cx="897300" cy="6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7" name="Google Shape;567;p42"/>
          <p:cNvCxnSpPr>
            <a:stCxn id="538" idx="3"/>
            <a:endCxn id="539" idx="1"/>
          </p:cNvCxnSpPr>
          <p:nvPr/>
        </p:nvCxnSpPr>
        <p:spPr>
          <a:xfrm>
            <a:off x="5270725" y="994618"/>
            <a:ext cx="1280700" cy="6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8" name="Google Shape;568;p42"/>
          <p:cNvCxnSpPr>
            <a:stCxn id="538" idx="2"/>
            <a:endCxn id="540" idx="0"/>
          </p:cNvCxnSpPr>
          <p:nvPr/>
        </p:nvCxnSpPr>
        <p:spPr>
          <a:xfrm flipH="1" rot="-5400000">
            <a:off x="4441225" y="1312018"/>
            <a:ext cx="288300" cy="900"/>
          </a:xfrm>
          <a:prstGeom prst="curvedConnector3">
            <a:avLst>
              <a:gd fmla="val 50010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9" name="Google Shape;569;p42"/>
          <p:cNvSpPr/>
          <p:nvPr/>
        </p:nvSpPr>
        <p:spPr>
          <a:xfrm>
            <a:off x="6688192" y="2915735"/>
            <a:ext cx="914400" cy="347400"/>
          </a:xfrm>
          <a:prstGeom prst="rect">
            <a:avLst/>
          </a:prstGeom>
          <a:solidFill>
            <a:srgbClr val="E651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5V Buck</a:t>
            </a:r>
            <a:endParaRPr b="1"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2"/>
          <p:cNvSpPr/>
          <p:nvPr/>
        </p:nvSpPr>
        <p:spPr>
          <a:xfrm>
            <a:off x="6733951" y="3595991"/>
            <a:ext cx="822900" cy="45720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ESP32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5V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2"/>
          <p:cNvSpPr/>
          <p:nvPr/>
        </p:nvSpPr>
        <p:spPr>
          <a:xfrm>
            <a:off x="6642450" y="4442465"/>
            <a:ext cx="1005900" cy="32010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3.3V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42"/>
          <p:cNvSpPr/>
          <p:nvPr/>
        </p:nvSpPr>
        <p:spPr>
          <a:xfrm>
            <a:off x="7199925" y="4246975"/>
            <a:ext cx="44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EC5"/>
              </a:buClr>
              <a:buSzPts val="700"/>
              <a:buFont typeface="Calibri"/>
              <a:buNone/>
            </a:pPr>
            <a:r>
              <a:rPr b="0" i="0" lang="en" sz="80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3.3V reg</a:t>
            </a:r>
            <a:endParaRPr b="0" i="0" sz="800" u="none" cap="none" strike="noStrike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3" name="Google Shape;573;p42"/>
          <p:cNvCxnSpPr>
            <a:stCxn id="570" idx="2"/>
            <a:endCxn id="571" idx="0"/>
          </p:cNvCxnSpPr>
          <p:nvPr/>
        </p:nvCxnSpPr>
        <p:spPr>
          <a:xfrm flipH="1" rot="-5400000">
            <a:off x="6951001" y="4247591"/>
            <a:ext cx="389400" cy="600"/>
          </a:xfrm>
          <a:prstGeom prst="curvedConnector3">
            <a:avLst>
              <a:gd fmla="val 49984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4" name="Google Shape;574;p42"/>
          <p:cNvSpPr/>
          <p:nvPr/>
        </p:nvSpPr>
        <p:spPr>
          <a:xfrm>
            <a:off x="3877563" y="2915735"/>
            <a:ext cx="1005900" cy="347400"/>
          </a:xfrm>
          <a:prstGeom prst="rect">
            <a:avLst/>
          </a:prstGeom>
          <a:solidFill>
            <a:srgbClr val="E651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5V Power Module</a:t>
            </a:r>
            <a:endParaRPr b="1"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42"/>
          <p:cNvSpPr/>
          <p:nvPr/>
        </p:nvSpPr>
        <p:spPr>
          <a:xfrm>
            <a:off x="3831825" y="3611741"/>
            <a:ext cx="1097400" cy="42570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Pixhawk 4X FC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5V</a:t>
            </a:r>
            <a:endParaRPr b="1" sz="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2"/>
          <p:cNvSpPr/>
          <p:nvPr/>
        </p:nvSpPr>
        <p:spPr>
          <a:xfrm>
            <a:off x="7998396" y="2915735"/>
            <a:ext cx="822900" cy="347400"/>
          </a:xfrm>
          <a:prstGeom prst="rect">
            <a:avLst/>
          </a:prstGeom>
          <a:solidFill>
            <a:srgbClr val="E651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BEC</a:t>
            </a:r>
            <a:endParaRPr b="1" sz="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2"/>
          <p:cNvSpPr/>
          <p:nvPr/>
        </p:nvSpPr>
        <p:spPr>
          <a:xfrm>
            <a:off x="7906896" y="3595991"/>
            <a:ext cx="1005900" cy="457200"/>
          </a:xfrm>
          <a:prstGeom prst="rect">
            <a:avLst/>
          </a:prstGeom>
          <a:solidFill>
            <a:srgbClr val="1565C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Rudder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Servo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Calibri"/>
              <a:buNone/>
            </a:pPr>
            <a:r>
              <a:rPr b="1" lang="en" sz="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7.4V</a:t>
            </a:r>
            <a:endParaRPr b="1" sz="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8" name="Google Shape;578;p42"/>
          <p:cNvCxnSpPr>
            <a:stCxn id="579" idx="2"/>
            <a:endCxn id="576" idx="0"/>
          </p:cNvCxnSpPr>
          <p:nvPr/>
        </p:nvCxnSpPr>
        <p:spPr>
          <a:xfrm>
            <a:off x="8409846" y="2506151"/>
            <a:ext cx="0" cy="4095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42"/>
          <p:cNvCxnSpPr>
            <a:stCxn id="574" idx="2"/>
            <a:endCxn id="575" idx="0"/>
          </p:cNvCxnSpPr>
          <p:nvPr/>
        </p:nvCxnSpPr>
        <p:spPr>
          <a:xfrm flipH="1" rot="-5400000">
            <a:off x="4206513" y="3437135"/>
            <a:ext cx="348600" cy="600"/>
          </a:xfrm>
          <a:prstGeom prst="curvedConnector3">
            <a:avLst>
              <a:gd fmla="val 49994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" name="Google Shape;581;p42"/>
          <p:cNvCxnSpPr>
            <a:stCxn id="541" idx="2"/>
            <a:endCxn id="543" idx="0"/>
          </p:cNvCxnSpPr>
          <p:nvPr/>
        </p:nvCxnSpPr>
        <p:spPr>
          <a:xfrm flipH="1" rot="-5400000">
            <a:off x="813040" y="2683151"/>
            <a:ext cx="354600" cy="600"/>
          </a:xfrm>
          <a:prstGeom prst="curvedConnector3">
            <a:avLst>
              <a:gd fmla="val 50012" name="adj1"/>
            </a:avLst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2" name="Google Shape;582;p42"/>
          <p:cNvSpPr/>
          <p:nvPr/>
        </p:nvSpPr>
        <p:spPr>
          <a:xfrm>
            <a:off x="5286500" y="2158751"/>
            <a:ext cx="1005900" cy="347400"/>
          </a:xfrm>
          <a:prstGeom prst="rect">
            <a:avLst/>
          </a:prstGeom>
          <a:solidFill>
            <a:srgbClr val="F9A8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ST Blade ATO</a:t>
            </a:r>
            <a:endParaRPr b="1" sz="800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2"/>
          <p:cNvSpPr/>
          <p:nvPr/>
        </p:nvSpPr>
        <p:spPr>
          <a:xfrm>
            <a:off x="6688192" y="2158751"/>
            <a:ext cx="914400" cy="347400"/>
          </a:xfrm>
          <a:prstGeom prst="rect">
            <a:avLst/>
          </a:prstGeom>
          <a:solidFill>
            <a:srgbClr val="F9A8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ST Blade ATO</a:t>
            </a:r>
            <a:endParaRPr/>
          </a:p>
        </p:txBody>
      </p:sp>
      <p:sp>
        <p:nvSpPr>
          <p:cNvPr id="579" name="Google Shape;579;p42"/>
          <p:cNvSpPr/>
          <p:nvPr/>
        </p:nvSpPr>
        <p:spPr>
          <a:xfrm>
            <a:off x="7998396" y="2158751"/>
            <a:ext cx="822900" cy="347400"/>
          </a:xfrm>
          <a:prstGeom prst="rect">
            <a:avLst/>
          </a:prstGeom>
          <a:solidFill>
            <a:srgbClr val="F9A8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ST Blade ATO</a:t>
            </a:r>
            <a:endParaRPr b="1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4" name="Google Shape;584;p42"/>
          <p:cNvCxnSpPr>
            <a:stCxn id="585" idx="0"/>
          </p:cNvCxnSpPr>
          <p:nvPr/>
        </p:nvCxnSpPr>
        <p:spPr>
          <a:xfrm rot="10800000">
            <a:off x="4380513" y="1808351"/>
            <a:ext cx="0" cy="3504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585" name="Google Shape;585;p42"/>
          <p:cNvSpPr/>
          <p:nvPr/>
        </p:nvSpPr>
        <p:spPr>
          <a:xfrm>
            <a:off x="3877563" y="2158751"/>
            <a:ext cx="1005900" cy="347400"/>
          </a:xfrm>
          <a:prstGeom prst="rect">
            <a:avLst/>
          </a:prstGeom>
          <a:solidFill>
            <a:srgbClr val="F9A82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ST Blade ATO</a:t>
            </a:r>
            <a:endParaRPr b="1" sz="800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86" name="Google Shape;586;p42"/>
          <p:cNvCxnSpPr>
            <a:endCxn id="583" idx="0"/>
          </p:cNvCxnSpPr>
          <p:nvPr/>
        </p:nvCxnSpPr>
        <p:spPr>
          <a:xfrm>
            <a:off x="7145392" y="1804751"/>
            <a:ext cx="0" cy="3540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7" name="Google Shape;587;p42"/>
          <p:cNvCxnSpPr>
            <a:endCxn id="579" idx="0"/>
          </p:cNvCxnSpPr>
          <p:nvPr/>
        </p:nvCxnSpPr>
        <p:spPr>
          <a:xfrm>
            <a:off x="8409846" y="1804751"/>
            <a:ext cx="0" cy="3540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8" name="Google Shape;588;p42"/>
          <p:cNvCxnSpPr>
            <a:stCxn id="585" idx="2"/>
            <a:endCxn id="574" idx="0"/>
          </p:cNvCxnSpPr>
          <p:nvPr/>
        </p:nvCxnSpPr>
        <p:spPr>
          <a:xfrm>
            <a:off x="4380513" y="2506151"/>
            <a:ext cx="0" cy="4095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9" name="Google Shape;589;p42"/>
          <p:cNvCxnSpPr>
            <a:stCxn id="582" idx="2"/>
            <a:endCxn id="562" idx="0"/>
          </p:cNvCxnSpPr>
          <p:nvPr/>
        </p:nvCxnSpPr>
        <p:spPr>
          <a:xfrm>
            <a:off x="5789450" y="2506151"/>
            <a:ext cx="0" cy="4095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0" name="Google Shape;590;p42"/>
          <p:cNvCxnSpPr>
            <a:stCxn id="583" idx="2"/>
            <a:endCxn id="569" idx="0"/>
          </p:cNvCxnSpPr>
          <p:nvPr/>
        </p:nvCxnSpPr>
        <p:spPr>
          <a:xfrm>
            <a:off x="7145392" y="2506151"/>
            <a:ext cx="0" cy="4095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1" name="Google Shape;591;p42"/>
          <p:cNvCxnSpPr>
            <a:stCxn id="562" idx="2"/>
            <a:endCxn id="563" idx="0"/>
          </p:cNvCxnSpPr>
          <p:nvPr/>
        </p:nvCxnSpPr>
        <p:spPr>
          <a:xfrm>
            <a:off x="5789450" y="3263135"/>
            <a:ext cx="0" cy="3486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42"/>
          <p:cNvCxnSpPr>
            <a:stCxn id="576" idx="2"/>
            <a:endCxn id="577" idx="0"/>
          </p:cNvCxnSpPr>
          <p:nvPr/>
        </p:nvCxnSpPr>
        <p:spPr>
          <a:xfrm>
            <a:off x="8409846" y="3263135"/>
            <a:ext cx="0" cy="3330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42"/>
          <p:cNvCxnSpPr>
            <a:stCxn id="569" idx="2"/>
            <a:endCxn id="570" idx="0"/>
          </p:cNvCxnSpPr>
          <p:nvPr/>
        </p:nvCxnSpPr>
        <p:spPr>
          <a:xfrm>
            <a:off x="7145392" y="3263135"/>
            <a:ext cx="0" cy="3330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4" name="Google Shape;594;p42"/>
          <p:cNvCxnSpPr>
            <a:stCxn id="563" idx="2"/>
            <a:endCxn id="564" idx="0"/>
          </p:cNvCxnSpPr>
          <p:nvPr/>
        </p:nvCxnSpPr>
        <p:spPr>
          <a:xfrm>
            <a:off x="5789450" y="4037591"/>
            <a:ext cx="0" cy="4050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5" name="Google Shape;595;p42"/>
          <p:cNvCxnSpPr>
            <a:stCxn id="582" idx="0"/>
          </p:cNvCxnSpPr>
          <p:nvPr/>
        </p:nvCxnSpPr>
        <p:spPr>
          <a:xfrm rot="10800000">
            <a:off x="5789450" y="1804151"/>
            <a:ext cx="0" cy="354600"/>
          </a:xfrm>
          <a:prstGeom prst="straightConnector1">
            <a:avLst/>
          </a:prstGeom>
          <a:noFill/>
          <a:ln cap="flat" cmpd="sng" w="19050">
            <a:solidFill>
              <a:srgbClr val="E8ECF1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43"/>
          <p:cNvSpPr/>
          <p:nvPr/>
        </p:nvSpPr>
        <p:spPr>
          <a:xfrm>
            <a:off x="457200" y="7420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Wiring Diagram — Interconnects &amp; Cable Sizing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43"/>
          <p:cNvSpPr/>
          <p:nvPr/>
        </p:nvSpPr>
        <p:spPr>
          <a:xfrm>
            <a:off x="457384" y="1484801"/>
            <a:ext cx="1238700" cy="486600"/>
          </a:xfrm>
          <a:prstGeom prst="rect">
            <a:avLst/>
          </a:prstGeom>
          <a:solidFill>
            <a:srgbClr val="C62828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4"/>
              <a:buFont typeface="Calibri"/>
              <a:buNone/>
            </a:pPr>
            <a:r>
              <a:rPr b="1" i="0" lang="en" sz="7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BATTERY</a:t>
            </a:r>
            <a:endParaRPr b="0" i="0" sz="7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4"/>
              <a:buFont typeface="Calibri"/>
              <a:buNone/>
            </a:pPr>
            <a:r>
              <a:rPr b="1" i="0" lang="en" sz="7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6S LiPo 22.2V</a:t>
            </a:r>
            <a:endParaRPr b="0" i="0" sz="7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74"/>
              <a:buFont typeface="Calibri"/>
              <a:buNone/>
            </a:pPr>
            <a:r>
              <a:rPr b="1" i="0" lang="en" sz="77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XT-60</a:t>
            </a:r>
            <a:endParaRPr b="0" i="0" sz="7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3"/>
          <p:cNvSpPr/>
          <p:nvPr/>
        </p:nvSpPr>
        <p:spPr>
          <a:xfrm>
            <a:off x="1696075" y="1564200"/>
            <a:ext cx="6195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677"/>
              <a:buFont typeface="Calibri"/>
              <a:buNone/>
            </a:pPr>
            <a:r>
              <a:rPr b="1" i="0" lang="en" sz="870" u="none" cap="none" strike="noStrike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Red </a:t>
            </a:r>
            <a:r>
              <a:rPr b="1" lang="en" sz="870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lang="en" sz="870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rPr>
              <a:t> AWG</a:t>
            </a:r>
            <a:endParaRPr b="1" i="0" sz="870" u="none" cap="none" strike="noStrike">
              <a:solidFill>
                <a:srgbClr val="C6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3"/>
          <p:cNvSpPr/>
          <p:nvPr/>
        </p:nvSpPr>
        <p:spPr>
          <a:xfrm>
            <a:off x="2315681" y="1551121"/>
            <a:ext cx="840900" cy="354000"/>
          </a:xfrm>
          <a:prstGeom prst="rect">
            <a:avLst/>
          </a:prstGeom>
          <a:solidFill>
            <a:srgbClr val="FFB3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74"/>
              <a:buFont typeface="Calibri"/>
              <a:buNone/>
            </a:pPr>
            <a:r>
              <a:rPr b="1" i="0" lang="en" sz="774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MRBF</a:t>
            </a:r>
            <a:endParaRPr b="0" i="0" sz="7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74"/>
              <a:buFont typeface="Calibri"/>
              <a:buNone/>
            </a:pPr>
            <a:r>
              <a:rPr b="1" i="0" lang="en" sz="774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150A</a:t>
            </a:r>
            <a:endParaRPr b="0" i="0" sz="7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3"/>
          <p:cNvSpPr/>
          <p:nvPr/>
        </p:nvSpPr>
        <p:spPr>
          <a:xfrm>
            <a:off x="3466055" y="1551121"/>
            <a:ext cx="840900" cy="354000"/>
          </a:xfrm>
          <a:prstGeom prst="rect">
            <a:avLst/>
          </a:prstGeom>
          <a:solidFill>
            <a:srgbClr val="FFB3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74"/>
              <a:buFont typeface="Calibri"/>
              <a:buNone/>
            </a:pPr>
            <a:r>
              <a:rPr b="1" i="0" lang="en" sz="774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KILL</a:t>
            </a:r>
            <a:endParaRPr b="0" i="0" sz="7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774"/>
              <a:buFont typeface="Calibri"/>
              <a:buNone/>
            </a:pPr>
            <a:r>
              <a:rPr b="1" i="0" lang="en" sz="774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7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3"/>
          <p:cNvSpPr/>
          <p:nvPr/>
        </p:nvSpPr>
        <p:spPr>
          <a:xfrm>
            <a:off x="4616425" y="577001"/>
            <a:ext cx="442500" cy="2302200"/>
          </a:xfrm>
          <a:prstGeom prst="rect">
            <a:avLst/>
          </a:prstGeom>
          <a:solidFill>
            <a:srgbClr val="455A64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8"/>
              <a:buFont typeface="Calibri"/>
              <a:buNone/>
            </a:pPr>
            <a:r>
              <a:rPr b="1" i="0" lang="en" sz="9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9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3"/>
          <p:cNvSpPr/>
          <p:nvPr/>
        </p:nvSpPr>
        <p:spPr>
          <a:xfrm>
            <a:off x="1076650" y="2879200"/>
            <a:ext cx="631200" cy="1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909C"/>
              </a:buClr>
              <a:buSzPts val="677"/>
              <a:buFont typeface="Calibri"/>
              <a:buNone/>
            </a:pPr>
            <a:r>
              <a:rPr b="1" i="0" lang="en" sz="870" u="none" cap="none" strike="noStrike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Blk </a:t>
            </a:r>
            <a:r>
              <a:rPr b="1" lang="en" sz="87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b="1" lang="en" sz="870">
                <a:solidFill>
                  <a:srgbClr val="E8ECF1"/>
                </a:solidFill>
                <a:latin typeface="Calibri"/>
                <a:ea typeface="Calibri"/>
                <a:cs typeface="Calibri"/>
                <a:sym typeface="Calibri"/>
              </a:rPr>
              <a:t>AWG</a:t>
            </a:r>
            <a:endParaRPr b="1" i="0" sz="870" u="none" cap="none" strike="noStrike">
              <a:solidFill>
                <a:srgbClr val="E8ECF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3"/>
          <p:cNvSpPr/>
          <p:nvPr/>
        </p:nvSpPr>
        <p:spPr>
          <a:xfrm>
            <a:off x="6209251" y="577001"/>
            <a:ext cx="442500" cy="2302200"/>
          </a:xfrm>
          <a:prstGeom prst="rect">
            <a:avLst/>
          </a:prstGeom>
          <a:solidFill>
            <a:srgbClr val="455A64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68"/>
              <a:buFont typeface="Calibri"/>
              <a:buNone/>
            </a:pPr>
            <a:r>
              <a:rPr b="1" i="0" lang="en" sz="967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endParaRPr b="0" i="0" sz="967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9" name="Google Shape;609;p43"/>
          <p:cNvCxnSpPr/>
          <p:nvPr/>
        </p:nvCxnSpPr>
        <p:spPr>
          <a:xfrm>
            <a:off x="5058552" y="728563"/>
            <a:ext cx="2658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0" name="Google Shape;610;p43"/>
          <p:cNvSpPr/>
          <p:nvPr/>
        </p:nvSpPr>
        <p:spPr>
          <a:xfrm>
            <a:off x="5324352" y="631213"/>
            <a:ext cx="663600" cy="194700"/>
          </a:xfrm>
          <a:prstGeom prst="rect">
            <a:avLst/>
          </a:prstGeom>
          <a:solidFill>
            <a:srgbClr val="FFB3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MIDI 125A</a:t>
            </a:r>
            <a:endParaRPr b="0" i="0" sz="6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1" name="Google Shape;611;p43"/>
          <p:cNvCxnSpPr/>
          <p:nvPr/>
        </p:nvCxnSpPr>
        <p:spPr>
          <a:xfrm>
            <a:off x="5987952" y="728563"/>
            <a:ext cx="2208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43"/>
          <p:cNvCxnSpPr/>
          <p:nvPr/>
        </p:nvCxnSpPr>
        <p:spPr>
          <a:xfrm>
            <a:off x="6651750" y="1110850"/>
            <a:ext cx="22650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13" name="Google Shape;613;p43"/>
          <p:cNvGrpSpPr/>
          <p:nvPr/>
        </p:nvGrpSpPr>
        <p:grpSpPr>
          <a:xfrm>
            <a:off x="6914561" y="582637"/>
            <a:ext cx="1769700" cy="291876"/>
            <a:chOff x="6914561" y="582637"/>
            <a:chExt cx="1769700" cy="291876"/>
          </a:xfrm>
        </p:grpSpPr>
        <p:sp>
          <p:nvSpPr>
            <p:cNvPr id="614" name="Google Shape;614;p43"/>
            <p:cNvSpPr/>
            <p:nvPr/>
          </p:nvSpPr>
          <p:spPr>
            <a:xfrm>
              <a:off x="6914561" y="582637"/>
              <a:ext cx="17697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ECF1"/>
                </a:buClr>
                <a:buSzPts val="871"/>
                <a:buFont typeface="Calibri"/>
                <a:buNone/>
              </a:pPr>
              <a:r>
                <a:rPr b="1" i="0" lang="en" sz="1161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to ESC (Motor)</a:t>
              </a:r>
              <a:endParaRPr b="0" i="0" sz="11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43"/>
            <p:cNvSpPr/>
            <p:nvPr/>
          </p:nvSpPr>
          <p:spPr>
            <a:xfrm>
              <a:off x="6914561" y="741913"/>
              <a:ext cx="1769700" cy="1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77"/>
                <a:buFont typeface="Calibri"/>
                <a:buNone/>
              </a:pP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Red 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8 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 AWG</a:t>
              </a: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 /  Blk 10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endParaRPr b="0" i="0" sz="9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16" name="Google Shape;616;p43"/>
          <p:cNvCxnSpPr/>
          <p:nvPr/>
        </p:nvCxnSpPr>
        <p:spPr>
          <a:xfrm>
            <a:off x="5058552" y="1110842"/>
            <a:ext cx="2658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7" name="Google Shape;617;p43"/>
          <p:cNvSpPr/>
          <p:nvPr/>
        </p:nvSpPr>
        <p:spPr>
          <a:xfrm>
            <a:off x="5324150" y="993562"/>
            <a:ext cx="663600" cy="234600"/>
          </a:xfrm>
          <a:prstGeom prst="rect">
            <a:avLst/>
          </a:prstGeom>
          <a:solidFill>
            <a:srgbClr val="FFB3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ATO </a:t>
            </a:r>
            <a:r>
              <a:rPr b="1" lang="en" sz="629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7.5</a:t>
            </a: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629" u="none" cap="none" strike="noStrike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lang="en" sz="629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(Slow-Blow)</a:t>
            </a:r>
            <a:endParaRPr b="1" sz="629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8" name="Google Shape;618;p43"/>
          <p:cNvCxnSpPr/>
          <p:nvPr/>
        </p:nvCxnSpPr>
        <p:spPr>
          <a:xfrm>
            <a:off x="5987952" y="1110842"/>
            <a:ext cx="2211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9" name="Google Shape;619;p43"/>
          <p:cNvCxnSpPr/>
          <p:nvPr/>
        </p:nvCxnSpPr>
        <p:spPr>
          <a:xfrm>
            <a:off x="6653100" y="1493125"/>
            <a:ext cx="22380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0" name="Google Shape;620;p43"/>
          <p:cNvGrpSpPr/>
          <p:nvPr/>
        </p:nvGrpSpPr>
        <p:grpSpPr>
          <a:xfrm>
            <a:off x="6914561" y="965814"/>
            <a:ext cx="1769700" cy="291776"/>
            <a:chOff x="6914561" y="964968"/>
            <a:chExt cx="1769700" cy="291776"/>
          </a:xfrm>
        </p:grpSpPr>
        <p:sp>
          <p:nvSpPr>
            <p:cNvPr id="621" name="Google Shape;621;p43"/>
            <p:cNvSpPr/>
            <p:nvPr/>
          </p:nvSpPr>
          <p:spPr>
            <a:xfrm>
              <a:off x="6914561" y="964968"/>
              <a:ext cx="17697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ECF1"/>
                </a:buClr>
                <a:buSzPts val="871"/>
                <a:buFont typeface="Calibri"/>
                <a:buNone/>
              </a:pPr>
              <a:r>
                <a:rPr b="1" i="0" lang="en" sz="1161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to Starlink</a:t>
              </a:r>
              <a:endParaRPr b="0" i="0" sz="11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43"/>
            <p:cNvSpPr/>
            <p:nvPr/>
          </p:nvSpPr>
          <p:spPr>
            <a:xfrm>
              <a:off x="6914561" y="1124143"/>
              <a:ext cx="1769700" cy="1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77"/>
                <a:buFont typeface="Calibri"/>
                <a:buNone/>
              </a:pP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Red 16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 /  Blk 16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endParaRPr b="0" i="0" sz="9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23" name="Google Shape;623;p43"/>
          <p:cNvCxnSpPr/>
          <p:nvPr/>
        </p:nvCxnSpPr>
        <p:spPr>
          <a:xfrm>
            <a:off x="5058552" y="1493120"/>
            <a:ext cx="2658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4" name="Google Shape;624;p43"/>
          <p:cNvSpPr/>
          <p:nvPr/>
        </p:nvSpPr>
        <p:spPr>
          <a:xfrm>
            <a:off x="5324350" y="1375826"/>
            <a:ext cx="663600" cy="234600"/>
          </a:xfrm>
          <a:prstGeom prst="rect">
            <a:avLst/>
          </a:prstGeom>
          <a:solidFill>
            <a:srgbClr val="FFB3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ATO </a:t>
            </a:r>
            <a:r>
              <a:rPr b="1" lang="en" sz="629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7.5</a:t>
            </a: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629" u="none" cap="none" strike="noStrike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lang="en" sz="629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(Slow-Blow)</a:t>
            </a:r>
            <a:endParaRPr b="1" sz="629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5" name="Google Shape;625;p43"/>
          <p:cNvCxnSpPr/>
          <p:nvPr/>
        </p:nvCxnSpPr>
        <p:spPr>
          <a:xfrm>
            <a:off x="5987952" y="1493120"/>
            <a:ext cx="2211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6" name="Google Shape;626;p43"/>
          <p:cNvCxnSpPr/>
          <p:nvPr/>
        </p:nvCxnSpPr>
        <p:spPr>
          <a:xfrm>
            <a:off x="5058552" y="1875398"/>
            <a:ext cx="2658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7" name="Google Shape;627;p43"/>
          <p:cNvSpPr/>
          <p:nvPr/>
        </p:nvSpPr>
        <p:spPr>
          <a:xfrm>
            <a:off x="5324352" y="1778048"/>
            <a:ext cx="663600" cy="194700"/>
          </a:xfrm>
          <a:prstGeom prst="rect">
            <a:avLst/>
          </a:prstGeom>
          <a:solidFill>
            <a:srgbClr val="FFB3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ATO</a:t>
            </a:r>
            <a:r>
              <a:rPr b="1" lang="en" sz="629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629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43"/>
          <p:cNvCxnSpPr/>
          <p:nvPr/>
        </p:nvCxnSpPr>
        <p:spPr>
          <a:xfrm>
            <a:off x="5987952" y="1875398"/>
            <a:ext cx="2211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43"/>
          <p:cNvCxnSpPr/>
          <p:nvPr/>
        </p:nvCxnSpPr>
        <p:spPr>
          <a:xfrm>
            <a:off x="6652325" y="1875400"/>
            <a:ext cx="22590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0" name="Google Shape;630;p43"/>
          <p:cNvGrpSpPr/>
          <p:nvPr/>
        </p:nvGrpSpPr>
        <p:grpSpPr>
          <a:xfrm>
            <a:off x="6914561" y="1348891"/>
            <a:ext cx="1769700" cy="291901"/>
            <a:chOff x="6914561" y="1343773"/>
            <a:chExt cx="1769700" cy="291901"/>
          </a:xfrm>
        </p:grpSpPr>
        <p:sp>
          <p:nvSpPr>
            <p:cNvPr id="631" name="Google Shape;631;p43"/>
            <p:cNvSpPr/>
            <p:nvPr/>
          </p:nvSpPr>
          <p:spPr>
            <a:xfrm>
              <a:off x="6914561" y="1343773"/>
              <a:ext cx="17697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ECF1"/>
                </a:buClr>
                <a:buSzPts val="871"/>
                <a:buFont typeface="Calibri"/>
                <a:buNone/>
              </a:pPr>
              <a:r>
                <a:rPr b="1" i="0" lang="en" sz="1161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to 12V Buck (Jetson + Fan)</a:t>
              </a:r>
              <a:endParaRPr b="0" i="0" sz="11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43"/>
            <p:cNvSpPr/>
            <p:nvPr/>
          </p:nvSpPr>
          <p:spPr>
            <a:xfrm>
              <a:off x="6914561" y="1503074"/>
              <a:ext cx="1769700" cy="1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77"/>
                <a:buFont typeface="Calibri"/>
                <a:buNone/>
              </a:pP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Red 1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8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 /  Blk 18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endParaRPr b="0" i="0" sz="9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33" name="Google Shape;633;p43"/>
          <p:cNvCxnSpPr/>
          <p:nvPr/>
        </p:nvCxnSpPr>
        <p:spPr>
          <a:xfrm>
            <a:off x="5058552" y="2257677"/>
            <a:ext cx="2658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4" name="Google Shape;634;p43"/>
          <p:cNvSpPr/>
          <p:nvPr/>
        </p:nvSpPr>
        <p:spPr>
          <a:xfrm>
            <a:off x="5324150" y="2142600"/>
            <a:ext cx="663600" cy="234600"/>
          </a:xfrm>
          <a:prstGeom prst="rect">
            <a:avLst/>
          </a:prstGeom>
          <a:solidFill>
            <a:srgbClr val="FFB3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ATO </a:t>
            </a:r>
            <a:r>
              <a:rPr b="1" lang="en" sz="629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629" u="none" cap="none" strike="noStrike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lang="en" sz="629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(Slow-Blow)</a:t>
            </a:r>
            <a:endParaRPr b="1" sz="629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5" name="Google Shape;635;p43"/>
          <p:cNvCxnSpPr/>
          <p:nvPr/>
        </p:nvCxnSpPr>
        <p:spPr>
          <a:xfrm>
            <a:off x="5987952" y="2257677"/>
            <a:ext cx="2211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43"/>
          <p:cNvCxnSpPr/>
          <p:nvPr/>
        </p:nvCxnSpPr>
        <p:spPr>
          <a:xfrm>
            <a:off x="6652325" y="2257675"/>
            <a:ext cx="22590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37" name="Google Shape;637;p43"/>
          <p:cNvGrpSpPr/>
          <p:nvPr/>
        </p:nvGrpSpPr>
        <p:grpSpPr>
          <a:xfrm>
            <a:off x="6914561" y="1732093"/>
            <a:ext cx="1769700" cy="291876"/>
            <a:chOff x="6914561" y="1729437"/>
            <a:chExt cx="1769700" cy="291876"/>
          </a:xfrm>
        </p:grpSpPr>
        <p:sp>
          <p:nvSpPr>
            <p:cNvPr id="638" name="Google Shape;638;p43"/>
            <p:cNvSpPr/>
            <p:nvPr/>
          </p:nvSpPr>
          <p:spPr>
            <a:xfrm>
              <a:off x="6914561" y="1729437"/>
              <a:ext cx="17697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ECF1"/>
                </a:buClr>
                <a:buSzPts val="871"/>
                <a:buFont typeface="Calibri"/>
                <a:buNone/>
              </a:pPr>
              <a:r>
                <a:rPr b="1" i="0" lang="en" sz="1161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to 5V Buck (ESP32)</a:t>
              </a:r>
              <a:endParaRPr b="0" i="0" sz="11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43"/>
            <p:cNvSpPr/>
            <p:nvPr/>
          </p:nvSpPr>
          <p:spPr>
            <a:xfrm>
              <a:off x="6914561" y="1888713"/>
              <a:ext cx="1769700" cy="1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77"/>
                <a:buFont typeface="Calibri"/>
                <a:buNone/>
              </a:pP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Red 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 /  Blk 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18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endParaRPr b="0" i="0" sz="9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40" name="Google Shape;640;p43"/>
          <p:cNvCxnSpPr/>
          <p:nvPr/>
        </p:nvCxnSpPr>
        <p:spPr>
          <a:xfrm>
            <a:off x="5058927" y="2639955"/>
            <a:ext cx="2673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1" name="Google Shape;641;p43"/>
          <p:cNvSpPr/>
          <p:nvPr/>
        </p:nvSpPr>
        <p:spPr>
          <a:xfrm>
            <a:off x="5324350" y="2526048"/>
            <a:ext cx="663600" cy="236700"/>
          </a:xfrm>
          <a:prstGeom prst="rect">
            <a:avLst/>
          </a:prstGeom>
          <a:solidFill>
            <a:srgbClr val="FFB300"/>
          </a:solidFill>
          <a:ln cap="flat" cmpd="sng" w="9525">
            <a:solidFill>
              <a:srgbClr val="E8E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ATO </a:t>
            </a:r>
            <a:r>
              <a:rPr b="1" lang="en" sz="629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" sz="629" u="none" cap="none" strike="noStrike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1" i="0" sz="629" u="none" cap="none" strike="noStrike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F1B33"/>
              </a:buClr>
              <a:buSzPts val="629"/>
              <a:buFont typeface="Calibri"/>
              <a:buNone/>
            </a:pPr>
            <a:r>
              <a:rPr b="1" lang="en" sz="629">
                <a:solidFill>
                  <a:srgbClr val="0F1B33"/>
                </a:solidFill>
                <a:latin typeface="Calibri"/>
                <a:ea typeface="Calibri"/>
                <a:cs typeface="Calibri"/>
                <a:sym typeface="Calibri"/>
              </a:rPr>
              <a:t>(Slow-Blow)</a:t>
            </a:r>
            <a:endParaRPr b="1" sz="629">
              <a:solidFill>
                <a:srgbClr val="0F1B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43"/>
          <p:cNvCxnSpPr/>
          <p:nvPr/>
        </p:nvCxnSpPr>
        <p:spPr>
          <a:xfrm>
            <a:off x="5987952" y="2644405"/>
            <a:ext cx="221100" cy="0"/>
          </a:xfrm>
          <a:prstGeom prst="straightConnector1">
            <a:avLst/>
          </a:prstGeom>
          <a:noFill/>
          <a:ln cap="flat" cmpd="sng" w="1905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43"/>
          <p:cNvCxnSpPr/>
          <p:nvPr/>
        </p:nvCxnSpPr>
        <p:spPr>
          <a:xfrm>
            <a:off x="6652325" y="2639950"/>
            <a:ext cx="22590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44" name="Google Shape;644;p43"/>
          <p:cNvGrpSpPr/>
          <p:nvPr/>
        </p:nvGrpSpPr>
        <p:grpSpPr>
          <a:xfrm>
            <a:off x="6914561" y="2498460"/>
            <a:ext cx="1769700" cy="291901"/>
            <a:chOff x="6914561" y="2446472"/>
            <a:chExt cx="1769700" cy="291901"/>
          </a:xfrm>
        </p:grpSpPr>
        <p:sp>
          <p:nvSpPr>
            <p:cNvPr id="645" name="Google Shape;645;p43"/>
            <p:cNvSpPr/>
            <p:nvPr/>
          </p:nvSpPr>
          <p:spPr>
            <a:xfrm>
              <a:off x="6914561" y="2446472"/>
              <a:ext cx="17697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ECF1"/>
                </a:buClr>
                <a:buSzPts val="871"/>
                <a:buFont typeface="Calibri"/>
                <a:buNone/>
              </a:pPr>
              <a:r>
                <a:rPr b="1" i="0" lang="en" sz="1161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to BEC (Servo)</a:t>
              </a:r>
              <a:endParaRPr b="0" i="0" sz="11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43"/>
            <p:cNvSpPr/>
            <p:nvPr/>
          </p:nvSpPr>
          <p:spPr>
            <a:xfrm>
              <a:off x="6914561" y="2605773"/>
              <a:ext cx="1769700" cy="1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77"/>
                <a:buFont typeface="Calibri"/>
                <a:buNone/>
              </a:pP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Red 18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 /  Blk 18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endParaRPr b="0" i="0" sz="9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7" name="Google Shape;647;p43"/>
          <p:cNvSpPr/>
          <p:nvPr/>
        </p:nvSpPr>
        <p:spPr>
          <a:xfrm>
            <a:off x="274325" y="3159726"/>
            <a:ext cx="8595300" cy="1869000"/>
          </a:xfrm>
          <a:prstGeom prst="rect">
            <a:avLst/>
          </a:prstGeom>
          <a:solidFill>
            <a:srgbClr val="1E3355"/>
          </a:solidFill>
          <a:ln cap="flat" cmpd="sng" w="9525">
            <a:solidFill>
              <a:srgbClr val="2E4A7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3"/>
          <p:cNvSpPr/>
          <p:nvPr/>
        </p:nvSpPr>
        <p:spPr>
          <a:xfrm>
            <a:off x="457200" y="3168335"/>
            <a:ext cx="2743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7A7"/>
              </a:buClr>
              <a:buSzPts val="1000"/>
              <a:buFont typeface="Calibri"/>
              <a:buNone/>
            </a:pPr>
            <a:r>
              <a:rPr b="1" i="0" lang="en" sz="1200" u="none" cap="none" strike="noStrik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</a:rPr>
              <a:t>Signal &amp; Data Interconnects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9" name="Google Shape;649;p43"/>
          <p:cNvGraphicFramePr/>
          <p:nvPr/>
        </p:nvGraphicFramePr>
        <p:xfrm>
          <a:off x="457200" y="34046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{C8A4AE2F-9757-44FD-B27A-7648E2E99CB5}</a:tableStyleId>
              </a:tblPr>
              <a:tblGrid>
                <a:gridCol w="2445150"/>
                <a:gridCol w="1833875"/>
                <a:gridCol w="1467100"/>
                <a:gridCol w="978075"/>
                <a:gridCol w="1467100"/>
              </a:tblGrid>
              <a:tr h="2627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Connection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Cable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Connector</a:t>
                      </a:r>
                      <a:endParaRPr b="1"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7A7"/>
                    </a:solidFill>
                  </a:tcPr>
                </a:tc>
              </a:tr>
              <a:tr h="2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 → Pixhawk (IF-1)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MAVLink / UART1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TX/RX 3.3V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r>
                        <a:rPr b="1" lang="en" sz="950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AWG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JST-SH 4-pin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2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 → Jetson (IF-3)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UART2 115200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TX/RX 3.3V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r>
                        <a:rPr b="1" lang="en" sz="950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AWG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JST-SH 4-pin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2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ESP32 → ESC (PWM)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PWM 50Hz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3.3V logic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r>
                        <a:rPr b="1" lang="en" sz="950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AWG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Servo 3-pin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  <a:tr h="2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Jetson → Camera (CSI)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MIPI CSI-2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LVDS diff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Ribbon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15-pin FPC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3B5E"/>
                    </a:solidFill>
                  </a:tcPr>
                </a:tc>
              </a:tr>
              <a:tr h="25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Jetson → Starlink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Ethernet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100BASE-T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Cat5e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ECF1"/>
                        </a:buClr>
                        <a:buSzPts val="750"/>
                        <a:buFont typeface="Calibri"/>
                        <a:buNone/>
                      </a:pPr>
                      <a:r>
                        <a:rPr b="1" lang="en" sz="950" u="none" cap="none" strike="noStrike">
                          <a:solidFill>
                            <a:srgbClr val="E8ECF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RJ-45</a:t>
                      </a:r>
                      <a:endParaRPr b="1"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4A7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355"/>
                    </a:solidFill>
                  </a:tcPr>
                </a:tc>
              </a:tr>
            </a:tbl>
          </a:graphicData>
        </a:graphic>
      </p:graphicFrame>
      <p:cxnSp>
        <p:nvCxnSpPr>
          <p:cNvPr id="650" name="Google Shape;650;p43"/>
          <p:cNvCxnSpPr>
            <a:stCxn id="608" idx="2"/>
            <a:endCxn id="602" idx="2"/>
          </p:cNvCxnSpPr>
          <p:nvPr/>
        </p:nvCxnSpPr>
        <p:spPr>
          <a:xfrm flipH="1" rot="5400000">
            <a:off x="3299701" y="-251599"/>
            <a:ext cx="907800" cy="5353800"/>
          </a:xfrm>
          <a:prstGeom prst="bentConnector3">
            <a:avLst>
              <a:gd fmla="val -17314" name="adj1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43"/>
          <p:cNvCxnSpPr>
            <a:stCxn id="602" idx="3"/>
            <a:endCxn id="604" idx="1"/>
          </p:cNvCxnSpPr>
          <p:nvPr/>
        </p:nvCxnSpPr>
        <p:spPr>
          <a:xfrm>
            <a:off x="1696084" y="1728101"/>
            <a:ext cx="619500" cy="6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rgbClr val="C6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43"/>
          <p:cNvCxnSpPr>
            <a:stCxn id="604" idx="3"/>
            <a:endCxn id="605" idx="1"/>
          </p:cNvCxnSpPr>
          <p:nvPr/>
        </p:nvCxnSpPr>
        <p:spPr>
          <a:xfrm>
            <a:off x="3156581" y="1728121"/>
            <a:ext cx="309600" cy="600"/>
          </a:xfrm>
          <a:prstGeom prst="bentConnector3">
            <a:avLst>
              <a:gd fmla="val 49980" name="adj1"/>
            </a:avLst>
          </a:prstGeom>
          <a:noFill/>
          <a:ln cap="flat" cmpd="sng" w="19050">
            <a:solidFill>
              <a:srgbClr val="C6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3" name="Google Shape;653;p43"/>
          <p:cNvCxnSpPr>
            <a:stCxn id="605" idx="3"/>
            <a:endCxn id="606" idx="1"/>
          </p:cNvCxnSpPr>
          <p:nvPr/>
        </p:nvCxnSpPr>
        <p:spPr>
          <a:xfrm>
            <a:off x="4306955" y="1728121"/>
            <a:ext cx="309600" cy="600"/>
          </a:xfrm>
          <a:prstGeom prst="bentConnector3">
            <a:avLst>
              <a:gd fmla="val 49979" name="adj1"/>
            </a:avLst>
          </a:prstGeom>
          <a:noFill/>
          <a:ln cap="flat" cmpd="sng" w="19050">
            <a:solidFill>
              <a:srgbClr val="CC0033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54" name="Google Shape;654;p43"/>
          <p:cNvGrpSpPr/>
          <p:nvPr/>
        </p:nvGrpSpPr>
        <p:grpSpPr>
          <a:xfrm>
            <a:off x="6914561" y="2115270"/>
            <a:ext cx="1769700" cy="291888"/>
            <a:chOff x="6914561" y="2098385"/>
            <a:chExt cx="1769700" cy="291888"/>
          </a:xfrm>
        </p:grpSpPr>
        <p:sp>
          <p:nvSpPr>
            <p:cNvPr id="655" name="Google Shape;655;p43"/>
            <p:cNvSpPr/>
            <p:nvPr/>
          </p:nvSpPr>
          <p:spPr>
            <a:xfrm>
              <a:off x="6914561" y="2098385"/>
              <a:ext cx="1769700" cy="15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8ECF1"/>
                </a:buClr>
                <a:buSzPts val="871"/>
                <a:buFont typeface="Calibri"/>
                <a:buNone/>
              </a:pPr>
              <a:r>
                <a:rPr b="1" i="0" lang="en" sz="1161" u="none" cap="none" strike="noStrike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to </a:t>
              </a:r>
              <a:r>
                <a:rPr b="1" lang="en" sz="1161">
                  <a:solidFill>
                    <a:srgbClr val="E8ECF1"/>
                  </a:solidFill>
                  <a:latin typeface="Calibri"/>
                  <a:ea typeface="Calibri"/>
                  <a:cs typeface="Calibri"/>
                  <a:sym typeface="Calibri"/>
                </a:rPr>
                <a:t>5V Power Mod (Pixhawk)</a:t>
              </a:r>
              <a:endParaRPr b="0" i="0" sz="1161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43"/>
            <p:cNvSpPr/>
            <p:nvPr/>
          </p:nvSpPr>
          <p:spPr>
            <a:xfrm>
              <a:off x="6914561" y="2257673"/>
              <a:ext cx="1769700" cy="13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B0BEC5"/>
                </a:buClr>
                <a:buSzPts val="677"/>
                <a:buFont typeface="Calibri"/>
                <a:buNone/>
              </a:pP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Red 18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r>
                <a:rPr b="0" i="0" lang="en" sz="967" u="none" cap="none" strike="noStrike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 /  Blk 18</a:t>
              </a:r>
              <a:r>
                <a:rPr lang="en" sz="967">
                  <a:solidFill>
                    <a:srgbClr val="B0BEC5"/>
                  </a:solidFill>
                  <a:latin typeface="Calibri"/>
                  <a:ea typeface="Calibri"/>
                  <a:cs typeface="Calibri"/>
                  <a:sym typeface="Calibri"/>
                </a:rPr>
                <a:t> AWG</a:t>
              </a:r>
              <a:endParaRPr b="0" i="0" sz="96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57" name="Google Shape;657;p43"/>
          <p:cNvCxnSpPr/>
          <p:nvPr/>
        </p:nvCxnSpPr>
        <p:spPr>
          <a:xfrm>
            <a:off x="6652325" y="728575"/>
            <a:ext cx="225900" cy="0"/>
          </a:xfrm>
          <a:prstGeom prst="straightConnector1">
            <a:avLst/>
          </a:prstGeom>
          <a:noFill/>
          <a:ln cap="flat" cmpd="sng" w="19050">
            <a:solidFill>
              <a:srgbClr val="455A64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4"/>
          <p:cNvSpPr txBox="1"/>
          <p:nvPr/>
        </p:nvSpPr>
        <p:spPr>
          <a:xfrm>
            <a:off x="1763850" y="187425"/>
            <a:ext cx="56163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Sensors and Camera Integration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63" name="Google Shape;663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4" name="Google Shape;664;p44"/>
          <p:cNvPicPr preferRelativeResize="0"/>
          <p:nvPr/>
        </p:nvPicPr>
        <p:blipFill rotWithShape="1">
          <a:blip r:embed="rId3">
            <a:alphaModFix/>
          </a:blip>
          <a:srcRect b="0" l="3605" r="1779" t="0"/>
          <a:stretch/>
        </p:blipFill>
        <p:spPr>
          <a:xfrm>
            <a:off x="2981675" y="908875"/>
            <a:ext cx="2354725" cy="157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5" name="Google Shape;66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975" y="908875"/>
            <a:ext cx="2837325" cy="1572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44"/>
          <p:cNvPicPr preferRelativeResize="0"/>
          <p:nvPr/>
        </p:nvPicPr>
        <p:blipFill rotWithShape="1">
          <a:blip r:embed="rId5">
            <a:alphaModFix/>
          </a:blip>
          <a:srcRect b="2844" l="0" r="0" t="7155"/>
          <a:stretch/>
        </p:blipFill>
        <p:spPr>
          <a:xfrm>
            <a:off x="3003775" y="2481825"/>
            <a:ext cx="2310524" cy="150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4"/>
          <p:cNvSpPr txBox="1"/>
          <p:nvPr/>
        </p:nvSpPr>
        <p:spPr>
          <a:xfrm>
            <a:off x="5488450" y="886675"/>
            <a:ext cx="3625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44"/>
          <p:cNvSpPr txBox="1"/>
          <p:nvPr/>
        </p:nvSpPr>
        <p:spPr>
          <a:xfrm>
            <a:off x="5426650" y="624050"/>
            <a:ext cx="3749400" cy="40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Since CDR: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Mounts optimized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Drag reduced for </a:t>
            </a: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</a:t>
            </a: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mount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Stability improved on camera mount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successfully mounted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pH sensor selected – prior choice faulty </a:t>
            </a:r>
            <a:r>
              <a:rPr lang="en" sz="1700">
                <a:solidFill>
                  <a:srgbClr val="ED0B0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CDE2 Delay</a:t>
            </a:r>
            <a:endParaRPr sz="1700">
              <a:solidFill>
                <a:srgbClr val="ED0B0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Steps: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Waiting on pH sensor arrival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pH sensor inline with temp. </a:t>
            </a: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 conductivity sensor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into hull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9" name="Google Shape;669;p44" title="IMG_6553.jpeg"/>
          <p:cNvPicPr preferRelativeResize="0"/>
          <p:nvPr/>
        </p:nvPicPr>
        <p:blipFill rotWithShape="1">
          <a:blip r:embed="rId6">
            <a:alphaModFix/>
          </a:blip>
          <a:srcRect b="0" l="0" r="0" t="29194"/>
          <a:stretch/>
        </p:blipFill>
        <p:spPr>
          <a:xfrm>
            <a:off x="239975" y="2481826"/>
            <a:ext cx="2837325" cy="150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5"/>
          <p:cNvSpPr txBox="1"/>
          <p:nvPr/>
        </p:nvSpPr>
        <p:spPr>
          <a:xfrm>
            <a:off x="684150" y="166300"/>
            <a:ext cx="77757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Critical Design Element (CDE-2) Progress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75" name="Google Shape;675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6" name="Google Shape;676;p45"/>
          <p:cNvSpPr txBox="1"/>
          <p:nvPr/>
        </p:nvSpPr>
        <p:spPr>
          <a:xfrm>
            <a:off x="240150" y="798400"/>
            <a:ext cx="5115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CDE-2 Goal: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 sensor and camera connectivity to the ground station GUI, while being integrated into the drone hull itself.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Status: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Camera is integrated with partial verification of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functionality. Sensor suite still awaiting integration due to pH sensor replacement– functionality of temperature and conductivity sensor is partially verified.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7" name="Google Shape;677;p45"/>
          <p:cNvSpPr txBox="1"/>
          <p:nvPr/>
        </p:nvSpPr>
        <p:spPr>
          <a:xfrm>
            <a:off x="5355450" y="798400"/>
            <a:ext cx="3000000" cy="29883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4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Next Steps:</a:t>
            </a:r>
            <a:endParaRPr sz="1604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4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After pH sensor arrives, sensor suite programming will be finalized (1-2 days), and then mounted (1 day). </a:t>
            </a:r>
            <a:endParaRPr sz="1604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4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4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Verification of function </a:t>
            </a:r>
            <a:r>
              <a:rPr lang="en" sz="1604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within</a:t>
            </a:r>
            <a:r>
              <a:rPr lang="en" sz="1604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hull &amp; waterproofing will be done at pool by 3/3/26.</a:t>
            </a:r>
            <a:endParaRPr sz="1604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4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46"/>
          <p:cNvSpPr txBox="1"/>
          <p:nvPr/>
        </p:nvSpPr>
        <p:spPr>
          <a:xfrm>
            <a:off x="1240200" y="0"/>
            <a:ext cx="66636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Geo-Overlay and Telemetry Integration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83" name="Google Shape;683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4" name="Google Shape;68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900" y="632529"/>
            <a:ext cx="7936200" cy="2873969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6"/>
          <p:cNvSpPr txBox="1"/>
          <p:nvPr/>
        </p:nvSpPr>
        <p:spPr>
          <a:xfrm>
            <a:off x="239675" y="3435500"/>
            <a:ext cx="4548300" cy="14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IMX219 camera sends 1080p video to the Jetson via CSI ribbon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collects GPS, IMU, and temperature data and sends telemetry to Jetson over USB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Jetson synchronizes video + telemetry and prepares outgoing data stream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6" name="Google Shape;686;p46"/>
          <p:cNvSpPr txBox="1"/>
          <p:nvPr/>
        </p:nvSpPr>
        <p:spPr>
          <a:xfrm>
            <a:off x="4595700" y="3435500"/>
            <a:ext cx="4548300" cy="14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Jetson connects to Starlink Mini via </a:t>
            </a: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Wifi</a:t>
            </a: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remote communication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Starlink network relays live video + telemetry to the GUI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displays real‑time video, GPS position, heading, and temperature and supports two‑way commands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7" name="Google Shape;687;p46"/>
          <p:cNvSpPr/>
          <p:nvPr/>
        </p:nvSpPr>
        <p:spPr>
          <a:xfrm>
            <a:off x="1302200" y="975625"/>
            <a:ext cx="2204400" cy="16533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3" name="Google Shape;693;p47" title="f7caa48a-798d-4aba-a56e-d941dc8e6b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9500" y="1578288"/>
            <a:ext cx="1493301" cy="1986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4" name="Google Shape;694;p47" title="53756b59-e0a9-4297-b2b9-253a6da63d7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1225" y="1755500"/>
            <a:ext cx="2779574" cy="2089025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47"/>
          <p:cNvSpPr txBox="1"/>
          <p:nvPr/>
        </p:nvSpPr>
        <p:spPr>
          <a:xfrm>
            <a:off x="1119900" y="101335"/>
            <a:ext cx="690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Demo Setup</a:t>
            </a:r>
            <a:endParaRPr b="1" sz="3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696" name="Google Shape;696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5850" y="3696018"/>
            <a:ext cx="1068000" cy="956382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47"/>
          <p:cNvSpPr/>
          <p:nvPr/>
        </p:nvSpPr>
        <p:spPr>
          <a:xfrm>
            <a:off x="1501275" y="2399963"/>
            <a:ext cx="823200" cy="8001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7"/>
          <p:cNvSpPr/>
          <p:nvPr/>
        </p:nvSpPr>
        <p:spPr>
          <a:xfrm>
            <a:off x="2324475" y="2277400"/>
            <a:ext cx="482700" cy="4872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7"/>
          <p:cNvSpPr/>
          <p:nvPr/>
        </p:nvSpPr>
        <p:spPr>
          <a:xfrm>
            <a:off x="2945375" y="2467750"/>
            <a:ext cx="779700" cy="8001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7"/>
          <p:cNvSpPr/>
          <p:nvPr/>
        </p:nvSpPr>
        <p:spPr>
          <a:xfrm>
            <a:off x="3621100" y="2058850"/>
            <a:ext cx="779700" cy="800100"/>
          </a:xfrm>
          <a:prstGeom prst="ellipse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1" name="Google Shape;701;p47"/>
          <p:cNvCxnSpPr>
            <a:stCxn id="697" idx="2"/>
            <a:endCxn id="702" idx="0"/>
          </p:cNvCxnSpPr>
          <p:nvPr/>
        </p:nvCxnSpPr>
        <p:spPr>
          <a:xfrm flipH="1">
            <a:off x="797175" y="2800013"/>
            <a:ext cx="704100" cy="3081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3" name="Google Shape;703;p47"/>
          <p:cNvCxnSpPr>
            <a:stCxn id="698" idx="1"/>
            <a:endCxn id="704" idx="2"/>
          </p:cNvCxnSpPr>
          <p:nvPr/>
        </p:nvCxnSpPr>
        <p:spPr>
          <a:xfrm rot="10800000">
            <a:off x="1501165" y="1578348"/>
            <a:ext cx="894000" cy="7704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47"/>
          <p:cNvCxnSpPr>
            <a:stCxn id="699" idx="3"/>
            <a:endCxn id="706" idx="0"/>
          </p:cNvCxnSpPr>
          <p:nvPr/>
        </p:nvCxnSpPr>
        <p:spPr>
          <a:xfrm flipH="1">
            <a:off x="2434059" y="3150678"/>
            <a:ext cx="625500" cy="10296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47"/>
          <p:cNvCxnSpPr>
            <a:stCxn id="700" idx="0"/>
            <a:endCxn id="708" idx="2"/>
          </p:cNvCxnSpPr>
          <p:nvPr/>
        </p:nvCxnSpPr>
        <p:spPr>
          <a:xfrm flipH="1" rot="10800000">
            <a:off x="4010950" y="1377250"/>
            <a:ext cx="156300" cy="681600"/>
          </a:xfrm>
          <a:prstGeom prst="straightConnector1">
            <a:avLst/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2" name="Google Shape;702;p47"/>
          <p:cNvSpPr txBox="1"/>
          <p:nvPr/>
        </p:nvSpPr>
        <p:spPr>
          <a:xfrm>
            <a:off x="171531" y="3108050"/>
            <a:ext cx="1251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Jetson Nano</a:t>
            </a:r>
            <a:endParaRPr sz="100"/>
          </a:p>
        </p:txBody>
      </p:sp>
      <p:sp>
        <p:nvSpPr>
          <p:cNvPr id="704" name="Google Shape;704;p47"/>
          <p:cNvSpPr txBox="1"/>
          <p:nvPr/>
        </p:nvSpPr>
        <p:spPr>
          <a:xfrm>
            <a:off x="875631" y="1232100"/>
            <a:ext cx="1251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IMX219</a:t>
            </a:r>
            <a:endParaRPr sz="100"/>
          </a:p>
        </p:txBody>
      </p:sp>
      <p:sp>
        <p:nvSpPr>
          <p:cNvPr id="708" name="Google Shape;708;p47"/>
          <p:cNvSpPr txBox="1"/>
          <p:nvPr/>
        </p:nvSpPr>
        <p:spPr>
          <a:xfrm>
            <a:off x="3541706" y="1030975"/>
            <a:ext cx="1251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Starlink Mini</a:t>
            </a:r>
            <a:endParaRPr sz="100"/>
          </a:p>
        </p:txBody>
      </p:sp>
      <p:sp>
        <p:nvSpPr>
          <p:cNvPr id="706" name="Google Shape;706;p47"/>
          <p:cNvSpPr txBox="1"/>
          <p:nvPr/>
        </p:nvSpPr>
        <p:spPr>
          <a:xfrm>
            <a:off x="1808325" y="4180150"/>
            <a:ext cx="1251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ESP32: GPS, IMU &amp; Temp</a:t>
            </a:r>
            <a:endParaRPr sz="100"/>
          </a:p>
        </p:txBody>
      </p:sp>
      <p:sp>
        <p:nvSpPr>
          <p:cNvPr id="709" name="Google Shape;709;p47"/>
          <p:cNvSpPr txBox="1"/>
          <p:nvPr/>
        </p:nvSpPr>
        <p:spPr>
          <a:xfrm>
            <a:off x="4947950" y="1578300"/>
            <a:ext cx="10680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Power for Jetson &amp; Starlink</a:t>
            </a:r>
            <a:endParaRPr sz="100"/>
          </a:p>
        </p:txBody>
      </p:sp>
      <p:cxnSp>
        <p:nvCxnSpPr>
          <p:cNvPr id="710" name="Google Shape;710;p47"/>
          <p:cNvCxnSpPr>
            <a:endCxn id="693" idx="1"/>
          </p:cNvCxnSpPr>
          <p:nvPr/>
        </p:nvCxnSpPr>
        <p:spPr>
          <a:xfrm>
            <a:off x="5733600" y="2054250"/>
            <a:ext cx="1155900" cy="51750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1" name="Google Shape;711;p47"/>
          <p:cNvSpPr txBox="1"/>
          <p:nvPr/>
        </p:nvSpPr>
        <p:spPr>
          <a:xfrm>
            <a:off x="4764644" y="2399975"/>
            <a:ext cx="12513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Starlink Network</a:t>
            </a:r>
            <a:endParaRPr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Connection</a:t>
            </a:r>
            <a:endParaRPr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712" name="Google Shape;712;p47"/>
          <p:cNvCxnSpPr>
            <a:stCxn id="711" idx="2"/>
            <a:endCxn id="696" idx="0"/>
          </p:cNvCxnSpPr>
          <p:nvPr/>
        </p:nvCxnSpPr>
        <p:spPr>
          <a:xfrm>
            <a:off x="5390294" y="3069575"/>
            <a:ext cx="509700" cy="6264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8" name="Google Shape;718;p48"/>
          <p:cNvSpPr txBox="1"/>
          <p:nvPr/>
        </p:nvSpPr>
        <p:spPr>
          <a:xfrm>
            <a:off x="1887750" y="193750"/>
            <a:ext cx="5368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Geo-Overlay Demo</a:t>
            </a:r>
            <a:endParaRPr b="1" sz="3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19" name="Google Shape;719;p48"/>
          <p:cNvSpPr txBox="1"/>
          <p:nvPr/>
        </p:nvSpPr>
        <p:spPr>
          <a:xfrm>
            <a:off x="5972737" y="1344987"/>
            <a:ext cx="30000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 1080p video successfully streamed over Starlink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Geo‑overlay displayed correctly with real‑time GPS updates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Telemetry (GPS, IMU, Temp) received at expected 3‑second interval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controls functional (zoom, record, overlays)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Recording triggered from GUI and saved on Jetson with matching timestamps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End‑to‑end Jetson ↔ GUI communication confirmed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0" name="Google Shape;72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45225" y="4134152"/>
            <a:ext cx="647843" cy="3936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1" name="Google Shape;721;p48"/>
          <p:cNvSpPr txBox="1"/>
          <p:nvPr/>
        </p:nvSpPr>
        <p:spPr>
          <a:xfrm>
            <a:off x="6245550" y="4157850"/>
            <a:ext cx="1493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For Reference:</a:t>
            </a:r>
            <a:endParaRPr b="1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22" name="Google Shape;722;p48"/>
          <p:cNvSpPr txBox="1"/>
          <p:nvPr/>
        </p:nvSpPr>
        <p:spPr>
          <a:xfrm>
            <a:off x="7002143" y="998775"/>
            <a:ext cx="1493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Results</a:t>
            </a:r>
            <a:r>
              <a:rPr b="1" lang="en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:</a:t>
            </a:r>
            <a:endParaRPr b="1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23" name="Google Shape;723;p48" title="Video Project 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800" y="1136113"/>
            <a:ext cx="5667936" cy="3188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9"/>
          <p:cNvSpPr txBox="1"/>
          <p:nvPr/>
        </p:nvSpPr>
        <p:spPr>
          <a:xfrm>
            <a:off x="696900" y="1994117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Testing and Verification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29" name="Google Shape;729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0"/>
          <p:cNvSpPr txBox="1"/>
          <p:nvPr/>
        </p:nvSpPr>
        <p:spPr>
          <a:xfrm>
            <a:off x="2035200" y="211100"/>
            <a:ext cx="58158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Data Transmission 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Verification 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35" name="Google Shape;735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6" name="Google Shape;73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538" y="953813"/>
            <a:ext cx="3708374" cy="201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7" name="Google Shape;737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0325" y="1115225"/>
            <a:ext cx="1894363" cy="235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8" name="Google Shape;738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1462" y="2971450"/>
            <a:ext cx="1337149" cy="16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0"/>
          <p:cNvSpPr/>
          <p:nvPr/>
        </p:nvSpPr>
        <p:spPr>
          <a:xfrm>
            <a:off x="2909550" y="1564799"/>
            <a:ext cx="640200" cy="632100"/>
          </a:xfrm>
          <a:prstGeom prst="ellipse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0" name="Google Shape;7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8125" y="3210475"/>
            <a:ext cx="2292126" cy="1518736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0"/>
          <p:cNvSpPr/>
          <p:nvPr/>
        </p:nvSpPr>
        <p:spPr>
          <a:xfrm>
            <a:off x="3302700" y="2104324"/>
            <a:ext cx="640200" cy="632100"/>
          </a:xfrm>
          <a:prstGeom prst="ellipse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42" name="Google Shape;742;p50"/>
          <p:cNvCxnSpPr>
            <a:stCxn id="739" idx="3"/>
            <a:endCxn id="740" idx="0"/>
          </p:cNvCxnSpPr>
          <p:nvPr/>
        </p:nvCxnSpPr>
        <p:spPr>
          <a:xfrm>
            <a:off x="3003305" y="2104330"/>
            <a:ext cx="900" cy="11061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50"/>
          <p:cNvCxnSpPr>
            <a:stCxn id="741" idx="6"/>
            <a:endCxn id="737" idx="1"/>
          </p:cNvCxnSpPr>
          <p:nvPr/>
        </p:nvCxnSpPr>
        <p:spPr>
          <a:xfrm flipH="1" rot="10800000">
            <a:off x="3942900" y="2294374"/>
            <a:ext cx="447300" cy="1260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4" name="Google Shape;744;p50"/>
          <p:cNvSpPr/>
          <p:nvPr/>
        </p:nvSpPr>
        <p:spPr>
          <a:xfrm>
            <a:off x="381000" y="3839875"/>
            <a:ext cx="986100" cy="3936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0"/>
          <p:cNvSpPr txBox="1"/>
          <p:nvPr/>
        </p:nvSpPr>
        <p:spPr>
          <a:xfrm>
            <a:off x="6516191" y="1069080"/>
            <a:ext cx="2162700" cy="1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triggers recording on Jetson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1080p/30fps video verified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Telemetry logged every 3 seconds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+ CSV stored with matching timestamps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Jetson ↔ GUI communication confirmed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le:Checkmark.svg - Wikimedia Commons" id="746" name="Google Shape;746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4576" y="2845220"/>
            <a:ext cx="442921" cy="393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Eo circle yellow checkmark.svg - Wikimedia Commons" id="747" name="Google Shape;747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53363" y="748054"/>
            <a:ext cx="39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50"/>
          <p:cNvSpPr txBox="1"/>
          <p:nvPr/>
        </p:nvSpPr>
        <p:spPr>
          <a:xfrm>
            <a:off x="6742985" y="714193"/>
            <a:ext cx="189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4.1.6 Data Collection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9" name="Google Shape;749;p50"/>
          <p:cNvSpPr txBox="1"/>
          <p:nvPr/>
        </p:nvSpPr>
        <p:spPr>
          <a:xfrm>
            <a:off x="6764383" y="2894266"/>
            <a:ext cx="189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4.1.7 Data Mapping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0" name="Google Shape;750;p50"/>
          <p:cNvSpPr txBox="1"/>
          <p:nvPr/>
        </p:nvSpPr>
        <p:spPr>
          <a:xfrm>
            <a:off x="6553649" y="3195930"/>
            <a:ext cx="2162700" cy="1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 + Temp exported as GIS‑compatible CSV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Synchronized video + telemetry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Real‑world mapping validated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6" name="Google Shape;756;p51"/>
          <p:cNvSpPr txBox="1"/>
          <p:nvPr/>
        </p:nvSpPr>
        <p:spPr>
          <a:xfrm>
            <a:off x="1119900" y="149400"/>
            <a:ext cx="690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Geo-Overlay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Verification</a:t>
            </a:r>
            <a:endParaRPr b="1" sz="3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757" name="Google Shape;75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213" y="1075300"/>
            <a:ext cx="5654324" cy="2750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51"/>
          <p:cNvSpPr txBox="1"/>
          <p:nvPr/>
        </p:nvSpPr>
        <p:spPr>
          <a:xfrm>
            <a:off x="6108350" y="1202300"/>
            <a:ext cx="2857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 updates with GPS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Temperature overlay toggles correctly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Real‑time position and heading displayed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Live-Video Streaming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le:Checkmark.svg - Wikimedia Commons" id="759" name="Google Shape;75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9686" y="3208717"/>
            <a:ext cx="442921" cy="393598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51"/>
          <p:cNvSpPr txBox="1"/>
          <p:nvPr/>
        </p:nvSpPr>
        <p:spPr>
          <a:xfrm>
            <a:off x="6959493" y="3257764"/>
            <a:ext cx="1894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4.4.5 Display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1" name="Google Shape;761;p51"/>
          <p:cNvSpPr/>
          <p:nvPr/>
        </p:nvSpPr>
        <p:spPr>
          <a:xfrm>
            <a:off x="416275" y="1157100"/>
            <a:ext cx="2857500" cy="14604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  <p:sp>
        <p:nvSpPr>
          <p:cNvPr id="762" name="Google Shape;762;p51"/>
          <p:cNvSpPr/>
          <p:nvPr/>
        </p:nvSpPr>
        <p:spPr>
          <a:xfrm>
            <a:off x="3191763" y="3257775"/>
            <a:ext cx="1418100" cy="5676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768" name="Google Shape;768;p52"/>
          <p:cNvGraphicFramePr/>
          <p:nvPr/>
        </p:nvGraphicFramePr>
        <p:xfrm>
          <a:off x="391950" y="120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{DD14F252-F212-42F1-B2F6-83C8442DA545}</a:tableStyleId>
              </a:tblPr>
              <a:tblGrid>
                <a:gridCol w="1593075"/>
                <a:gridCol w="1820850"/>
                <a:gridCol w="3415225"/>
                <a:gridCol w="1530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6B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6B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Remaining Action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6B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C6BC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5.3.1 Survivability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</a:t>
                      </a:r>
                      <a:r>
                        <a:rPr lang="en" sz="1300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Comms Pass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</a:t>
                      </a:r>
                      <a:r>
                        <a:rPr lang="en" sz="1300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0% loss calm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with wave / 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stormy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conditions on lake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Wk 9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5.4.3 Data Relay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Partial 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" sz="1300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Position✓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 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Integrate Jamie's sensor pipeline; demo full telemetry stream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Wk 11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4.4.1 Autonomy &amp; Control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Partial 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</a:t>
                      </a:r>
                      <a:r>
                        <a:rPr lang="en" sz="1300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commands ✓</a:t>
                      </a: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 formation control (Step 6); pool demo all 4 formation types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Wk 13-14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5.4.2 Inter-Drone Comms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</a:t>
                      </a:r>
                      <a:r>
                        <a:rPr lang="en" sz="1300">
                          <a:solidFill>
                            <a:srgbClr val="00FF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ESP-NOW verified</a:t>
                      </a:r>
                      <a:endParaRPr sz="1300">
                        <a:solidFill>
                          <a:srgbClr val="00FF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 100m range in pool environment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Pool Test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5.4.6 Swarm Control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rgbClr val="FFB3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◐ ESP-NOW layer done</a:t>
                      </a:r>
                      <a:endParaRPr sz="1300">
                        <a:solidFill>
                          <a:srgbClr val="FFB3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Bridge ESP32→ Jetson via MAVLink/serial; implement MQTT pub/sub ≥1 Hz, verify &lt;1s latency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Wk 12</a:t>
                      </a:r>
                      <a:endParaRPr sz="13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5C6B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9" name="Google Shape;769;p52"/>
          <p:cNvSpPr txBox="1"/>
          <p:nvPr/>
        </p:nvSpPr>
        <p:spPr>
          <a:xfrm>
            <a:off x="1842600" y="186350"/>
            <a:ext cx="5458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Communication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Subsystem Verification Plan</a:t>
            </a:r>
            <a:endParaRPr b="1" sz="3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53"/>
          <p:cNvSpPr txBox="1"/>
          <p:nvPr/>
        </p:nvSpPr>
        <p:spPr>
          <a:xfrm>
            <a:off x="2240250" y="136800"/>
            <a:ext cx="46635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Propulsion Subsystem Verification Plan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75" name="Google Shape;775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6" name="Google Shape;776;p53"/>
          <p:cNvSpPr txBox="1"/>
          <p:nvPr/>
        </p:nvSpPr>
        <p:spPr>
          <a:xfrm>
            <a:off x="338225" y="1033075"/>
            <a:ext cx="3759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4.1.3 - Stability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Drone will be placed in the water in different positions and shown to return to its running orientation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4.1.4 - Speed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Drone will be run at speed at constant power over a  measured distance in calm water, and timed.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test will be conducted 3 times to determine speed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7" name="Google Shape;777;p53"/>
          <p:cNvSpPr txBox="1"/>
          <p:nvPr/>
        </p:nvSpPr>
        <p:spPr>
          <a:xfrm>
            <a:off x="4406975" y="1033075"/>
            <a:ext cx="3759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4.3.3 - Operating Temperature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○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Drone will be run at determined cruise power for 30 minutes and the internal temperature will be measured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54"/>
          <p:cNvSpPr txBox="1"/>
          <p:nvPr/>
        </p:nvSpPr>
        <p:spPr>
          <a:xfrm>
            <a:off x="2190600" y="13725"/>
            <a:ext cx="47628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Sensors 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Verification Plan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83" name="Google Shape;783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84" name="Google Shape;78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7400"/>
            <a:ext cx="1955950" cy="10089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8350" y="507400"/>
            <a:ext cx="719199" cy="1008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603475"/>
            <a:ext cx="1348909" cy="10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699550"/>
            <a:ext cx="1817674" cy="10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5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3795625"/>
            <a:ext cx="1573149" cy="10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54"/>
          <p:cNvSpPr txBox="1"/>
          <p:nvPr/>
        </p:nvSpPr>
        <p:spPr>
          <a:xfrm>
            <a:off x="2827550" y="718700"/>
            <a:ext cx="11334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 Probe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0" name="Google Shape;790;p54"/>
          <p:cNvSpPr txBox="1"/>
          <p:nvPr/>
        </p:nvSpPr>
        <p:spPr>
          <a:xfrm>
            <a:off x="1501300" y="1911125"/>
            <a:ext cx="2266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Temperature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1" name="Google Shape;791;p54"/>
          <p:cNvSpPr txBox="1"/>
          <p:nvPr/>
        </p:nvSpPr>
        <p:spPr>
          <a:xfrm>
            <a:off x="1725550" y="4103275"/>
            <a:ext cx="2266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 Module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2" name="Google Shape;792;p54"/>
          <p:cNvSpPr txBox="1"/>
          <p:nvPr/>
        </p:nvSpPr>
        <p:spPr>
          <a:xfrm>
            <a:off x="1970075" y="3007200"/>
            <a:ext cx="2266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Conductivity Probe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3" name="Google Shape;793;p54"/>
          <p:cNvCxnSpPr/>
          <p:nvPr/>
        </p:nvCxnSpPr>
        <p:spPr>
          <a:xfrm flipH="1" rot="10800000">
            <a:off x="3960950" y="951475"/>
            <a:ext cx="1449000" cy="4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4" name="Google Shape;794;p54"/>
          <p:cNvCxnSpPr/>
          <p:nvPr/>
        </p:nvCxnSpPr>
        <p:spPr>
          <a:xfrm flipH="1" rot="10800000">
            <a:off x="3491950" y="954250"/>
            <a:ext cx="1787100" cy="1191300"/>
          </a:xfrm>
          <a:prstGeom prst="bentConnector3">
            <a:avLst>
              <a:gd fmla="val 60977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54"/>
          <p:cNvCxnSpPr/>
          <p:nvPr/>
        </p:nvCxnSpPr>
        <p:spPr>
          <a:xfrm rot="-5400000">
            <a:off x="2126100" y="1942100"/>
            <a:ext cx="3429000" cy="1482000"/>
          </a:xfrm>
          <a:prstGeom prst="bentConnector3">
            <a:avLst>
              <a:gd fmla="val 422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54"/>
          <p:cNvCxnSpPr/>
          <p:nvPr/>
        </p:nvCxnSpPr>
        <p:spPr>
          <a:xfrm rot="-5400000">
            <a:off x="3070500" y="1782300"/>
            <a:ext cx="2339400" cy="682800"/>
          </a:xfrm>
          <a:prstGeom prst="bentConnector3">
            <a:avLst>
              <a:gd fmla="val 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54"/>
          <p:cNvSpPr txBox="1"/>
          <p:nvPr/>
        </p:nvSpPr>
        <p:spPr>
          <a:xfrm>
            <a:off x="5409950" y="645825"/>
            <a:ext cx="34872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 File in Format: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Date,Time, Lat., Long., Speed, GPS Fix, Temp., Cond., pH.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8" name="Google Shape;798;p54"/>
          <p:cNvSpPr txBox="1"/>
          <p:nvPr/>
        </p:nvSpPr>
        <p:spPr>
          <a:xfrm>
            <a:off x="5069575" y="1823950"/>
            <a:ext cx="3725700" cy="24285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order to verify full functionality of sensor suite,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will be tested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known, calibrated substances of varying temperature, salinity, and pH. These values will be confirmed at the ground station GUI, and necessary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calibration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curves will be constructed and applied.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4" name="Google Shape;804;p55"/>
          <p:cNvSpPr txBox="1"/>
          <p:nvPr/>
        </p:nvSpPr>
        <p:spPr>
          <a:xfrm>
            <a:off x="1255650" y="287205"/>
            <a:ext cx="6632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Sensor </a:t>
            </a: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Requirements Verification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5" name="Google Shape;805;p55"/>
          <p:cNvSpPr txBox="1"/>
          <p:nvPr/>
        </p:nvSpPr>
        <p:spPr>
          <a:xfrm>
            <a:off x="552150" y="962825"/>
            <a:ext cx="8039700" cy="25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5.1.6 Data Collection:</a:t>
            </a:r>
            <a:r>
              <a:rPr b="1"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AQUABOT drone shall measure temperature, salinity, pH,  and capture visual imagery at a minimum of 1080p resolution, 30 fps. 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5.4.5 Display:</a:t>
            </a:r>
            <a:r>
              <a:rPr b="1"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display shall show half the display with Geo-overlay and the other half will display live-streaming.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5.2.4 Payload Mounts: 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hull shall provide standardized, sealed mounts for Starlink terminal, battery, and sensor payload.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5.3.2 Waterproofing:</a:t>
            </a:r>
            <a:r>
              <a:rPr b="1"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aquatic AQUABOT drone shall meet IP68 ingress protection standards IAW IEC 60529:1989 + AMD1:1999 CSV. Waterproof components shall be tested in 1.5 m depths to ensure compliance.</a:t>
            </a:r>
            <a:endParaRPr b="1"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56"/>
          <p:cNvSpPr txBox="1"/>
          <p:nvPr/>
        </p:nvSpPr>
        <p:spPr>
          <a:xfrm>
            <a:off x="2035200" y="274600"/>
            <a:ext cx="50736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2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Final Acceptance Test Plan</a:t>
            </a:r>
            <a:endParaRPr b="1" sz="32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1" name="Google Shape;811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2" name="Google Shape;812;p56" title="ISR to FAR PERT Chart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96563"/>
            <a:ext cx="9143999" cy="2950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57"/>
          <p:cNvSpPr txBox="1"/>
          <p:nvPr/>
        </p:nvSpPr>
        <p:spPr>
          <a:xfrm>
            <a:off x="2152350" y="1969050"/>
            <a:ext cx="48393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Risk Analysis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8" name="Google Shape;818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58"/>
          <p:cNvSpPr txBox="1"/>
          <p:nvPr>
            <p:ph idx="4294967295" type="title"/>
          </p:nvPr>
        </p:nvSpPr>
        <p:spPr>
          <a:xfrm>
            <a:off x="1358875" y="390775"/>
            <a:ext cx="6632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Risk Analysis: Integration  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4" name="Google Shape;824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25" name="Google Shape;825;p58"/>
          <p:cNvGraphicFramePr/>
          <p:nvPr/>
        </p:nvGraphicFramePr>
        <p:xfrm>
          <a:off x="219835" y="9329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{8F6BA54F-9E7F-4C25-9C4B-7FC32969BF42}</a:tableStyleId>
              </a:tblPr>
              <a:tblGrid>
                <a:gridCol w="515650"/>
                <a:gridCol w="382850"/>
                <a:gridCol w="494425"/>
                <a:gridCol w="515050"/>
                <a:gridCol w="531300"/>
                <a:gridCol w="484500"/>
                <a:gridCol w="519050"/>
              </a:tblGrid>
              <a:tr h="311275">
                <a:tc rowSpan="5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Impact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R003/4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R001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R002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90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R005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78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07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63575"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300">
                <a:tc gridSpan="2" vMerge="1"/>
                <a:tc hMerge="1" vMerge="1"/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Likelihood</a:t>
                      </a:r>
                      <a:endParaRPr sz="1100"/>
                    </a:p>
                  </a:txBody>
                  <a:tcPr marT="9525" marB="45725" marR="9525" marL="95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826" name="Google Shape;826;p58"/>
          <p:cNvGraphicFramePr/>
          <p:nvPr/>
        </p:nvGraphicFramePr>
        <p:xfrm>
          <a:off x="1500940" y="29632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{8F6BA54F-9E7F-4C25-9C4B-7FC32969BF42}</a:tableStyleId>
              </a:tblPr>
              <a:tblGrid>
                <a:gridCol w="1080850"/>
                <a:gridCol w="1080850"/>
              </a:tblGrid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Impact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Likelihood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7F7F7F"/>
                    </a:solidFill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5 - Catastrophic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5 - Near Certainty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4 - Major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4 - Highly Likely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3 - Moderate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3 - Likely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2 - Minor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2 - Somewhat Likely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1 - Insignificant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1 - Not Likely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7" name="Google Shape;827;p58"/>
          <p:cNvGraphicFramePr/>
          <p:nvPr/>
        </p:nvGraphicFramePr>
        <p:xfrm>
          <a:off x="219832" y="29632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{8F6BA54F-9E7F-4C25-9C4B-7FC32969BF42}</a:tableStyleId>
              </a:tblPr>
              <a:tblGrid>
                <a:gridCol w="382900"/>
                <a:gridCol w="744175"/>
              </a:tblGrid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000000"/>
                          </a:solidFill>
                        </a:rPr>
                        <a:t>High Risk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Moderate Risk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Low Risk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8" name="Google Shape;828;p58"/>
          <p:cNvGraphicFramePr/>
          <p:nvPr/>
        </p:nvGraphicFramePr>
        <p:xfrm>
          <a:off x="3881236" y="119637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{8F6BA54F-9E7F-4C25-9C4B-7FC32969BF42}</a:tableStyleId>
              </a:tblPr>
              <a:tblGrid>
                <a:gridCol w="645475"/>
                <a:gridCol w="3346250"/>
                <a:gridCol w="919500"/>
              </a:tblGrid>
              <a:tr h="32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9525" marB="45725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Risk Description</a:t>
                      </a:r>
                      <a:endParaRPr/>
                    </a:p>
                  </a:txBody>
                  <a:tcPr marT="9525" marB="45725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Severity</a:t>
                      </a:r>
                      <a:endParaRPr b="1"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(L x I)</a:t>
                      </a:r>
                      <a:endParaRPr/>
                    </a:p>
                  </a:txBody>
                  <a:tcPr marT="9525" marB="45725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R001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GPS accuracy leads to swarm control problems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5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R002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Structural motor mount failure 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2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R003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Battery failure via thermal runaway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2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R004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Bus bars unable to mitigate voltage drop across components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5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R005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Jetson unable to establish connection to Cloud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9"/>
          <p:cNvSpPr txBox="1"/>
          <p:nvPr>
            <p:ph idx="4294967295" type="title"/>
          </p:nvPr>
        </p:nvSpPr>
        <p:spPr>
          <a:xfrm>
            <a:off x="1358875" y="390775"/>
            <a:ext cx="6632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Risk Analysis: Mitigation Plan 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4" name="Google Shape;834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5" name="Google Shape;835;p59"/>
          <p:cNvSpPr txBox="1"/>
          <p:nvPr/>
        </p:nvSpPr>
        <p:spPr>
          <a:xfrm>
            <a:off x="207400" y="907700"/>
            <a:ext cx="88485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R001 (High): Swarm Control (ESP32) to Flight Controller (PIXHAWK) connection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control code through simulated environment (ideal conditions)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Initial/ final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environment → low res GPS data (5m accuracy)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if a secondary system is needed for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maneuvers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before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separation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Separation distance set to 50% of max range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R002 (Moderate): Structural failure of motor mount/ flange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structural tests on ABS-CF motor mount and flange at max RPM for 1 hour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if ABS-CF is enough in real environment → if not: use machine shop SS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 if shaft is thick enough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60"/>
          <p:cNvSpPr txBox="1"/>
          <p:nvPr>
            <p:ph idx="4294967295" type="title"/>
          </p:nvPr>
        </p:nvSpPr>
        <p:spPr>
          <a:xfrm>
            <a:off x="1358875" y="390775"/>
            <a:ext cx="6632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Risk Analysis: Mitigation Plan 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1" name="Google Shape;841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2" name="Google Shape;842;p60"/>
          <p:cNvSpPr txBox="1"/>
          <p:nvPr/>
        </p:nvSpPr>
        <p:spPr>
          <a:xfrm>
            <a:off x="207400" y="907700"/>
            <a:ext cx="88485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R003 (Moderate): Battery failure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Safely charge battery when in use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Safely discharge batteries when not in use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BMS and kill switch to shut off battery if failure does happen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R004 (Moderate): Voltage drop across bus bars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‘Physical’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Mitigations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overrated bus bars at 250A, when ~25A is needed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battery for motor (largest instant voltage drop)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Minimize wire distance for high current components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testing at max electrical load to ensure no severe voltage drops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61"/>
          <p:cNvSpPr txBox="1"/>
          <p:nvPr/>
        </p:nvSpPr>
        <p:spPr>
          <a:xfrm>
            <a:off x="779100" y="1831925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Cost Analysis and Deliverables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8" name="Google Shape;848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62"/>
          <p:cNvSpPr txBox="1"/>
          <p:nvPr>
            <p:ph idx="4294967295" type="title"/>
          </p:nvPr>
        </p:nvSpPr>
        <p:spPr>
          <a:xfrm>
            <a:off x="371850" y="2"/>
            <a:ext cx="8400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Cost Analysis</a:t>
            </a:r>
            <a:endParaRPr i="0" sz="24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54" name="Google Shape;854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5" name="Google Shape;855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875" y="1909875"/>
            <a:ext cx="6240727" cy="222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00025" y="875544"/>
            <a:ext cx="3543950" cy="731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7" name="Google Shape;857;p62"/>
          <p:cNvGrpSpPr/>
          <p:nvPr/>
        </p:nvGrpSpPr>
        <p:grpSpPr>
          <a:xfrm>
            <a:off x="6730075" y="2374984"/>
            <a:ext cx="2042075" cy="572884"/>
            <a:chOff x="6961375" y="2108302"/>
            <a:chExt cx="2042075" cy="323700"/>
          </a:xfrm>
        </p:grpSpPr>
        <p:sp>
          <p:nvSpPr>
            <p:cNvPr id="858" name="Google Shape;858;p62"/>
            <p:cNvSpPr/>
            <p:nvPr/>
          </p:nvSpPr>
          <p:spPr>
            <a:xfrm>
              <a:off x="6961375" y="2108302"/>
              <a:ext cx="1826700" cy="323700"/>
            </a:xfrm>
            <a:prstGeom prst="rect">
              <a:avLst/>
            </a:prstGeom>
            <a:solidFill>
              <a:srgbClr val="9E9E9E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2"/>
            <p:cNvSpPr txBox="1"/>
            <p:nvPr/>
          </p:nvSpPr>
          <p:spPr>
            <a:xfrm>
              <a:off x="7096650" y="2139649"/>
              <a:ext cx="1906800" cy="26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Within Budget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3"/>
          <p:cNvSpPr txBox="1"/>
          <p:nvPr>
            <p:ph idx="4294967295" type="ctrTitle"/>
          </p:nvPr>
        </p:nvSpPr>
        <p:spPr>
          <a:xfrm>
            <a:off x="2590788" y="-85300"/>
            <a:ext cx="39624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Deliverables</a:t>
            </a:r>
            <a:endParaRPr i="0" sz="30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865" name="Google Shape;865;p63"/>
          <p:cNvGraphicFramePr/>
          <p:nvPr/>
        </p:nvGraphicFramePr>
        <p:xfrm>
          <a:off x="870200" y="48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{DD14F252-F212-42F1-B2F6-83C8442DA545}</a:tableStyleId>
              </a:tblPr>
              <a:tblGrid>
                <a:gridCol w="2501075"/>
                <a:gridCol w="1094875"/>
                <a:gridCol w="422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Deliverable</a:t>
                      </a:r>
                      <a:endParaRPr b="1" sz="1600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Date</a:t>
                      </a:r>
                      <a:endParaRPr b="1" sz="1600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Description</a:t>
                      </a:r>
                      <a:endParaRPr b="1" sz="1600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Programmed Cameras and GUI</a:t>
                      </a:r>
                      <a:endParaRPr b="1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12/9/2025</a:t>
                      </a:r>
                      <a:endParaRPr b="1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Camera connected and linked to GUI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Programmed Sensor Suite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12/9/2025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Sensors and GPS integrated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B539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Materials CAD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12/9/2025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CAD for all major systems complete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solidFill>
                      <a:srgbClr val="0B539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omm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unication Module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/26/2026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Starlink integrated with all components &amp; GS.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Propulsion System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/5/2026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Functional propulsion system w/ motor control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Operational Ground Station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2/28/2026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GUI and backend for live data transmission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Functional Hull Prototype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3/5/2026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Hull integrated with all components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Manual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4/14/2026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Includes documentation and user guides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Project Final Report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5/5/2026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Includes summary, system specs, and results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866" name="Google Shape;866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4"/>
          <p:cNvSpPr txBox="1"/>
          <p:nvPr/>
        </p:nvSpPr>
        <p:spPr>
          <a:xfrm>
            <a:off x="779100" y="1831925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Summary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2" name="Google Shape;872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65"/>
          <p:cNvSpPr txBox="1"/>
          <p:nvPr>
            <p:ph idx="4294967295" type="ctrTitle"/>
          </p:nvPr>
        </p:nvSpPr>
        <p:spPr>
          <a:xfrm>
            <a:off x="2590788" y="-52307"/>
            <a:ext cx="39624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Summary</a:t>
            </a:r>
            <a:endParaRPr i="0" sz="30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8" name="Google Shape;878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9" name="Google Shape;879;p65"/>
          <p:cNvSpPr txBox="1"/>
          <p:nvPr/>
        </p:nvSpPr>
        <p:spPr>
          <a:xfrm>
            <a:off x="147750" y="399500"/>
            <a:ext cx="88485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Major Accomplishments:</a:t>
            </a:r>
            <a:endParaRPr sz="18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 thorough testing, several requirements have already been fully passed (inter-drone communication, ground station communication, etc.)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ommunication between two drones with preparations for communication between several drones has been completed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progress towards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integration of motors and sensors has been made using redesigned mounting systems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Significant progress has been made towards finalizing the GUI and transmitting data to the ground station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Moving towards FAR:</a:t>
            </a:r>
            <a:endParaRPr sz="18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concerned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about inconsistencies in the environment affecting the system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Waves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Weather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Network/radio traffic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6"/>
          <p:cNvSpPr txBox="1"/>
          <p:nvPr>
            <p:ph type="title"/>
          </p:nvPr>
        </p:nvSpPr>
        <p:spPr>
          <a:xfrm>
            <a:off x="628650" y="2121948"/>
            <a:ext cx="7886700" cy="9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575" lIns="41575" spcFirstLastPara="1" rIns="41575" wrap="square" tIns="41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Questions &amp; Discussion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85" name="Google Shape;885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